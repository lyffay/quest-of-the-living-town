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E7D4"/>
        </a:solidFill>
        <a:effectLst/>
      </p:bgPr>
    </p:bg>
    <p:spTree>
      <p:nvGrpSpPr>
        <p:cNvPr id="1" name=""/>
        <p:cNvGrpSpPr/>
        <p:nvPr/>
      </p:nvGrpSpPr>
      <p:grpSpPr/>
      <p:pic>
        <p:nvPicPr>
          <p:cNvPr id="10" name="图片 8"/>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6096000" y="0"/>
            <a:ext cx="6096000" cy="6858000"/>
          </a:xfrm>
          <a:prstGeom prst="rect">
            <a:avLst/>
          </a:prstGeom>
          <a:solidFill>
            <a:srgbClr val="F7ECDD"/>
          </a:solidFill>
          <a:ln w="0">
            <a:noFill/>
          </a:ln>
        </p:spPr>
      </p:sp>
      <p:sp>
        <p:nvSpPr>
          <p:cNvPr id="3" name="矩形 2"/>
          <p:cNvSpPr>
            <a:spLocks noGrp="1"/>
          </p:cNvSpPr>
          <p:nvPr/>
        </p:nvSpPr>
        <p:spPr>
          <a:xfrm>
            <a:off x="6705600" y="1133475"/>
            <a:ext cx="76200" cy="742950"/>
          </a:xfrm>
          <a:prstGeom prst="rect">
            <a:avLst/>
          </a:prstGeom>
          <a:solidFill>
            <a:srgbClr val="A74731"/>
          </a:solidFill>
          <a:ln w="0">
            <a:noFill/>
          </a:ln>
        </p:spPr>
      </p:sp>
      <p:sp>
        <p:nvSpPr>
          <p:cNvPr id="4" name="矩形 3"/>
          <p:cNvSpPr>
            <a:spLocks noGrp="1"/>
          </p:cNvSpPr>
          <p:nvPr/>
        </p:nvSpPr>
        <p:spPr>
          <a:xfrm>
            <a:off x="7010400" y="1123950"/>
            <a:ext cx="4333875" cy="342900"/>
          </a:xfrm>
          <a:prstGeom prst="rect">
            <a:avLst/>
          </a:prstGeom>
          <a:noFill/>
          <a:ln w="0">
            <a:noFill/>
          </a:ln>
        </p:spPr>
        <p:txBody>
          <a:bodyPr>
            <a:noAutofit/>
          </a:bodyPr>
          <a:lstStyle/>
          <a:p>
            <a:pPr>
              <a:buNone/>
              <a:defRPr sz="1125" b="1" spc="2">
                <a:solidFill>
                  <a:srgbClr val="A74731"/>
                </a:solidFill>
                <a:latin typeface="Aptos"/>
                <a:ea typeface="Aptos"/>
                <a:cs typeface="Aptos"/>
              </a:defRPr>
            </a:pPr>
            <a:r>
              <a:rPr sz="1125" b="1" spc="2">
                <a:solidFill>
                  <a:srgbClr val="A74731"/>
                </a:solidFill>
                <a:latin typeface="Aptos"/>
                <a:ea typeface="Aptos"/>
                <a:cs typeface="Aptos"/>
              </a:rPr>
              <a:t>FINAL YEAR PROJECT</a:t>
            </a:r>
            <a:endParaRPr sz="1125" b="1" spc="2">
              <a:solidFill>
                <a:srgbClr val="A74731"/>
              </a:solidFill>
              <a:latin typeface="Aptos"/>
              <a:ea typeface="Aptos"/>
              <a:cs typeface="Aptos"/>
            </a:endParaRPr>
          </a:p>
        </p:txBody>
      </p:sp>
      <p:sp>
        <p:nvSpPr>
          <p:cNvPr id="5" name="矩形 4"/>
          <p:cNvSpPr>
            <a:spLocks noGrp="1"/>
          </p:cNvSpPr>
          <p:nvPr/>
        </p:nvSpPr>
        <p:spPr>
          <a:xfrm>
            <a:off x="7010400" y="1581150"/>
            <a:ext cx="4476750" cy="1809750"/>
          </a:xfrm>
          <a:prstGeom prst="rect">
            <a:avLst/>
          </a:prstGeom>
          <a:noFill/>
          <a:ln w="0">
            <a:noFill/>
          </a:ln>
        </p:spPr>
        <p:txBody>
          <a:bodyPr>
            <a:noAutofit/>
          </a:bodyPr>
          <a:lstStyle/>
          <a:p>
            <a:pPr>
              <a:lnSpc>
                <a:spcPct val="103000"/>
              </a:lnSpc>
              <a:buNone/>
              <a:defRPr sz="2325" b="1">
                <a:solidFill>
                  <a:srgbClr val="293633"/>
                </a:solidFill>
                <a:latin typeface="Aptos Display"/>
                <a:ea typeface="Aptos Display"/>
                <a:cs typeface="Aptos Display"/>
              </a:defRPr>
            </a:pPr>
            <a:r>
              <a:rPr sz="2325" b="1">
                <a:solidFill>
                  <a:srgbClr val="293633"/>
                </a:solidFill>
                <a:latin typeface="Aptos Display"/>
                <a:ea typeface="Aptos Display"/>
                <a:cs typeface="Aptos Display"/>
              </a:rPr>
              <a:t>Quest of the Living Town:</a:t>
            </a:r>
            <a:endParaRPr sz="2325" b="1">
              <a:solidFill>
                <a:srgbClr val="293633"/>
              </a:solidFill>
              <a:latin typeface="Aptos Display"/>
              <a:ea typeface="Aptos Display"/>
              <a:cs typeface="Aptos Display"/>
            </a:endParaRPr>
          </a:p>
          <a:p>
            <a:pPr>
              <a:lnSpc>
                <a:spcPct val="103000"/>
              </a:lnSpc>
              <a:buNone/>
              <a:defRPr sz="2325" b="1">
                <a:solidFill>
                  <a:srgbClr val="293633"/>
                </a:solidFill>
                <a:latin typeface="Aptos Display"/>
                <a:ea typeface="Aptos Display"/>
                <a:cs typeface="Aptos Display"/>
              </a:defRPr>
            </a:pPr>
            <a:r>
              <a:rPr sz="2325" b="1">
                <a:solidFill>
                  <a:srgbClr val="293633"/>
                </a:solidFill>
                <a:latin typeface="Aptos Display"/>
                <a:ea typeface="Aptos Display"/>
                <a:cs typeface="Aptos Display"/>
              </a:rPr>
              <a:t>A Gamified Travel Experience</a:t>
            </a:r>
            <a:endParaRPr sz="2325" b="1">
              <a:solidFill>
                <a:srgbClr val="293633"/>
              </a:solidFill>
              <a:latin typeface="Aptos Display"/>
              <a:ea typeface="Aptos Display"/>
              <a:cs typeface="Aptos Display"/>
            </a:endParaRPr>
          </a:p>
          <a:p>
            <a:pPr>
              <a:lnSpc>
                <a:spcPct val="103000"/>
              </a:lnSpc>
              <a:buNone/>
              <a:defRPr sz="2325" b="1">
                <a:solidFill>
                  <a:srgbClr val="293633"/>
                </a:solidFill>
                <a:latin typeface="Aptos Display"/>
                <a:ea typeface="Aptos Display"/>
                <a:cs typeface="Aptos Display"/>
              </a:defRPr>
            </a:pPr>
            <a:r>
              <a:rPr sz="2325" b="1">
                <a:solidFill>
                  <a:srgbClr val="293633"/>
                </a:solidFill>
                <a:latin typeface="Aptos Display"/>
                <a:ea typeface="Aptos Display"/>
                <a:cs typeface="Aptos Display"/>
              </a:rPr>
              <a:t>for Heritage Exploration</a:t>
            </a:r>
            <a:endParaRPr sz="2325" b="1">
              <a:solidFill>
                <a:srgbClr val="293633"/>
              </a:solidFill>
              <a:latin typeface="Aptos Display"/>
              <a:ea typeface="Aptos Display"/>
              <a:cs typeface="Aptos Display"/>
            </a:endParaRPr>
          </a:p>
        </p:txBody>
      </p:sp>
      <p:sp>
        <p:nvSpPr>
          <p:cNvPr id="6" name="矩形 5"/>
          <p:cNvSpPr>
            <a:spLocks noGrp="1"/>
          </p:cNvSpPr>
          <p:nvPr/>
        </p:nvSpPr>
        <p:spPr>
          <a:xfrm>
            <a:off x="7031990" y="2833370"/>
            <a:ext cx="4286250" cy="704850"/>
          </a:xfrm>
          <a:prstGeom prst="rect">
            <a:avLst/>
          </a:prstGeom>
          <a:noFill/>
          <a:ln w="0">
            <a:noFill/>
          </a:ln>
        </p:spPr>
        <p:txBody>
          <a:bodyPr>
            <a:noAutofit/>
          </a:bodyPr>
          <a:lstStyle/>
          <a:p>
            <a:pPr>
              <a:lnSpc>
                <a:spcPct val="112000"/>
              </a:lnSpc>
              <a:buNone/>
              <a:defRPr sz="1425" b="0">
                <a:solidFill>
                  <a:srgbClr val="5F5A50"/>
                </a:solidFill>
                <a:latin typeface="微软雅黑" panose="020B0503020204020204" charset="-122"/>
                <a:ea typeface="微软雅黑" panose="020B0503020204020204" charset="-122"/>
                <a:cs typeface="微软雅黑" panose="020B0503020204020204" charset="-122"/>
              </a:defRPr>
            </a:pPr>
            <a:r>
              <a:rPr sz="1425" b="0">
                <a:solidFill>
                  <a:srgbClr val="5F5A50"/>
                </a:solidFill>
                <a:latin typeface="微软雅黑" panose="020B0503020204020204" charset="-122"/>
                <a:ea typeface="微软雅黑" panose="020B0503020204020204" charset="-122"/>
                <a:cs typeface="微软雅黑" panose="020B0503020204020204" charset="-122"/>
              </a:rPr>
              <a:t>鲜活小镇之旅</a:t>
            </a:r>
            <a:endParaRPr sz="1425" b="0">
              <a:solidFill>
                <a:srgbClr val="5F5A50"/>
              </a:solidFill>
              <a:latin typeface="微软雅黑" panose="020B0503020204020204" charset="-122"/>
              <a:ea typeface="微软雅黑" panose="020B0503020204020204" charset="-122"/>
              <a:cs typeface="微软雅黑" panose="020B0503020204020204" charset="-122"/>
            </a:endParaRPr>
          </a:p>
          <a:p>
            <a:pPr>
              <a:lnSpc>
                <a:spcPct val="112000"/>
              </a:lnSpc>
              <a:buNone/>
              <a:defRPr sz="1425" b="0">
                <a:solidFill>
                  <a:srgbClr val="5F5A50"/>
                </a:solidFill>
                <a:latin typeface="微软雅黑" panose="020B0503020204020204" charset="-122"/>
                <a:ea typeface="微软雅黑" panose="020B0503020204020204" charset="-122"/>
                <a:cs typeface="微软雅黑" panose="020B0503020204020204" charset="-122"/>
              </a:defRPr>
            </a:pPr>
            <a:r>
              <a:rPr sz="1425" b="0">
                <a:solidFill>
                  <a:srgbClr val="5F5A50"/>
                </a:solidFill>
                <a:latin typeface="微软雅黑" panose="020B0503020204020204" charset="-122"/>
                <a:ea typeface="微软雅黑" panose="020B0503020204020204" charset="-122"/>
                <a:cs typeface="微软雅黑" panose="020B0503020204020204" charset="-122"/>
              </a:rPr>
              <a:t>面向文化遗产探索的游戏化旅行体验</a:t>
            </a:r>
            <a:endParaRPr sz="1425" b="0">
              <a:solidFill>
                <a:srgbClr val="5F5A50"/>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019925" y="4905375"/>
            <a:ext cx="4286250" cy="19050"/>
          </a:xfrm>
          <a:prstGeom prst="rect">
            <a:avLst/>
          </a:prstGeom>
          <a:solidFill>
            <a:srgbClr val="CBBBA5"/>
          </a:solidFill>
          <a:ln w="0">
            <a:noFill/>
          </a:ln>
        </p:spPr>
      </p:sp>
      <p:sp>
        <p:nvSpPr>
          <p:cNvPr id="8" name="矩形 7"/>
          <p:cNvSpPr>
            <a:spLocks noGrp="1"/>
          </p:cNvSpPr>
          <p:nvPr/>
        </p:nvSpPr>
        <p:spPr>
          <a:xfrm>
            <a:off x="7019925" y="5181600"/>
            <a:ext cx="4286250" cy="723900"/>
          </a:xfrm>
          <a:prstGeom prst="rect">
            <a:avLst/>
          </a:prstGeom>
          <a:noFill/>
          <a:ln w="0">
            <a:noFill/>
          </a:ln>
        </p:spPr>
        <p:txBody>
          <a:bodyPr>
            <a:noAutofit/>
          </a:bodyPr>
          <a:lstStyle/>
          <a:p>
            <a:pPr>
              <a:lnSpc>
                <a:spcPct val="120000"/>
              </a:lnSpc>
              <a:buNone/>
              <a:defRPr sz="1275">
                <a:solidFill>
                  <a:srgbClr val="293633"/>
                </a:solidFill>
                <a:latin typeface="微软雅黑" panose="020B0503020204020204" charset="-122"/>
                <a:ea typeface="微软雅黑" panose="020B0503020204020204" charset="-122"/>
                <a:cs typeface="微软雅黑" panose="020B0503020204020204" charset="-122"/>
              </a:defRPr>
            </a:pPr>
            <a:r>
              <a:rPr sz="1275">
                <a:solidFill>
                  <a:srgbClr val="293633"/>
                </a:solidFill>
                <a:latin typeface="微软雅黑" panose="020B0503020204020204" charset="-122"/>
                <a:ea typeface="微软雅黑" panose="020B0503020204020204" charset="-122"/>
                <a:cs typeface="微软雅黑" panose="020B0503020204020204" charset="-122"/>
              </a:rPr>
              <a:t>李奕菲  Yifei.Li</a:t>
            </a:r>
            <a:endParaRPr sz="1275">
              <a:solidFill>
                <a:srgbClr val="293633"/>
              </a:solidFill>
              <a:latin typeface="微软雅黑" panose="020B0503020204020204" charset="-122"/>
              <a:ea typeface="微软雅黑" panose="020B0503020204020204" charset="-122"/>
              <a:cs typeface="微软雅黑" panose="020B0503020204020204" charset="-122"/>
            </a:endParaRPr>
          </a:p>
          <a:p>
            <a:pPr>
              <a:lnSpc>
                <a:spcPct val="120000"/>
              </a:lnSpc>
              <a:buNone/>
              <a:defRPr sz="1275">
                <a:solidFill>
                  <a:srgbClr val="293633"/>
                </a:solidFill>
                <a:latin typeface="微软雅黑" panose="020B0503020204020204" charset="-122"/>
                <a:ea typeface="微软雅黑" panose="020B0503020204020204" charset="-122"/>
                <a:cs typeface="微软雅黑" panose="020B0503020204020204" charset="-122"/>
              </a:defRPr>
            </a:pPr>
            <a:r>
              <a:rPr sz="1275">
                <a:solidFill>
                  <a:srgbClr val="293633"/>
                </a:solidFill>
                <a:latin typeface="微软雅黑" panose="020B0503020204020204" charset="-122"/>
                <a:ea typeface="微软雅黑" panose="020B0503020204020204" charset="-122"/>
                <a:cs typeface="微软雅黑" panose="020B0503020204020204" charset="-122"/>
              </a:rPr>
              <a:t>Student ID  2364053</a:t>
            </a:r>
            <a:endParaRPr sz="1275">
              <a:solidFill>
                <a:srgbClr val="2936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ECDD"/>
        </a:solidFill>
        <a:effectLst/>
      </p:bgPr>
    </p:bg>
    <p:spTree>
      <p:nvGrpSpPr>
        <p:cNvPr id="1" name=""/>
        <p:cNvGrpSpPr/>
        <p:nvPr/>
      </p:nvGrpSpPr>
      <p:grpSpPr/>
      <p:pic>
        <p:nvPicPr>
          <p:cNvPr id="16" name="图片 15"/>
          <p:cNvPicPr>
            <a:picLocks noChangeAspect="1"/>
          </p:cNvPicPr>
          <p:nvPr/>
        </p:nvPicPr>
        <p:blipFill>
          <a:blip r:embed="rId1"/>
          <a:srcRect l="3125" r="3125"/>
          <a:stretch>
            <a:fillRect/>
          </a:stretch>
        </p:blipFill>
        <p:spPr>
          <a:xfrm>
            <a:off x="7905750" y="0"/>
            <a:ext cx="4286250" cy="6858000"/>
          </a:xfrm>
          <a:prstGeom prst="rect">
            <a:avLst/>
          </a:prstGeom>
        </p:spPr>
      </p:pic>
      <p:sp>
        <p:nvSpPr>
          <p:cNvPr id="2" name="矩形 1"/>
          <p:cNvSpPr>
            <a:spLocks noGrp="1"/>
          </p:cNvSpPr>
          <p:nvPr/>
        </p:nvSpPr>
        <p:spPr>
          <a:xfrm>
            <a:off x="0" y="0"/>
            <a:ext cx="190500" cy="6858000"/>
          </a:xfrm>
          <a:prstGeom prst="rect">
            <a:avLst/>
          </a:prstGeom>
          <a:solidFill>
            <a:srgbClr val="A74731"/>
          </a:solidFill>
          <a:ln w="0">
            <a:noFill/>
          </a:ln>
        </p:spPr>
      </p:sp>
      <p:sp>
        <p:nvSpPr>
          <p:cNvPr id="3" name="矩形 2"/>
          <p:cNvSpPr>
            <a:spLocks noGrp="1"/>
          </p:cNvSpPr>
          <p:nvPr/>
        </p:nvSpPr>
        <p:spPr>
          <a:xfrm>
            <a:off x="742950" y="514350"/>
            <a:ext cx="6191250" cy="590550"/>
          </a:xfrm>
          <a:prstGeom prst="rect">
            <a:avLst/>
          </a:prstGeom>
          <a:noFill/>
          <a:ln w="0">
            <a:noFill/>
          </a:ln>
        </p:spPr>
        <p:txBody>
          <a:bodyPr>
            <a:noAutofit/>
          </a:bodyPr>
          <a:lstStyle/>
          <a:p>
            <a:pPr>
              <a:buNone/>
              <a:defRPr sz="2250" b="1">
                <a:solidFill>
                  <a:srgbClr val="293633"/>
                </a:solidFill>
                <a:latin typeface="微软雅黑" panose="020B0503020204020204" charset="-122"/>
                <a:ea typeface="微软雅黑" panose="020B0503020204020204" charset="-122"/>
                <a:cs typeface="微软雅黑" panose="020B0503020204020204" charset="-122"/>
              </a:defRPr>
            </a:pPr>
            <a:r>
              <a:rPr sz="2250" b="1">
                <a:solidFill>
                  <a:srgbClr val="293633"/>
                </a:solidFill>
                <a:latin typeface="微软雅黑" panose="020B0503020204020204" charset="-122"/>
                <a:ea typeface="微软雅黑" panose="020B0503020204020204" charset="-122"/>
                <a:cs typeface="微软雅黑" panose="020B0503020204020204" charset="-122"/>
              </a:rPr>
              <a:t>Self-Introduction  自我介绍</a:t>
            </a:r>
            <a:endParaRPr sz="2250" b="1">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752475" y="1209675"/>
            <a:ext cx="723900" cy="57150"/>
          </a:xfrm>
          <a:prstGeom prst="rect">
            <a:avLst/>
          </a:prstGeom>
          <a:solidFill>
            <a:srgbClr val="A74731"/>
          </a:solidFill>
          <a:ln w="0">
            <a:noFill/>
          </a:ln>
        </p:spPr>
      </p:sp>
      <p:sp>
        <p:nvSpPr>
          <p:cNvPr id="5" name="矩形 4"/>
          <p:cNvSpPr>
            <a:spLocks noGrp="1"/>
          </p:cNvSpPr>
          <p:nvPr/>
        </p:nvSpPr>
        <p:spPr>
          <a:xfrm>
            <a:off x="742950" y="1581150"/>
            <a:ext cx="6096000" cy="609600"/>
          </a:xfrm>
          <a:prstGeom prst="rect">
            <a:avLst/>
          </a:prstGeom>
          <a:noFill/>
          <a:ln w="0">
            <a:noFill/>
          </a:ln>
        </p:spPr>
        <p:txBody>
          <a:bodyPr>
            <a:noAutofit/>
          </a:bodyPr>
          <a:lstStyle/>
          <a:p>
            <a:pPr>
              <a:buNone/>
              <a:defRPr sz="2100" b="1">
                <a:solidFill>
                  <a:srgbClr val="293633"/>
                </a:solidFill>
                <a:latin typeface="微软雅黑" panose="020B0503020204020204" charset="-122"/>
                <a:ea typeface="微软雅黑" panose="020B0503020204020204" charset="-122"/>
                <a:cs typeface="微软雅黑" panose="020B0503020204020204" charset="-122"/>
              </a:defRPr>
            </a:pPr>
            <a:r>
              <a:rPr sz="2100" b="1">
                <a:solidFill>
                  <a:srgbClr val="293633"/>
                </a:solidFill>
                <a:latin typeface="微软雅黑" panose="020B0503020204020204" charset="-122"/>
                <a:ea typeface="微软雅黑" panose="020B0503020204020204" charset="-122"/>
                <a:cs typeface="微软雅黑" panose="020B0503020204020204" charset="-122"/>
              </a:rPr>
              <a:t>李奕菲  Yifei.Li</a:t>
            </a:r>
            <a:endParaRPr sz="2100" b="1">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762000" y="2238375"/>
            <a:ext cx="6191250" cy="742950"/>
          </a:xfrm>
          <a:prstGeom prst="rect">
            <a:avLst/>
          </a:prstGeom>
          <a:noFill/>
          <a:ln w="0">
            <a:noFill/>
          </a:ln>
        </p:spPr>
        <p:txBody>
          <a:bodyPr>
            <a:noAutofit/>
          </a:bodyPr>
          <a:lstStyle/>
          <a:p>
            <a:pPr>
              <a:lnSpc>
                <a:spcPct val="112000"/>
              </a:lnSpc>
              <a:buNone/>
              <a:defRPr sz="1725">
                <a:solidFill>
                  <a:srgbClr val="4F504A"/>
                </a:solidFill>
                <a:latin typeface="Aptos"/>
                <a:ea typeface="Aptos"/>
                <a:cs typeface="Aptos"/>
              </a:defRPr>
            </a:pPr>
            <a:r>
              <a:rPr sz="1725">
                <a:solidFill>
                  <a:srgbClr val="4F504A"/>
                </a:solidFill>
                <a:latin typeface="Aptos"/>
                <a:ea typeface="Aptos"/>
                <a:cs typeface="Aptos"/>
              </a:rPr>
              <a:t>DMT</a:t>
            </a:r>
            <a:endParaRPr sz="1725">
              <a:solidFill>
                <a:srgbClr val="4F504A"/>
              </a:solidFill>
              <a:latin typeface="Aptos"/>
              <a:ea typeface="Aptos"/>
              <a:cs typeface="Aptos"/>
            </a:endParaRPr>
          </a:p>
          <a:p>
            <a:pPr>
              <a:lnSpc>
                <a:spcPct val="112000"/>
              </a:lnSpc>
              <a:buNone/>
              <a:defRPr sz="1725">
                <a:solidFill>
                  <a:srgbClr val="4F504A"/>
                </a:solidFill>
                <a:latin typeface="Aptos"/>
                <a:ea typeface="Aptos"/>
                <a:cs typeface="Aptos"/>
              </a:defRPr>
            </a:pPr>
            <a:r>
              <a:rPr sz="1725">
                <a:solidFill>
                  <a:srgbClr val="4F504A"/>
                </a:solidFill>
                <a:latin typeface="Aptos"/>
                <a:ea typeface="Aptos"/>
                <a:cs typeface="Aptos"/>
              </a:rPr>
              <a:t>Xi’an, Shaanxi, China</a:t>
            </a:r>
            <a:endParaRPr sz="1725">
              <a:solidFill>
                <a:srgbClr val="4F504A"/>
              </a:solidFill>
              <a:latin typeface="Aptos"/>
              <a:ea typeface="Aptos"/>
              <a:cs typeface="Aptos"/>
            </a:endParaRPr>
          </a:p>
        </p:txBody>
      </p:sp>
      <p:sp>
        <p:nvSpPr>
          <p:cNvPr id="7" name="矩形 6"/>
          <p:cNvSpPr>
            <a:spLocks noGrp="1"/>
          </p:cNvSpPr>
          <p:nvPr/>
        </p:nvSpPr>
        <p:spPr>
          <a:xfrm>
            <a:off x="762000" y="3276600"/>
            <a:ext cx="6191250" cy="361950"/>
          </a:xfrm>
          <a:prstGeom prst="rect">
            <a:avLst/>
          </a:prstGeom>
          <a:noFill/>
          <a:ln w="0">
            <a:noFill/>
          </a:ln>
        </p:spPr>
        <p:txBody>
          <a:bodyPr>
            <a:noAutofit/>
          </a:bodyPr>
          <a:lstStyle/>
          <a:p>
            <a:pPr>
              <a:buNone/>
              <a:defRPr sz="1725" b="0">
                <a:solidFill>
                  <a:srgbClr val="4F504A"/>
                </a:solidFill>
                <a:latin typeface="微软雅黑" panose="020B0503020204020204" charset="-122"/>
                <a:ea typeface="微软雅黑" panose="020B0503020204020204" charset="-122"/>
                <a:cs typeface="微软雅黑" panose="020B0503020204020204" charset="-122"/>
              </a:defRPr>
            </a:pPr>
            <a:r>
              <a:rPr sz="1725" b="0">
                <a:solidFill>
                  <a:srgbClr val="4F504A"/>
                </a:solidFill>
                <a:latin typeface="微软雅黑" panose="020B0503020204020204" charset="-122"/>
                <a:ea typeface="微软雅黑" panose="020B0503020204020204" charset="-122"/>
                <a:cs typeface="微软雅黑" panose="020B0503020204020204" charset="-122"/>
              </a:rPr>
              <a:t>Hobby: Gaming  兴趣爱好：打游戏</a:t>
            </a:r>
            <a:r>
              <a:rPr sz="1725" b="0">
                <a:solidFill>
                  <a:srgbClr val="4F504A"/>
                </a:solidFill>
                <a:latin typeface="微软雅黑" panose="020B0503020204020204" charset="-122"/>
                <a:ea typeface="微软雅黑" panose="020B0503020204020204" charset="-122"/>
                <a:cs typeface="微软雅黑" panose="020B0503020204020204" charset="-122"/>
              </a:rPr>
              <a:t>、</a:t>
            </a:r>
            <a:r>
              <a:rPr sz="1725" b="0">
                <a:solidFill>
                  <a:srgbClr val="4F504A"/>
                </a:solidFill>
                <a:latin typeface="微软雅黑" panose="020B0503020204020204" charset="-122"/>
                <a:ea typeface="微软雅黑" panose="020B0503020204020204" charset="-122"/>
                <a:cs typeface="微软雅黑" panose="020B0503020204020204" charset="-122"/>
              </a:rPr>
              <a:t>看番</a:t>
            </a:r>
            <a:endParaRPr sz="1725" b="0">
              <a:solidFill>
                <a:srgbClr val="4F504A"/>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62000" y="3857625"/>
            <a:ext cx="2857500" cy="361950"/>
          </a:xfrm>
          <a:prstGeom prst="rect">
            <a:avLst/>
          </a:prstGeom>
          <a:noFill/>
          <a:ln w="0">
            <a:noFill/>
          </a:ln>
        </p:spPr>
        <p:txBody>
          <a:bodyPr>
            <a:noAutofit/>
          </a:bodyPr>
          <a:lstStyle/>
          <a:p>
            <a:pPr>
              <a:buNone/>
              <a:defRPr sz="975" b="1" spc="1">
                <a:solidFill>
                  <a:srgbClr val="A74731"/>
                </a:solidFill>
                <a:latin typeface="微软雅黑" panose="020B0503020204020204" charset="-122"/>
                <a:ea typeface="微软雅黑" panose="020B0503020204020204" charset="-122"/>
                <a:cs typeface="微软雅黑" panose="020B0503020204020204" charset="-122"/>
              </a:defRPr>
            </a:pPr>
            <a:r>
              <a:rPr sz="975" b="1" spc="1">
                <a:solidFill>
                  <a:srgbClr val="A74731"/>
                </a:solidFill>
                <a:latin typeface="微软雅黑" panose="020B0503020204020204" charset="-122"/>
                <a:ea typeface="微软雅黑" panose="020B0503020204020204" charset="-122"/>
                <a:cs typeface="微软雅黑" panose="020B0503020204020204" charset="-122"/>
              </a:rPr>
              <a:t>ROLE-PLAYING GAMES  角色扮演类</a:t>
            </a:r>
            <a:endParaRPr sz="975" b="1" spc="1">
              <a:solidFill>
                <a:srgbClr val="A747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62000" y="4314825"/>
            <a:ext cx="2905125" cy="914400"/>
          </a:xfrm>
          <a:prstGeom prst="rect">
            <a:avLst/>
          </a:prstGeom>
          <a:noFill/>
          <a:ln w="0">
            <a:noFill/>
          </a:ln>
        </p:spPr>
        <p:txBody>
          <a:bodyPr>
            <a:noAutofit/>
          </a:bodyPr>
          <a:lstStyle/>
          <a:p>
            <a:pPr>
              <a:lnSpc>
                <a:spcPct val="122000"/>
              </a:lnSpc>
              <a:buNone/>
              <a:defRPr sz="1275">
                <a:solidFill>
                  <a:srgbClr val="293633"/>
                </a:solidFill>
                <a:latin typeface="微软雅黑" panose="020B0503020204020204" charset="-122"/>
                <a:ea typeface="微软雅黑" panose="020B0503020204020204" charset="-122"/>
                <a:cs typeface="微软雅黑" panose="020B0503020204020204" charset="-122"/>
              </a:defRPr>
            </a:pPr>
            <a:r>
              <a:rPr sz="1275">
                <a:solidFill>
                  <a:srgbClr val="293633"/>
                </a:solidFill>
                <a:latin typeface="微软雅黑" panose="020B0503020204020204" charset="-122"/>
                <a:ea typeface="微软雅黑" panose="020B0503020204020204" charset="-122"/>
                <a:cs typeface="微软雅黑" panose="020B0503020204020204" charset="-122"/>
              </a:rPr>
              <a:t>《博德之门》 Baldur's Gate</a:t>
            </a:r>
            <a:endParaRPr sz="1275">
              <a:solidFill>
                <a:srgbClr val="293633"/>
              </a:solidFill>
              <a:latin typeface="微软雅黑" panose="020B0503020204020204" charset="-122"/>
              <a:ea typeface="微软雅黑" panose="020B0503020204020204" charset="-122"/>
              <a:cs typeface="微软雅黑" panose="020B0503020204020204" charset="-122"/>
            </a:endParaRPr>
          </a:p>
          <a:p>
            <a:pPr>
              <a:lnSpc>
                <a:spcPct val="122000"/>
              </a:lnSpc>
              <a:buNone/>
              <a:defRPr sz="1275">
                <a:solidFill>
                  <a:srgbClr val="293633"/>
                </a:solidFill>
                <a:latin typeface="微软雅黑" panose="020B0503020204020204" charset="-122"/>
                <a:ea typeface="微软雅黑" panose="020B0503020204020204" charset="-122"/>
                <a:cs typeface="微软雅黑" panose="020B0503020204020204" charset="-122"/>
              </a:defRPr>
            </a:pPr>
            <a:r>
              <a:rPr sz="1275">
                <a:solidFill>
                  <a:srgbClr val="293633"/>
                </a:solidFill>
                <a:latin typeface="微软雅黑" panose="020B0503020204020204" charset="-122"/>
                <a:ea typeface="微软雅黑" panose="020B0503020204020204" charset="-122"/>
                <a:cs typeface="微软雅黑" panose="020B0503020204020204" charset="-122"/>
              </a:rPr>
              <a:t>《最终幻想》 Final Fantasy</a:t>
            </a:r>
            <a:endParaRPr sz="1275">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3810000" y="3876675"/>
            <a:ext cx="19050" cy="1285875"/>
          </a:xfrm>
          <a:prstGeom prst="rect">
            <a:avLst/>
          </a:prstGeom>
          <a:noFill/>
          <a:ln w="0">
            <a:noFill/>
          </a:ln>
        </p:spPr>
      </p:sp>
      <p:sp>
        <p:nvSpPr>
          <p:cNvPr id="11" name="矩形 10"/>
          <p:cNvSpPr>
            <a:spLocks noGrp="1"/>
          </p:cNvSpPr>
          <p:nvPr/>
        </p:nvSpPr>
        <p:spPr>
          <a:xfrm>
            <a:off x="4171950" y="3857625"/>
            <a:ext cx="3381375" cy="361950"/>
          </a:xfrm>
          <a:prstGeom prst="rect">
            <a:avLst/>
          </a:prstGeom>
          <a:noFill/>
          <a:ln w="0">
            <a:noFill/>
          </a:ln>
        </p:spPr>
        <p:txBody>
          <a:bodyPr>
            <a:noAutofit/>
          </a:bodyPr>
          <a:lstStyle/>
          <a:p>
            <a:pPr>
              <a:buNone/>
              <a:defRPr sz="975" b="1" spc="1">
                <a:solidFill>
                  <a:srgbClr val="A74731"/>
                </a:solidFill>
                <a:latin typeface="微软雅黑" panose="020B0503020204020204" charset="-122"/>
                <a:ea typeface="微软雅黑" panose="020B0503020204020204" charset="-122"/>
                <a:cs typeface="微软雅黑" panose="020B0503020204020204" charset="-122"/>
              </a:defRPr>
            </a:pPr>
            <a:r>
              <a:rPr sz="975" b="1" spc="1">
                <a:solidFill>
                  <a:srgbClr val="A74731"/>
                </a:solidFill>
                <a:latin typeface="微软雅黑" panose="020B0503020204020204" charset="-122"/>
                <a:ea typeface="微软雅黑" panose="020B0503020204020204" charset="-122"/>
                <a:cs typeface="微软雅黑" panose="020B0503020204020204" charset="-122"/>
              </a:rPr>
              <a:t>MYSTERY &amp; NARRATIVE  剧情解谜类</a:t>
            </a:r>
            <a:endParaRPr sz="975" b="1" spc="1">
              <a:solidFill>
                <a:srgbClr val="A74731"/>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4171950" y="4276725"/>
            <a:ext cx="3381375" cy="1524000"/>
          </a:xfrm>
          <a:prstGeom prst="rect">
            <a:avLst/>
          </a:prstGeom>
          <a:noFill/>
          <a:ln w="0">
            <a:noFill/>
          </a:ln>
        </p:spPr>
        <p:txBody>
          <a:bodyPr>
            <a:noAutofit/>
          </a:bodyPr>
          <a:lstStyle/>
          <a:p>
            <a:pPr>
              <a:lnSpc>
                <a:spcPct val="110000"/>
              </a:lnSpc>
              <a:buNone/>
              <a:defRPr sz="1200">
                <a:solidFill>
                  <a:srgbClr val="293633"/>
                </a:solidFill>
                <a:latin typeface="微软雅黑" panose="020B0503020204020204" charset="-122"/>
                <a:ea typeface="微软雅黑" panose="020B0503020204020204" charset="-122"/>
                <a:cs typeface="微软雅黑" panose="020B0503020204020204" charset="-122"/>
              </a:defRPr>
            </a:pPr>
            <a:r>
              <a:rPr sz="1200">
                <a:solidFill>
                  <a:srgbClr val="293633"/>
                </a:solidFill>
                <a:latin typeface="微软雅黑" panose="020B0503020204020204" charset="-122"/>
                <a:ea typeface="微软雅黑" panose="020B0503020204020204" charset="-122"/>
                <a:cs typeface="微软雅黑" panose="020B0503020204020204" charset="-122"/>
              </a:rPr>
              <a:t>《本所七大不可思议》</a:t>
            </a:r>
            <a:endParaRPr sz="1200">
              <a:solidFill>
                <a:srgbClr val="293633"/>
              </a:solidFill>
              <a:latin typeface="微软雅黑" panose="020B0503020204020204" charset="-122"/>
              <a:ea typeface="微软雅黑" panose="020B0503020204020204" charset="-122"/>
              <a:cs typeface="微软雅黑" panose="020B0503020204020204" charset="-122"/>
            </a:endParaRPr>
          </a:p>
          <a:p>
            <a:pPr>
              <a:lnSpc>
                <a:spcPct val="110000"/>
              </a:lnSpc>
              <a:buNone/>
              <a:defRPr sz="1200">
                <a:solidFill>
                  <a:srgbClr val="293633"/>
                </a:solidFill>
                <a:latin typeface="微软雅黑" panose="020B0503020204020204" charset="-122"/>
                <a:ea typeface="微软雅黑" panose="020B0503020204020204" charset="-122"/>
                <a:cs typeface="微软雅黑" panose="020B0503020204020204" charset="-122"/>
              </a:defRPr>
            </a:pPr>
            <a:r>
              <a:rPr sz="1200">
                <a:solidFill>
                  <a:srgbClr val="293633"/>
                </a:solidFill>
                <a:latin typeface="微软雅黑" panose="020B0503020204020204" charset="-122"/>
                <a:ea typeface="微软雅黑" panose="020B0503020204020204" charset="-122"/>
                <a:cs typeface="微软雅黑" panose="020B0503020204020204" charset="-122"/>
              </a:rPr>
              <a:t>PARANORMASIGHT</a:t>
            </a:r>
            <a:endParaRPr sz="1200">
              <a:solidFill>
                <a:srgbClr val="293633"/>
              </a:solidFill>
              <a:latin typeface="微软雅黑" panose="020B0503020204020204" charset="-122"/>
              <a:ea typeface="微软雅黑" panose="020B0503020204020204" charset="-122"/>
              <a:cs typeface="微软雅黑" panose="020B0503020204020204" charset="-122"/>
            </a:endParaRPr>
          </a:p>
          <a:p>
            <a:pPr>
              <a:lnSpc>
                <a:spcPct val="110000"/>
              </a:lnSpc>
              <a:buNone/>
              <a:defRPr sz="1200">
                <a:solidFill>
                  <a:srgbClr val="293633"/>
                </a:solidFill>
                <a:latin typeface="微软雅黑" panose="020B0503020204020204" charset="-122"/>
                <a:ea typeface="微软雅黑" panose="020B0503020204020204" charset="-122"/>
                <a:cs typeface="微软雅黑" panose="020B0503020204020204" charset="-122"/>
              </a:defRPr>
            </a:pPr>
            <a:r>
              <a:rPr sz="1200">
                <a:solidFill>
                  <a:srgbClr val="293633"/>
                </a:solidFill>
                <a:latin typeface="微软雅黑" panose="020B0503020204020204" charset="-122"/>
                <a:ea typeface="微软雅黑" panose="020B0503020204020204" charset="-122"/>
                <a:cs typeface="微软雅黑" panose="020B0503020204020204" charset="-122"/>
              </a:rPr>
              <a:t>《逆转裁判》 Ace Attorney</a:t>
            </a:r>
            <a:endParaRPr sz="1200">
              <a:solidFill>
                <a:srgbClr val="293633"/>
              </a:solidFill>
              <a:latin typeface="微软雅黑" panose="020B0503020204020204" charset="-122"/>
              <a:ea typeface="微软雅黑" panose="020B0503020204020204" charset="-122"/>
              <a:cs typeface="微软雅黑" panose="020B0503020204020204" charset="-122"/>
            </a:endParaRPr>
          </a:p>
          <a:p>
            <a:pPr>
              <a:lnSpc>
                <a:spcPct val="110000"/>
              </a:lnSpc>
              <a:buNone/>
              <a:defRPr sz="1200">
                <a:solidFill>
                  <a:srgbClr val="293633"/>
                </a:solidFill>
                <a:latin typeface="微软雅黑" panose="020B0503020204020204" charset="-122"/>
                <a:ea typeface="微软雅黑" panose="020B0503020204020204" charset="-122"/>
                <a:cs typeface="微软雅黑" panose="020B0503020204020204" charset="-122"/>
              </a:defRPr>
            </a:pPr>
            <a:r>
              <a:rPr sz="1200">
                <a:solidFill>
                  <a:srgbClr val="293633"/>
                </a:solidFill>
                <a:latin typeface="微软雅黑" panose="020B0503020204020204" charset="-122"/>
                <a:ea typeface="微软雅黑" panose="020B0503020204020204" charset="-122"/>
                <a:cs typeface="微软雅黑" panose="020B0503020204020204" charset="-122"/>
              </a:rPr>
              <a:t>《弹丸论破》 Danganronpa</a:t>
            </a:r>
            <a:endParaRPr sz="1200">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7181850" y="581025"/>
            <a:ext cx="419100" cy="304800"/>
          </a:xfrm>
          <a:prstGeom prst="rect">
            <a:avLst/>
          </a:prstGeom>
          <a:noFill/>
          <a:ln w="0">
            <a:noFill/>
          </a:ln>
        </p:spPr>
        <p:txBody>
          <a:bodyPr>
            <a:noAutofit/>
          </a:bodyPr>
          <a:lstStyle/>
          <a:p>
            <a:pPr algn="r">
              <a:buNone/>
              <a:defRPr sz="1050" b="1">
                <a:solidFill>
                  <a:srgbClr val="A74731"/>
                </a:solidFill>
                <a:latin typeface="Aptos"/>
                <a:ea typeface="Aptos"/>
                <a:cs typeface="Aptos"/>
              </a:defRPr>
            </a:pPr>
            <a:r>
              <a:rPr sz="1050" b="1">
                <a:solidFill>
                  <a:srgbClr val="A74731"/>
                </a:solidFill>
                <a:latin typeface="Aptos"/>
                <a:ea typeface="Aptos"/>
                <a:cs typeface="Aptos"/>
              </a:rPr>
              <a:t>02</a:t>
            </a:r>
            <a:endParaRPr sz="1050" b="1">
              <a:solidFill>
                <a:srgbClr val="A74731"/>
              </a:solidFill>
              <a:latin typeface="Aptos"/>
              <a:ea typeface="Aptos"/>
              <a:cs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ECDD"/>
        </a:solidFill>
        <a:effectLst/>
      </p:bgPr>
    </p:bg>
    <p:spTree>
      <p:nvGrpSpPr>
        <p:cNvPr id="1" name=""/>
        <p:cNvGrpSpPr/>
        <p:nvPr/>
      </p:nvGrpSpPr>
      <p:grpSpPr/>
      <p:pic>
        <p:nvPicPr>
          <p:cNvPr id="17" name="图片 15"/>
          <p:cNvPicPr>
            <a:picLocks noChangeAspect="1"/>
          </p:cNvPicPr>
          <p:nvPr/>
        </p:nvPicPr>
        <p:blipFill>
          <a:blip r:embed="rId1"/>
          <a:srcRect l="3125" r="3125"/>
          <a:stretch>
            <a:fillRect/>
          </a:stretch>
        </p:blipFill>
        <p:spPr>
          <a:xfrm>
            <a:off x="7905750" y="0"/>
            <a:ext cx="4286250" cy="6858000"/>
          </a:xfrm>
          <a:prstGeom prst="rect">
            <a:avLst/>
          </a:prstGeom>
        </p:spPr>
      </p:pic>
      <p:sp>
        <p:nvSpPr>
          <p:cNvPr id="2" name="矩形 1"/>
          <p:cNvSpPr>
            <a:spLocks noGrp="1"/>
          </p:cNvSpPr>
          <p:nvPr/>
        </p:nvSpPr>
        <p:spPr>
          <a:xfrm>
            <a:off x="0" y="0"/>
            <a:ext cx="190500" cy="6858000"/>
          </a:xfrm>
          <a:prstGeom prst="rect">
            <a:avLst/>
          </a:prstGeom>
          <a:solidFill>
            <a:srgbClr val="A74731"/>
          </a:solidFill>
          <a:ln w="0">
            <a:noFill/>
          </a:ln>
        </p:spPr>
      </p:sp>
      <p:sp>
        <p:nvSpPr>
          <p:cNvPr id="3" name="矩形 2"/>
          <p:cNvSpPr>
            <a:spLocks noGrp="1"/>
          </p:cNvSpPr>
          <p:nvPr/>
        </p:nvSpPr>
        <p:spPr>
          <a:xfrm>
            <a:off x="742950" y="2381250"/>
            <a:ext cx="6191250" cy="1428750"/>
          </a:xfrm>
          <a:prstGeom prst="rect">
            <a:avLst/>
          </a:prstGeom>
          <a:noFill/>
          <a:ln w="0">
            <a:noFill/>
          </a:ln>
        </p:spPr>
        <p:txBody>
          <a:bodyPr anchor="ctr">
            <a:noAutofit/>
          </a:bodyPr>
          <a:lstStyle/>
          <a:p>
            <a:pPr>
              <a:buNone/>
              <a:defRPr sz="3450" b="1">
                <a:solidFill>
                  <a:srgbClr val="273532"/>
                </a:solidFill>
                <a:latin typeface="微软雅黑" panose="020B0503020204020204" charset="-122"/>
                <a:ea typeface="微软雅黑" panose="020B0503020204020204" charset="-122"/>
                <a:cs typeface="微软雅黑" panose="020B0503020204020204" charset="-122"/>
              </a:defRPr>
            </a:pPr>
            <a:r>
              <a:rPr sz="3450" b="1">
                <a:solidFill>
                  <a:srgbClr val="273532"/>
                </a:solidFill>
                <a:latin typeface="微软雅黑" panose="020B0503020204020204" charset="-122"/>
                <a:ea typeface="微软雅黑" panose="020B0503020204020204" charset="-122"/>
                <a:cs typeface="微软雅黑" panose="020B0503020204020204" charset="-122"/>
              </a:rPr>
              <a:t>项目的初步想法</a:t>
            </a:r>
            <a:endParaRPr sz="2250" b="1">
              <a:solidFill>
                <a:srgbClr val="293633"/>
              </a:solidFill>
              <a:latin typeface="微软雅黑" panose="020B0503020204020204" charset="-122"/>
              <a:ea typeface="微软雅黑" panose="020B0503020204020204" charset="-122"/>
              <a:cs typeface="微软雅黑" panose="020B0503020204020204" charset="-122"/>
            </a:endParaRPr>
          </a:p>
          <a:p>
            <a:pPr>
              <a:buNone/>
              <a:defRPr sz="3450" b="1">
                <a:solidFill>
                  <a:srgbClr val="273532"/>
                </a:solidFill>
                <a:latin typeface="微软雅黑" panose="020B0503020204020204" charset="-122"/>
                <a:ea typeface="微软雅黑" panose="020B0503020204020204" charset="-122"/>
                <a:cs typeface="微软雅黑" panose="020B0503020204020204" charset="-122"/>
              </a:defRPr>
            </a:pPr>
            <a:r>
              <a:rPr sz="3450" b="1">
                <a:solidFill>
                  <a:srgbClr val="273532"/>
                </a:solidFill>
                <a:latin typeface="微软雅黑" panose="020B0503020204020204" charset="-122"/>
                <a:ea typeface="微软雅黑" panose="020B0503020204020204" charset="-122"/>
                <a:cs typeface="微软雅黑" panose="020B0503020204020204" charset="-122"/>
              </a:rPr>
              <a:t>Initial Project Ideas</a:t>
            </a:r>
            <a:endParaRPr sz="2250" b="1">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752475" y="4029075"/>
            <a:ext cx="723900" cy="57150"/>
          </a:xfrm>
          <a:prstGeom prst="rect">
            <a:avLst/>
          </a:prstGeom>
          <a:solidFill>
            <a:srgbClr val="A74731"/>
          </a:solidFill>
          <a:ln w="0">
            <a:noFill/>
          </a:ln>
        </p:spPr>
      </p:sp>
      <p:sp>
        <p:nvSpPr>
          <p:cNvPr id="5" name="矩形 4"/>
          <p:cNvSpPr>
            <a:spLocks noGrp="1"/>
          </p:cNvSpPr>
          <p:nvPr/>
        </p:nvSpPr>
        <p:spPr>
          <a:xfrm>
            <a:off x="742950" y="1581150"/>
            <a:ext cx="6096000" cy="609600"/>
          </a:xfrm>
          <a:prstGeom prst="rect">
            <a:avLst/>
          </a:prstGeom>
          <a:noFill/>
          <a:ln w="0">
            <a:noFill/>
          </a:ln>
        </p:spPr>
        <p:txBody>
          <a:bodyPr>
            <a:noAutofit/>
          </a:bodyPr>
          <a:lstStyle/>
          <a:p>
            <a:pPr>
              <a:buNone/>
              <a:defRPr sz="2100" b="1">
                <a:solidFill>
                  <a:srgbClr val="293633"/>
                </a:solidFill>
                <a:latin typeface="微软雅黑" panose="020B0503020204020204" charset="-122"/>
                <a:ea typeface="微软雅黑" panose="020B0503020204020204" charset="-122"/>
                <a:cs typeface="微软雅黑" panose="020B0503020204020204" charset="-122"/>
              </a:defRPr>
            </a:pPr>
            <a:endParaRPr sz="2100" b="1">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762000" y="2238375"/>
            <a:ext cx="6191250" cy="742950"/>
          </a:xfrm>
          <a:prstGeom prst="rect">
            <a:avLst/>
          </a:prstGeom>
          <a:noFill/>
          <a:ln w="0">
            <a:noFill/>
          </a:ln>
        </p:spPr>
        <p:txBody>
          <a:bodyPr>
            <a:noAutofit/>
          </a:bodyPr>
          <a:lstStyle/>
          <a:p>
            <a:pPr>
              <a:lnSpc>
                <a:spcPct val="112000"/>
              </a:lnSpc>
              <a:buNone/>
              <a:defRPr sz="1725">
                <a:solidFill>
                  <a:srgbClr val="4F504A"/>
                </a:solidFill>
                <a:latin typeface="Aptos"/>
                <a:ea typeface="Aptos"/>
                <a:cs typeface="Aptos"/>
              </a:defRPr>
            </a:pPr>
            <a:endParaRPr sz="1725">
              <a:solidFill>
                <a:srgbClr val="4F504A"/>
              </a:solidFill>
              <a:latin typeface="Aptos"/>
              <a:ea typeface="Aptos"/>
              <a:cs typeface="Aptos"/>
            </a:endParaRPr>
          </a:p>
        </p:txBody>
      </p:sp>
      <p:sp>
        <p:nvSpPr>
          <p:cNvPr id="7" name="矩形 6"/>
          <p:cNvSpPr>
            <a:spLocks noGrp="1"/>
          </p:cNvSpPr>
          <p:nvPr/>
        </p:nvSpPr>
        <p:spPr>
          <a:xfrm>
            <a:off x="762000" y="3276600"/>
            <a:ext cx="6191250" cy="361950"/>
          </a:xfrm>
          <a:prstGeom prst="rect">
            <a:avLst/>
          </a:prstGeom>
          <a:noFill/>
          <a:ln w="0">
            <a:noFill/>
          </a:ln>
        </p:spPr>
        <p:txBody>
          <a:bodyPr>
            <a:noAutofit/>
          </a:bodyPr>
          <a:lstStyle/>
          <a:p>
            <a:pPr>
              <a:buNone/>
              <a:defRPr sz="1725" b="0">
                <a:solidFill>
                  <a:srgbClr val="4F504A"/>
                </a:solidFill>
                <a:latin typeface="微软雅黑" panose="020B0503020204020204" charset="-122"/>
                <a:ea typeface="微软雅黑" panose="020B0503020204020204" charset="-122"/>
                <a:cs typeface="微软雅黑" panose="020B0503020204020204" charset="-122"/>
              </a:defRPr>
            </a:pPr>
            <a:endParaRPr sz="1725" b="0">
              <a:solidFill>
                <a:srgbClr val="4F504A"/>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62000" y="3857625"/>
            <a:ext cx="2857500" cy="361950"/>
          </a:xfrm>
          <a:prstGeom prst="rect">
            <a:avLst/>
          </a:prstGeom>
          <a:noFill/>
          <a:ln w="0">
            <a:noFill/>
          </a:ln>
        </p:spPr>
        <p:txBody>
          <a:bodyPr>
            <a:noAutofit/>
          </a:bodyPr>
          <a:lstStyle/>
          <a:p>
            <a:pPr>
              <a:buNone/>
              <a:defRPr sz="975" b="1" spc="1">
                <a:solidFill>
                  <a:srgbClr val="A74731"/>
                </a:solidFill>
                <a:latin typeface="微软雅黑" panose="020B0503020204020204" charset="-122"/>
                <a:ea typeface="微软雅黑" panose="020B0503020204020204" charset="-122"/>
                <a:cs typeface="微软雅黑" panose="020B0503020204020204" charset="-122"/>
              </a:defRPr>
            </a:pPr>
            <a:endParaRPr sz="975" b="1" spc="1">
              <a:solidFill>
                <a:srgbClr val="A747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62000" y="4314825"/>
            <a:ext cx="2905125" cy="914400"/>
          </a:xfrm>
          <a:prstGeom prst="rect">
            <a:avLst/>
          </a:prstGeom>
          <a:noFill/>
          <a:ln w="0">
            <a:noFill/>
          </a:ln>
        </p:spPr>
        <p:txBody>
          <a:bodyPr>
            <a:noAutofit/>
          </a:bodyPr>
          <a:lstStyle/>
          <a:p>
            <a:pPr>
              <a:lnSpc>
                <a:spcPct val="122000"/>
              </a:lnSpc>
              <a:buNone/>
              <a:defRPr sz="1275">
                <a:solidFill>
                  <a:srgbClr val="293633"/>
                </a:solidFill>
                <a:latin typeface="微软雅黑" panose="020B0503020204020204" charset="-122"/>
                <a:ea typeface="微软雅黑" panose="020B0503020204020204" charset="-122"/>
                <a:cs typeface="微软雅黑" panose="020B0503020204020204" charset="-122"/>
              </a:defRPr>
            </a:pPr>
            <a:endParaRPr sz="1275">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3810000" y="3876675"/>
            <a:ext cx="19050" cy="1285875"/>
          </a:xfrm>
          <a:prstGeom prst="rect">
            <a:avLst/>
          </a:prstGeom>
          <a:noFill/>
          <a:ln w="0">
            <a:noFill/>
          </a:ln>
        </p:spPr>
      </p:sp>
      <p:sp>
        <p:nvSpPr>
          <p:cNvPr id="11" name="矩形 10"/>
          <p:cNvSpPr>
            <a:spLocks noGrp="1"/>
          </p:cNvSpPr>
          <p:nvPr/>
        </p:nvSpPr>
        <p:spPr>
          <a:xfrm>
            <a:off x="4171950" y="3857625"/>
            <a:ext cx="3381375" cy="361950"/>
          </a:xfrm>
          <a:prstGeom prst="rect">
            <a:avLst/>
          </a:prstGeom>
          <a:noFill/>
          <a:ln w="0">
            <a:noFill/>
          </a:ln>
        </p:spPr>
        <p:txBody>
          <a:bodyPr>
            <a:noAutofit/>
          </a:bodyPr>
          <a:lstStyle/>
          <a:p>
            <a:pPr>
              <a:buNone/>
              <a:defRPr sz="975" b="1" spc="1">
                <a:solidFill>
                  <a:srgbClr val="A74731"/>
                </a:solidFill>
                <a:latin typeface="微软雅黑" panose="020B0503020204020204" charset="-122"/>
                <a:ea typeface="微软雅黑" panose="020B0503020204020204" charset="-122"/>
                <a:cs typeface="微软雅黑" panose="020B0503020204020204" charset="-122"/>
              </a:defRPr>
            </a:pPr>
            <a:endParaRPr sz="975" b="1" spc="1">
              <a:solidFill>
                <a:srgbClr val="A74731"/>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4171950" y="4276725"/>
            <a:ext cx="3381375" cy="1524000"/>
          </a:xfrm>
          <a:prstGeom prst="rect">
            <a:avLst/>
          </a:prstGeom>
          <a:noFill/>
          <a:ln w="0">
            <a:noFill/>
          </a:ln>
        </p:spPr>
        <p:txBody>
          <a:bodyPr>
            <a:noAutofit/>
          </a:bodyPr>
          <a:lstStyle/>
          <a:p>
            <a:pPr>
              <a:lnSpc>
                <a:spcPct val="110000"/>
              </a:lnSpc>
              <a:buNone/>
              <a:defRPr sz="1200">
                <a:solidFill>
                  <a:srgbClr val="293633"/>
                </a:solidFill>
                <a:latin typeface="微软雅黑" panose="020B0503020204020204" charset="-122"/>
                <a:ea typeface="微软雅黑" panose="020B0503020204020204" charset="-122"/>
                <a:cs typeface="微软雅黑" panose="020B0503020204020204" charset="-122"/>
              </a:defRPr>
            </a:pPr>
            <a:endParaRPr sz="1200">
              <a:solidFill>
                <a:srgbClr val="293633"/>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7181850" y="581025"/>
            <a:ext cx="419100" cy="304800"/>
          </a:xfrm>
          <a:prstGeom prst="rect">
            <a:avLst/>
          </a:prstGeom>
          <a:noFill/>
          <a:ln w="0">
            <a:noFill/>
          </a:ln>
        </p:spPr>
        <p:txBody>
          <a:bodyPr>
            <a:noAutofit/>
          </a:bodyPr>
          <a:lstStyle/>
          <a:p>
            <a:pPr algn="r">
              <a:buNone/>
              <a:defRPr sz="1050" b="1">
                <a:solidFill>
                  <a:srgbClr val="A74731"/>
                </a:solidFill>
                <a:latin typeface="Aptos"/>
                <a:ea typeface="Aptos"/>
                <a:cs typeface="Aptos"/>
              </a:defRPr>
            </a:pPr>
            <a:r>
              <a:rPr sz="1050" b="1">
                <a:solidFill>
                  <a:srgbClr val="A74731"/>
                </a:solidFill>
                <a:latin typeface="Aptos"/>
                <a:ea typeface="Aptos"/>
                <a:cs typeface="Aptos"/>
              </a:rPr>
              <a:t>03</a:t>
            </a:r>
            <a:endParaRPr sz="1050" b="1">
              <a:solidFill>
                <a:srgbClr val="A74731"/>
              </a:solidFill>
              <a:latin typeface="Aptos"/>
              <a:ea typeface="Aptos"/>
              <a:cs typeface="Aptos"/>
            </a:endParaRPr>
          </a:p>
        </p:txBody>
      </p:sp>
      <p:pic>
        <p:nvPicPr>
          <p:cNvPr id="30" name="图片 29"/>
          <p:cNvPicPr>
            <a:picLocks noChangeAspect="1"/>
          </p:cNvPicPr>
          <p:nvPr/>
        </p:nvPicPr>
        <p:blipFill>
          <a:blip r:embed="rId2"/>
          <a:srcRect l="38" r="38"/>
          <a:stretch>
            <a:fillRect/>
          </a:stretch>
        </p:blipFill>
        <p:spPr>
          <a:xfrm>
            <a:off x="7905750" y="0"/>
            <a:ext cx="428625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EDDC"/>
        </a:solidFill>
        <a:effectLst/>
      </p:bgPr>
    </p:bg>
    <p:spTree>
      <p:nvGrpSpPr>
        <p:cNvPr id="1" name=""/>
        <p:cNvGrpSpPr/>
        <p:nvPr/>
      </p:nvGrpSpPr>
      <p:grpSpPr/>
      <p:sp>
        <p:nvSpPr>
          <p:cNvPr id="26" name="left-accent"/>
          <p:cNvSpPr>
            <a:spLocks noGrp="1"/>
          </p:cNvSpPr>
          <p:nvPr/>
        </p:nvSpPr>
        <p:spPr>
          <a:xfrm>
            <a:off x="0" y="0"/>
            <a:ext cx="190500" cy="6858000"/>
          </a:xfrm>
          <a:prstGeom prst="rect">
            <a:avLst/>
          </a:prstGeom>
          <a:solidFill>
            <a:srgbClr val="AE4832"/>
          </a:solidFill>
          <a:ln w="0">
            <a:noFill/>
          </a:ln>
        </p:spPr>
      </p:sp>
      <p:sp>
        <p:nvSpPr>
          <p:cNvPr id="2" name="title"/>
          <p:cNvSpPr>
            <a:spLocks noGrp="1"/>
          </p:cNvSpPr>
          <p:nvPr/>
        </p:nvSpPr>
        <p:spPr>
          <a:xfrm>
            <a:off x="742950" y="400050"/>
            <a:ext cx="7429500" cy="533400"/>
          </a:xfrm>
          <a:prstGeom prst="rect">
            <a:avLst/>
          </a:prstGeom>
          <a:noFill/>
          <a:ln w="0">
            <a:noFill/>
          </a:ln>
        </p:spPr>
        <p:txBody>
          <a:bodyPr anchor="t">
            <a:noAutofit/>
          </a:bodyPr>
          <a:lstStyle/>
          <a:p>
            <a:pPr algn="l">
              <a:buNone/>
              <a:defRPr sz="2400" b="1">
                <a:solidFill>
                  <a:srgbClr val="273532"/>
                </a:solidFill>
                <a:latin typeface="微软雅黑" panose="020B0503020204020204" charset="-122"/>
                <a:ea typeface="微软雅黑" panose="020B0503020204020204" charset="-122"/>
                <a:cs typeface="微软雅黑" panose="020B0503020204020204" charset="-122"/>
              </a:defRPr>
            </a:pPr>
            <a:r>
              <a:rPr sz="2400" b="1">
                <a:solidFill>
                  <a:srgbClr val="273532"/>
                </a:solidFill>
                <a:latin typeface="微软雅黑" panose="020B0503020204020204" charset="-122"/>
                <a:ea typeface="微软雅黑" panose="020B0503020204020204" charset="-122"/>
                <a:cs typeface="微软雅黑" panose="020B0503020204020204" charset="-122"/>
              </a:rPr>
              <a:t>Background Problem  现有问题</a:t>
            </a:r>
            <a:endParaRPr sz="2400" b="1">
              <a:solidFill>
                <a:srgbClr val="273532"/>
              </a:solidFill>
              <a:latin typeface="微软雅黑" panose="020B0503020204020204" charset="-122"/>
              <a:ea typeface="微软雅黑" panose="020B0503020204020204" charset="-122"/>
              <a:cs typeface="微软雅黑" panose="020B0503020204020204" charset="-122"/>
            </a:endParaRPr>
          </a:p>
        </p:txBody>
      </p:sp>
      <p:sp>
        <p:nvSpPr>
          <p:cNvPr id="3" name="title-rule"/>
          <p:cNvSpPr>
            <a:spLocks noGrp="1"/>
          </p:cNvSpPr>
          <p:nvPr/>
        </p:nvSpPr>
        <p:spPr>
          <a:xfrm>
            <a:off x="752475" y="1047750"/>
            <a:ext cx="723900" cy="57150"/>
          </a:xfrm>
          <a:prstGeom prst="rect">
            <a:avLst/>
          </a:prstGeom>
          <a:solidFill>
            <a:srgbClr val="AE4832"/>
          </a:solidFill>
          <a:ln w="0">
            <a:noFill/>
          </a:ln>
        </p:spPr>
      </p:sp>
      <p:sp>
        <p:nvSpPr>
          <p:cNvPr id="4" name="page"/>
          <p:cNvSpPr>
            <a:spLocks noGrp="1"/>
          </p:cNvSpPr>
          <p:nvPr/>
        </p:nvSpPr>
        <p:spPr>
          <a:xfrm>
            <a:off x="11239500" y="457200"/>
            <a:ext cx="400050" cy="238125"/>
          </a:xfrm>
          <a:prstGeom prst="rect">
            <a:avLst/>
          </a:prstGeom>
          <a:noFill/>
          <a:ln w="0">
            <a:noFill/>
          </a:ln>
        </p:spPr>
        <p:txBody>
          <a:bodyPr anchor="t">
            <a:noAutofit/>
          </a:bodyPr>
          <a:lstStyle/>
          <a:p>
            <a:pPr algn="r">
              <a:buNone/>
              <a:defRPr sz="900" b="1">
                <a:solidFill>
                  <a:srgbClr val="AE4832"/>
                </a:solidFill>
                <a:latin typeface="微软雅黑" panose="020B0503020204020204" charset="-122"/>
                <a:ea typeface="微软雅黑" panose="020B0503020204020204" charset="-122"/>
                <a:cs typeface="微软雅黑" panose="020B0503020204020204" charset="-122"/>
              </a:defRPr>
            </a:pPr>
            <a:r>
              <a:rPr sz="900" b="1">
                <a:solidFill>
                  <a:srgbClr val="AE4832"/>
                </a:solidFill>
                <a:latin typeface="微软雅黑" panose="020B0503020204020204" charset="-122"/>
                <a:ea typeface="微软雅黑" panose="020B0503020204020204" charset="-122"/>
                <a:cs typeface="微软雅黑" panose="020B0503020204020204" charset="-122"/>
              </a:rPr>
              <a:t>04</a:t>
            </a:r>
            <a:endParaRPr sz="900" b="1">
              <a:solidFill>
                <a:srgbClr val="AE4832"/>
              </a:solidFill>
              <a:latin typeface="微软雅黑" panose="020B0503020204020204" charset="-122"/>
              <a:ea typeface="微软雅黑" panose="020B0503020204020204" charset="-122"/>
              <a:cs typeface="微软雅黑" panose="020B0503020204020204" charset="-122"/>
            </a:endParaRPr>
          </a:p>
        </p:txBody>
      </p:sp>
      <p:sp>
        <p:nvSpPr>
          <p:cNvPr id="5" name="target-users"/>
          <p:cNvSpPr>
            <a:spLocks noGrp="1"/>
          </p:cNvSpPr>
          <p:nvPr/>
        </p:nvSpPr>
        <p:spPr>
          <a:xfrm>
            <a:off x="666750" y="1466850"/>
            <a:ext cx="2714625" cy="4762500"/>
          </a:xfrm>
          <a:prstGeom prst="roundRect">
            <a:avLst>
              <a:gd name="adj" fmla="val 2807"/>
            </a:avLst>
          </a:prstGeom>
          <a:solidFill>
            <a:srgbClr val="FFF9EE"/>
          </a:solidFill>
          <a:ln w="11430">
            <a:solidFill>
              <a:srgbClr val="D8C6AA"/>
            </a:solidFill>
          </a:ln>
        </p:spPr>
      </p:sp>
      <p:sp>
        <p:nvSpPr>
          <p:cNvPr id="6" name="users-label"/>
          <p:cNvSpPr>
            <a:spLocks noGrp="1"/>
          </p:cNvSpPr>
          <p:nvPr/>
        </p:nvSpPr>
        <p:spPr>
          <a:xfrm>
            <a:off x="876300" y="1676400"/>
            <a:ext cx="2305050" cy="285750"/>
          </a:xfrm>
          <a:prstGeom prst="rect">
            <a:avLst/>
          </a:prstGeom>
          <a:noFill/>
          <a:ln w="0">
            <a:noFill/>
          </a:ln>
        </p:spPr>
        <p:txBody>
          <a:bodyPr anchor="t">
            <a:noAutofit/>
          </a:bodyPr>
          <a:lstStyle/>
          <a:p>
            <a:pPr algn="l">
              <a:buNone/>
              <a:defRPr sz="1275" b="1">
                <a:solidFill>
                  <a:srgbClr val="AE4832"/>
                </a:solidFill>
                <a:latin typeface="微软雅黑" panose="020B0503020204020204" charset="-122"/>
                <a:ea typeface="微软雅黑" panose="020B0503020204020204" charset="-122"/>
                <a:cs typeface="微软雅黑" panose="020B0503020204020204" charset="-122"/>
              </a:defRPr>
            </a:pPr>
            <a:r>
              <a:rPr sz="1275" b="1">
                <a:solidFill>
                  <a:srgbClr val="AE4832"/>
                </a:solidFill>
                <a:latin typeface="微软雅黑" panose="020B0503020204020204" charset="-122"/>
                <a:ea typeface="微软雅黑" panose="020B0503020204020204" charset="-122"/>
                <a:cs typeface="微软雅黑" panose="020B0503020204020204" charset="-122"/>
              </a:rPr>
              <a:t>TARGET USERS  目标用户</a:t>
            </a:r>
            <a:endParaRPr sz="1275" b="1">
              <a:solidFill>
                <a:srgbClr val="AE4832"/>
              </a:solidFill>
              <a:latin typeface="微软雅黑" panose="020B0503020204020204" charset="-122"/>
              <a:ea typeface="微软雅黑" panose="020B0503020204020204" charset="-122"/>
              <a:cs typeface="微软雅黑" panose="020B0503020204020204" charset="-122"/>
            </a:endParaRPr>
          </a:p>
        </p:txBody>
      </p:sp>
      <p:sp>
        <p:nvSpPr>
          <p:cNvPr id="7" name="young-title"/>
          <p:cNvSpPr>
            <a:spLocks noGrp="1"/>
          </p:cNvSpPr>
          <p:nvPr/>
        </p:nvSpPr>
        <p:spPr>
          <a:xfrm>
            <a:off x="876300" y="2133600"/>
            <a:ext cx="2305050" cy="495300"/>
          </a:xfrm>
          <a:prstGeom prst="rect">
            <a:avLst/>
          </a:prstGeom>
          <a:noFill/>
          <a:ln w="0">
            <a:noFill/>
          </a:ln>
        </p:spPr>
        <p:txBody>
          <a:bodyPr anchor="t">
            <a:noAutofit/>
          </a:bodyPr>
          <a:lstStyle/>
          <a:p>
            <a:pPr algn="l">
              <a:buNone/>
              <a:defRPr sz="1425" b="1">
                <a:solidFill>
                  <a:srgbClr val="273532"/>
                </a:solidFill>
                <a:latin typeface="微软雅黑" panose="020B0503020204020204" charset="-122"/>
                <a:ea typeface="微软雅黑" panose="020B0503020204020204" charset="-122"/>
                <a:cs typeface="微软雅黑" panose="020B0503020204020204" charset="-122"/>
              </a:defRPr>
            </a:pPr>
            <a:r>
              <a:rPr sz="1425" b="1">
                <a:solidFill>
                  <a:srgbClr val="273532"/>
                </a:solidFill>
                <a:latin typeface="微软雅黑" panose="020B0503020204020204" charset="-122"/>
                <a:ea typeface="微软雅黑" panose="020B0503020204020204" charset="-122"/>
                <a:cs typeface="微软雅黑" panose="020B0503020204020204" charset="-122"/>
              </a:rPr>
              <a:t>Young visitors</a:t>
            </a:r>
            <a:endParaRPr sz="1425" b="1">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425" b="1">
                <a:solidFill>
                  <a:srgbClr val="273532"/>
                </a:solidFill>
                <a:latin typeface="微软雅黑" panose="020B0503020204020204" charset="-122"/>
                <a:ea typeface="微软雅黑" panose="020B0503020204020204" charset="-122"/>
                <a:cs typeface="微软雅黑" panose="020B0503020204020204" charset="-122"/>
              </a:defRPr>
            </a:pPr>
            <a:r>
              <a:rPr sz="1425" b="1">
                <a:solidFill>
                  <a:srgbClr val="273532"/>
                </a:solidFill>
                <a:latin typeface="微软雅黑" panose="020B0503020204020204" charset="-122"/>
                <a:ea typeface="微软雅黑" panose="020B0503020204020204" charset="-122"/>
                <a:cs typeface="微软雅黑" panose="020B0503020204020204" charset="-122"/>
              </a:rPr>
              <a:t>年轻游客</a:t>
            </a:r>
            <a:endParaRPr sz="1425" b="1">
              <a:solidFill>
                <a:srgbClr val="273532"/>
              </a:solidFill>
              <a:latin typeface="微软雅黑" panose="020B0503020204020204" charset="-122"/>
              <a:ea typeface="微软雅黑" panose="020B0503020204020204" charset="-122"/>
              <a:cs typeface="微软雅黑" panose="020B0503020204020204" charset="-122"/>
            </a:endParaRPr>
          </a:p>
        </p:txBody>
      </p:sp>
      <p:sp>
        <p:nvSpPr>
          <p:cNvPr id="8" name="young-body"/>
          <p:cNvSpPr>
            <a:spLocks noGrp="1"/>
          </p:cNvSpPr>
          <p:nvPr/>
        </p:nvSpPr>
        <p:spPr>
          <a:xfrm>
            <a:off x="876300" y="2724150"/>
            <a:ext cx="2305050" cy="800100"/>
          </a:xfrm>
          <a:prstGeom prst="rect">
            <a:avLst/>
          </a:prstGeom>
          <a:noFill/>
          <a:ln w="0">
            <a:noFill/>
          </a:ln>
        </p:spPr>
        <p:txBody>
          <a:bodyPr anchor="t">
            <a:noAutofit/>
          </a:bodyPr>
          <a:lstStyle/>
          <a:p>
            <a:pPr algn="l">
              <a:buNone/>
              <a:defRPr sz="1165" b="0">
                <a:solidFill>
                  <a:srgbClr val="5A5A50"/>
                </a:solidFill>
                <a:latin typeface="微软雅黑" panose="020B0503020204020204" charset="-122"/>
                <a:ea typeface="微软雅黑" panose="020B0503020204020204" charset="-122"/>
                <a:cs typeface="微软雅黑" panose="020B0503020204020204" charset="-122"/>
              </a:defRPr>
            </a:pPr>
            <a:r>
              <a:rPr sz="1165" b="0">
                <a:solidFill>
                  <a:srgbClr val="5A5A50"/>
                </a:solidFill>
                <a:latin typeface="微软雅黑" panose="020B0503020204020204" charset="-122"/>
                <a:ea typeface="微软雅黑" panose="020B0503020204020204" charset="-122"/>
                <a:cs typeface="微软雅黑" panose="020B0503020204020204" charset="-122"/>
              </a:rPr>
              <a:t>希望旅行过程有趣、有参与感，同时获得一定的文化体验。</a:t>
            </a:r>
            <a:endParaRPr sz="1165" b="0">
              <a:solidFill>
                <a:srgbClr val="5A5A50"/>
              </a:solidFill>
              <a:latin typeface="微软雅黑" panose="020B0503020204020204" charset="-122"/>
              <a:ea typeface="微软雅黑" panose="020B0503020204020204" charset="-122"/>
              <a:cs typeface="微软雅黑" panose="020B0503020204020204" charset="-122"/>
            </a:endParaRPr>
          </a:p>
          <a:p>
            <a:pPr algn="l">
              <a:buNone/>
              <a:defRPr sz="1165" b="0">
                <a:solidFill>
                  <a:srgbClr val="5A5A50"/>
                </a:solidFill>
                <a:latin typeface="微软雅黑" panose="020B0503020204020204" charset="-122"/>
                <a:ea typeface="微软雅黑" panose="020B0503020204020204" charset="-122"/>
                <a:cs typeface="微软雅黑" panose="020B0503020204020204" charset="-122"/>
              </a:defRPr>
            </a:pPr>
            <a:r>
              <a:rPr sz="1165" b="0">
                <a:solidFill>
                  <a:srgbClr val="5A5A50"/>
                </a:solidFill>
                <a:latin typeface="微软雅黑" panose="020B0503020204020204" charset="-122"/>
                <a:ea typeface="微软雅黑" panose="020B0503020204020204" charset="-122"/>
                <a:cs typeface="微软雅黑" panose="020B0503020204020204" charset="-122"/>
              </a:rPr>
              <a:t>Seek an enjoyable and participatory journey while gaining cultural experience.</a:t>
            </a:r>
            <a:endParaRPr sz="1165" b="0">
              <a:solidFill>
                <a:srgbClr val="5A5A50"/>
              </a:solidFill>
              <a:latin typeface="微软雅黑" panose="020B0503020204020204" charset="-122"/>
              <a:ea typeface="微软雅黑" panose="020B0503020204020204" charset="-122"/>
              <a:cs typeface="微软雅黑" panose="020B0503020204020204" charset="-122"/>
            </a:endParaRPr>
          </a:p>
        </p:txBody>
      </p:sp>
      <p:sp>
        <p:nvSpPr>
          <p:cNvPr id="9" name="users-divider"/>
          <p:cNvSpPr>
            <a:spLocks noGrp="1"/>
          </p:cNvSpPr>
          <p:nvPr/>
        </p:nvSpPr>
        <p:spPr>
          <a:xfrm>
            <a:off x="876300" y="3790950"/>
            <a:ext cx="2095500" cy="19050"/>
          </a:xfrm>
          <a:prstGeom prst="rect">
            <a:avLst/>
          </a:prstGeom>
          <a:solidFill>
            <a:srgbClr val="DECDB3"/>
          </a:solidFill>
          <a:ln w="0">
            <a:noFill/>
          </a:ln>
        </p:spPr>
      </p:sp>
      <p:sp>
        <p:nvSpPr>
          <p:cNvPr id="10" name="study-title"/>
          <p:cNvSpPr>
            <a:spLocks noGrp="1"/>
          </p:cNvSpPr>
          <p:nvPr/>
        </p:nvSpPr>
        <p:spPr>
          <a:xfrm>
            <a:off x="876300" y="3876675"/>
            <a:ext cx="2305050" cy="495300"/>
          </a:xfrm>
          <a:prstGeom prst="rect">
            <a:avLst/>
          </a:prstGeom>
          <a:noFill/>
          <a:ln w="0">
            <a:noFill/>
          </a:ln>
        </p:spPr>
        <p:txBody>
          <a:bodyPr anchor="t">
            <a:noAutofit/>
          </a:bodyPr>
          <a:lstStyle/>
          <a:p>
            <a:pPr algn="l">
              <a:buNone/>
              <a:defRPr sz="1350" b="1">
                <a:solidFill>
                  <a:srgbClr val="273532"/>
                </a:solidFill>
                <a:latin typeface="微软雅黑" panose="020B0503020204020204" charset="-122"/>
                <a:ea typeface="微软雅黑" panose="020B0503020204020204" charset="-122"/>
                <a:cs typeface="微软雅黑" panose="020B0503020204020204" charset="-122"/>
              </a:defRPr>
            </a:pPr>
            <a:r>
              <a:rPr sz="1350" b="1">
                <a:solidFill>
                  <a:srgbClr val="273532"/>
                </a:solidFill>
                <a:latin typeface="微软雅黑" panose="020B0503020204020204" charset="-122"/>
                <a:ea typeface="微软雅黑" panose="020B0503020204020204" charset="-122"/>
                <a:cs typeface="微软雅黑" panose="020B0503020204020204" charset="-122"/>
              </a:rPr>
              <a:t>Study-tour groups</a:t>
            </a:r>
            <a:endParaRPr sz="1350" b="1">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350" b="1">
                <a:solidFill>
                  <a:srgbClr val="273532"/>
                </a:solidFill>
                <a:latin typeface="微软雅黑" panose="020B0503020204020204" charset="-122"/>
                <a:ea typeface="微软雅黑" panose="020B0503020204020204" charset="-122"/>
                <a:cs typeface="微软雅黑" panose="020B0503020204020204" charset="-122"/>
              </a:defRPr>
            </a:pPr>
            <a:r>
              <a:rPr sz="1350" b="1">
                <a:solidFill>
                  <a:srgbClr val="273532"/>
                </a:solidFill>
                <a:latin typeface="微软雅黑" panose="020B0503020204020204" charset="-122"/>
                <a:ea typeface="微软雅黑" panose="020B0503020204020204" charset="-122"/>
                <a:cs typeface="微软雅黑" panose="020B0503020204020204" charset="-122"/>
              </a:rPr>
              <a:t>研学旅行团体</a:t>
            </a:r>
            <a:endParaRPr sz="1350" b="1">
              <a:solidFill>
                <a:srgbClr val="273532"/>
              </a:solidFill>
              <a:latin typeface="微软雅黑" panose="020B0503020204020204" charset="-122"/>
              <a:ea typeface="微软雅黑" panose="020B0503020204020204" charset="-122"/>
              <a:cs typeface="微软雅黑" panose="020B0503020204020204" charset="-122"/>
            </a:endParaRPr>
          </a:p>
        </p:txBody>
      </p:sp>
      <p:sp>
        <p:nvSpPr>
          <p:cNvPr id="11" name="study-body"/>
          <p:cNvSpPr>
            <a:spLocks noGrp="1"/>
          </p:cNvSpPr>
          <p:nvPr/>
        </p:nvSpPr>
        <p:spPr>
          <a:xfrm>
            <a:off x="876300" y="4438650"/>
            <a:ext cx="2305050" cy="1190625"/>
          </a:xfrm>
          <a:prstGeom prst="rect">
            <a:avLst/>
          </a:prstGeom>
          <a:noFill/>
          <a:ln w="0">
            <a:noFill/>
          </a:ln>
        </p:spPr>
        <p:txBody>
          <a:bodyPr anchor="t">
            <a:noAutofit/>
          </a:bodyPr>
          <a:lstStyle/>
          <a:p>
            <a:pPr algn="l">
              <a:buNone/>
              <a:defRPr sz="1165" b="0">
                <a:solidFill>
                  <a:srgbClr val="5A5A50"/>
                </a:solidFill>
                <a:latin typeface="微软雅黑" panose="020B0503020204020204" charset="-122"/>
                <a:ea typeface="微软雅黑" panose="020B0503020204020204" charset="-122"/>
                <a:cs typeface="微软雅黑" panose="020B0503020204020204" charset="-122"/>
              </a:defRPr>
            </a:pPr>
            <a:r>
              <a:rPr sz="1165" b="0">
                <a:solidFill>
                  <a:srgbClr val="5A5A50"/>
                </a:solidFill>
                <a:latin typeface="微软雅黑" panose="020B0503020204020204" charset="-122"/>
                <a:ea typeface="微软雅黑" panose="020B0503020204020204" charset="-122"/>
                <a:cs typeface="微软雅黑" panose="020B0503020204020204" charset="-122"/>
              </a:rPr>
              <a:t>带着学习目标参观，需要在有限时间内理解并记住文化知识。</a:t>
            </a:r>
            <a:endParaRPr sz="1165" b="0">
              <a:solidFill>
                <a:srgbClr val="5A5A50"/>
              </a:solidFill>
              <a:latin typeface="微软雅黑" panose="020B0503020204020204" charset="-122"/>
              <a:ea typeface="微软雅黑" panose="020B0503020204020204" charset="-122"/>
              <a:cs typeface="微软雅黑" panose="020B0503020204020204" charset="-122"/>
            </a:endParaRPr>
          </a:p>
          <a:p>
            <a:pPr algn="l">
              <a:buNone/>
              <a:defRPr sz="1165" b="0">
                <a:solidFill>
                  <a:srgbClr val="5A5A50"/>
                </a:solidFill>
                <a:latin typeface="微软雅黑" panose="020B0503020204020204" charset="-122"/>
                <a:ea typeface="微软雅黑" panose="020B0503020204020204" charset="-122"/>
                <a:cs typeface="微软雅黑" panose="020B0503020204020204" charset="-122"/>
              </a:defRPr>
            </a:pPr>
            <a:r>
              <a:rPr sz="1165" b="0">
                <a:solidFill>
                  <a:srgbClr val="5A5A50"/>
                </a:solidFill>
                <a:latin typeface="微软雅黑" panose="020B0503020204020204" charset="-122"/>
                <a:ea typeface="微软雅黑" panose="020B0503020204020204" charset="-122"/>
                <a:cs typeface="微软雅黑" panose="020B0503020204020204" charset="-122"/>
              </a:rPr>
              <a:t>Visit with learning goals and need to understand and retain cultural knowledge within limited time.</a:t>
            </a:r>
            <a:endParaRPr sz="1165" b="0">
              <a:solidFill>
                <a:srgbClr val="5A5A50"/>
              </a:solidFill>
              <a:latin typeface="微软雅黑" panose="020B0503020204020204" charset="-122"/>
              <a:ea typeface="微软雅黑" panose="020B0503020204020204" charset="-122"/>
              <a:cs typeface="微软雅黑" panose="020B0503020204020204" charset="-122"/>
            </a:endParaRPr>
          </a:p>
        </p:txBody>
      </p:sp>
      <p:sp>
        <p:nvSpPr>
          <p:cNvPr id="12" name="core-problems"/>
          <p:cNvSpPr>
            <a:spLocks noGrp="1"/>
          </p:cNvSpPr>
          <p:nvPr/>
        </p:nvSpPr>
        <p:spPr>
          <a:xfrm>
            <a:off x="4238625" y="1466850"/>
            <a:ext cx="4000500" cy="4762500"/>
          </a:xfrm>
          <a:prstGeom prst="roundRect">
            <a:avLst>
              <a:gd name="adj" fmla="val 1905"/>
            </a:avLst>
          </a:prstGeom>
          <a:solidFill>
            <a:srgbClr val="F1E2CE"/>
          </a:solidFill>
          <a:ln w="11430">
            <a:solidFill>
              <a:srgbClr val="D8C6AA"/>
            </a:solidFill>
          </a:ln>
        </p:spPr>
      </p:sp>
      <p:sp>
        <p:nvSpPr>
          <p:cNvPr id="13" name="problems-label"/>
          <p:cNvSpPr>
            <a:spLocks noGrp="1"/>
          </p:cNvSpPr>
          <p:nvPr/>
        </p:nvSpPr>
        <p:spPr>
          <a:xfrm>
            <a:off x="4467225" y="1676400"/>
            <a:ext cx="3524250" cy="285750"/>
          </a:xfrm>
          <a:prstGeom prst="rect">
            <a:avLst/>
          </a:prstGeom>
          <a:noFill/>
          <a:ln w="0">
            <a:noFill/>
          </a:ln>
        </p:spPr>
        <p:txBody>
          <a:bodyPr anchor="t">
            <a:noAutofit/>
          </a:bodyPr>
          <a:lstStyle/>
          <a:p>
            <a:pPr algn="l">
              <a:buNone/>
              <a:defRPr sz="1275" b="1">
                <a:solidFill>
                  <a:srgbClr val="AE4832"/>
                </a:solidFill>
                <a:latin typeface="微软雅黑" panose="020B0503020204020204" charset="-122"/>
                <a:ea typeface="微软雅黑" panose="020B0503020204020204" charset="-122"/>
                <a:cs typeface="微软雅黑" panose="020B0503020204020204" charset="-122"/>
              </a:defRPr>
            </a:pPr>
            <a:r>
              <a:rPr sz="1275" b="1">
                <a:solidFill>
                  <a:srgbClr val="AE4832"/>
                </a:solidFill>
                <a:latin typeface="微软雅黑" panose="020B0503020204020204" charset="-122"/>
                <a:ea typeface="微软雅黑" panose="020B0503020204020204" charset="-122"/>
                <a:cs typeface="微软雅黑" panose="020B0503020204020204" charset="-122"/>
              </a:rPr>
              <a:t>CORE PROBLEMS  核心问题</a:t>
            </a:r>
            <a:endParaRPr sz="1275" b="1">
              <a:solidFill>
                <a:srgbClr val="AE4832"/>
              </a:solidFill>
              <a:latin typeface="微软雅黑" panose="020B0503020204020204" charset="-122"/>
              <a:ea typeface="微软雅黑" panose="020B0503020204020204" charset="-122"/>
              <a:cs typeface="微软雅黑" panose="020B0503020204020204" charset="-122"/>
            </a:endParaRPr>
          </a:p>
        </p:txBody>
      </p:sp>
      <p:sp>
        <p:nvSpPr>
          <p:cNvPr id="14" name="p1-title"/>
          <p:cNvSpPr>
            <a:spLocks noGrp="1"/>
          </p:cNvSpPr>
          <p:nvPr/>
        </p:nvSpPr>
        <p:spPr>
          <a:xfrm>
            <a:off x="4500245" y="1979930"/>
            <a:ext cx="3476625" cy="523875"/>
          </a:xfrm>
          <a:prstGeom prst="rect">
            <a:avLst/>
          </a:prstGeom>
          <a:noFill/>
          <a:ln w="0">
            <a:noFill/>
          </a:ln>
        </p:spPr>
        <p:txBody>
          <a:bodyPr anchor="t">
            <a:noAutofit/>
          </a:bodyPr>
          <a:lstStyle/>
          <a:p>
            <a:pPr algn="l">
              <a:buNone/>
              <a:defRPr sz="1350" b="1">
                <a:solidFill>
                  <a:srgbClr val="273532"/>
                </a:solidFill>
                <a:latin typeface="微软雅黑" panose="020B0503020204020204" charset="-122"/>
                <a:ea typeface="微软雅黑" panose="020B0503020204020204" charset="-122"/>
                <a:cs typeface="微软雅黑" panose="020B0503020204020204" charset="-122"/>
              </a:defRPr>
            </a:pPr>
            <a:r>
              <a:rPr sz="1350" b="1">
                <a:solidFill>
                  <a:srgbClr val="273532"/>
                </a:solidFill>
                <a:latin typeface="微软雅黑" panose="020B0503020204020204" charset="-122"/>
                <a:ea typeface="微软雅黑" panose="020B0503020204020204" charset="-122"/>
                <a:cs typeface="微软雅黑" panose="020B0503020204020204" charset="-122"/>
              </a:rPr>
              <a:t>01  Passive interpretation</a:t>
            </a:r>
            <a:endParaRPr sz="1350" b="1">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350" b="1">
                <a:solidFill>
                  <a:srgbClr val="273532"/>
                </a:solidFill>
                <a:latin typeface="微软雅黑" panose="020B0503020204020204" charset="-122"/>
                <a:ea typeface="微软雅黑" panose="020B0503020204020204" charset="-122"/>
                <a:cs typeface="微软雅黑" panose="020B0503020204020204" charset="-122"/>
              </a:defRPr>
            </a:pPr>
            <a:r>
              <a:rPr sz="1350" b="1">
                <a:solidFill>
                  <a:srgbClr val="273532"/>
                </a:solidFill>
                <a:latin typeface="微软雅黑" panose="020B0503020204020204" charset="-122"/>
                <a:ea typeface="微软雅黑" panose="020B0503020204020204" charset="-122"/>
                <a:cs typeface="微软雅黑" panose="020B0503020204020204" charset="-122"/>
              </a:rPr>
              <a:t>      传统讲解缺少参与感</a:t>
            </a:r>
            <a:endParaRPr sz="1350" b="1">
              <a:solidFill>
                <a:srgbClr val="273532"/>
              </a:solidFill>
              <a:latin typeface="微软雅黑" panose="020B0503020204020204" charset="-122"/>
              <a:ea typeface="微软雅黑" panose="020B0503020204020204" charset="-122"/>
              <a:cs typeface="微软雅黑" panose="020B0503020204020204" charset="-122"/>
            </a:endParaRPr>
          </a:p>
        </p:txBody>
      </p:sp>
      <p:sp>
        <p:nvSpPr>
          <p:cNvPr id="15" name="p1-body"/>
          <p:cNvSpPr>
            <a:spLocks noGrp="1"/>
          </p:cNvSpPr>
          <p:nvPr/>
        </p:nvSpPr>
        <p:spPr>
          <a:xfrm>
            <a:off x="4467225" y="2628900"/>
            <a:ext cx="3476625" cy="1200150"/>
          </a:xfrm>
          <a:prstGeom prst="rect">
            <a:avLst/>
          </a:prstGeom>
          <a:noFill/>
          <a:ln w="0">
            <a:noFill/>
          </a:ln>
        </p:spPr>
        <p:txBody>
          <a:bodyPr anchor="t">
            <a:noAutofit/>
          </a:bodyPr>
          <a:lstStyle/>
          <a:p>
            <a:pPr algn="l">
              <a:buNone/>
              <a:defRPr sz="1090" b="0">
                <a:solidFill>
                  <a:srgbClr val="5A5A50"/>
                </a:solidFill>
                <a:latin typeface="微软雅黑" panose="020B0503020204020204" charset="-122"/>
                <a:ea typeface="微软雅黑" panose="020B0503020204020204" charset="-122"/>
                <a:cs typeface="微软雅黑" panose="020B0503020204020204" charset="-122"/>
              </a:defRPr>
            </a:pPr>
            <a:r>
              <a:rPr sz="1090" b="0">
                <a:solidFill>
                  <a:srgbClr val="5A5A50"/>
                </a:solidFill>
                <a:latin typeface="微软雅黑" panose="020B0503020204020204" charset="-122"/>
                <a:ea typeface="微软雅黑" panose="020B0503020204020204" charset="-122"/>
                <a:cs typeface="微软雅黑" panose="020B0503020204020204" charset="-122"/>
              </a:rPr>
              <a:t>讲解员、展板和大段文字仍是主要的信息传递方式。年轻游客只能被动接收，缺少互动机会，难以持续保持注意力和探索动力。</a:t>
            </a:r>
            <a:endParaRPr sz="1090" b="0">
              <a:solidFill>
                <a:srgbClr val="5A5A50"/>
              </a:solidFill>
              <a:latin typeface="微软雅黑" panose="020B0503020204020204" charset="-122"/>
              <a:ea typeface="微软雅黑" panose="020B0503020204020204" charset="-122"/>
              <a:cs typeface="微软雅黑" panose="020B0503020204020204" charset="-122"/>
            </a:endParaRPr>
          </a:p>
          <a:p>
            <a:pPr algn="l">
              <a:buNone/>
              <a:defRPr sz="1090" b="0">
                <a:solidFill>
                  <a:srgbClr val="5A5A50"/>
                </a:solidFill>
                <a:latin typeface="微软雅黑" panose="020B0503020204020204" charset="-122"/>
                <a:ea typeface="微软雅黑" panose="020B0503020204020204" charset="-122"/>
                <a:cs typeface="微软雅黑" panose="020B0503020204020204" charset="-122"/>
              </a:defRPr>
            </a:pPr>
            <a:r>
              <a:rPr sz="1090" b="0">
                <a:solidFill>
                  <a:srgbClr val="5A5A50"/>
                </a:solidFill>
                <a:latin typeface="微软雅黑" panose="020B0503020204020204" charset="-122"/>
                <a:ea typeface="微软雅黑" panose="020B0503020204020204" charset="-122"/>
                <a:cs typeface="微软雅黑" panose="020B0503020204020204" charset="-122"/>
              </a:rPr>
              <a:t>Guides, panels and long texts dominate. Passive reception and limited interaction can weaken attention and motivation.</a:t>
            </a:r>
            <a:endParaRPr sz="1090" b="0">
              <a:solidFill>
                <a:srgbClr val="5A5A50"/>
              </a:solidFill>
              <a:latin typeface="微软雅黑" panose="020B0503020204020204" charset="-122"/>
              <a:ea typeface="微软雅黑" panose="020B0503020204020204" charset="-122"/>
              <a:cs typeface="微软雅黑" panose="020B0503020204020204" charset="-122"/>
            </a:endParaRPr>
          </a:p>
        </p:txBody>
      </p:sp>
      <p:sp>
        <p:nvSpPr>
          <p:cNvPr id="16" name="problems-divider"/>
          <p:cNvSpPr>
            <a:spLocks noGrp="1"/>
          </p:cNvSpPr>
          <p:nvPr/>
        </p:nvSpPr>
        <p:spPr>
          <a:xfrm>
            <a:off x="4467225" y="3886200"/>
            <a:ext cx="3429000" cy="19050"/>
          </a:xfrm>
          <a:prstGeom prst="rect">
            <a:avLst/>
          </a:prstGeom>
          <a:solidFill>
            <a:srgbClr val="D2B99A"/>
          </a:solidFill>
          <a:ln w="0">
            <a:noFill/>
          </a:ln>
        </p:spPr>
      </p:sp>
      <p:sp>
        <p:nvSpPr>
          <p:cNvPr id="17" name="p2-title"/>
          <p:cNvSpPr>
            <a:spLocks noGrp="1"/>
          </p:cNvSpPr>
          <p:nvPr/>
        </p:nvSpPr>
        <p:spPr>
          <a:xfrm>
            <a:off x="4467225" y="4076700"/>
            <a:ext cx="3704590" cy="523875"/>
          </a:xfrm>
          <a:prstGeom prst="rect">
            <a:avLst/>
          </a:prstGeom>
          <a:noFill/>
          <a:ln w="0">
            <a:noFill/>
          </a:ln>
        </p:spPr>
        <p:txBody>
          <a:bodyPr anchor="t">
            <a:noAutofit/>
          </a:bodyPr>
          <a:lstStyle/>
          <a:p>
            <a:pPr algn="l">
              <a:buNone/>
              <a:defRPr sz="1350" b="1">
                <a:solidFill>
                  <a:srgbClr val="273532"/>
                </a:solidFill>
                <a:latin typeface="微软雅黑" panose="020B0503020204020204" charset="-122"/>
                <a:ea typeface="微软雅黑" panose="020B0503020204020204" charset="-122"/>
                <a:cs typeface="微软雅黑" panose="020B0503020204020204" charset="-122"/>
              </a:defRPr>
            </a:pPr>
            <a:r>
              <a:rPr sz="1350" b="1">
                <a:solidFill>
                  <a:srgbClr val="273532"/>
                </a:solidFill>
                <a:latin typeface="微软雅黑" panose="020B0503020204020204" charset="-122"/>
                <a:ea typeface="微软雅黑" panose="020B0503020204020204" charset="-122"/>
                <a:cs typeface="微软雅黑" panose="020B0503020204020204" charset="-122"/>
              </a:rPr>
              <a:t>02  Check-ins disconnected from culture</a:t>
            </a:r>
            <a:endParaRPr sz="1350" b="1">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350" b="1">
                <a:solidFill>
                  <a:srgbClr val="273532"/>
                </a:solidFill>
                <a:latin typeface="微软雅黑" panose="020B0503020204020204" charset="-122"/>
                <a:ea typeface="微软雅黑" panose="020B0503020204020204" charset="-122"/>
                <a:cs typeface="微软雅黑" panose="020B0503020204020204" charset="-122"/>
              </a:defRPr>
            </a:pPr>
            <a:r>
              <a:rPr sz="1350" b="1">
                <a:solidFill>
                  <a:srgbClr val="273532"/>
                </a:solidFill>
                <a:latin typeface="微软雅黑" panose="020B0503020204020204" charset="-122"/>
                <a:ea typeface="微软雅黑" panose="020B0503020204020204" charset="-122"/>
                <a:cs typeface="微软雅黑" panose="020B0503020204020204" charset="-122"/>
              </a:rPr>
              <a:t>      </a:t>
            </a:r>
            <a:r>
              <a:rPr sz="1350" b="1">
                <a:solidFill>
                  <a:srgbClr val="273532"/>
                </a:solidFill>
                <a:latin typeface="微软雅黑" panose="020B0503020204020204" charset="-122"/>
                <a:ea typeface="微软雅黑" panose="020B0503020204020204" charset="-122"/>
                <a:cs typeface="微软雅黑" panose="020B0503020204020204" charset="-122"/>
              </a:rPr>
              <a:t>打卡行为与文化理解脱节</a:t>
            </a:r>
            <a:endParaRPr sz="1350" b="1">
              <a:solidFill>
                <a:srgbClr val="273532"/>
              </a:solidFill>
              <a:latin typeface="微软雅黑" panose="020B0503020204020204" charset="-122"/>
              <a:ea typeface="微软雅黑" panose="020B0503020204020204" charset="-122"/>
              <a:cs typeface="微软雅黑" panose="020B0503020204020204" charset="-122"/>
            </a:endParaRPr>
          </a:p>
        </p:txBody>
      </p:sp>
      <p:sp>
        <p:nvSpPr>
          <p:cNvPr id="18" name="p2-body"/>
          <p:cNvSpPr>
            <a:spLocks noGrp="1"/>
          </p:cNvSpPr>
          <p:nvPr/>
        </p:nvSpPr>
        <p:spPr>
          <a:xfrm>
            <a:off x="4467225" y="4725035"/>
            <a:ext cx="3476625" cy="1200150"/>
          </a:xfrm>
          <a:prstGeom prst="rect">
            <a:avLst/>
          </a:prstGeom>
          <a:noFill/>
          <a:ln w="0">
            <a:noFill/>
          </a:ln>
        </p:spPr>
        <p:txBody>
          <a:bodyPr anchor="t">
            <a:noAutofit/>
          </a:bodyPr>
          <a:lstStyle/>
          <a:p>
            <a:pPr algn="l">
              <a:buNone/>
              <a:defRPr sz="1090" b="0">
                <a:solidFill>
                  <a:srgbClr val="5A5A50"/>
                </a:solidFill>
                <a:latin typeface="微软雅黑" panose="020B0503020204020204" charset="-122"/>
                <a:ea typeface="微软雅黑" panose="020B0503020204020204" charset="-122"/>
                <a:cs typeface="微软雅黑" panose="020B0503020204020204" charset="-122"/>
              </a:defRPr>
            </a:pPr>
            <a:r>
              <a:rPr sz="1090" b="0">
                <a:solidFill>
                  <a:srgbClr val="5A5A50"/>
                </a:solidFill>
                <a:latin typeface="微软雅黑" panose="020B0503020204020204" charset="-122"/>
                <a:ea typeface="微软雅黑" panose="020B0503020204020204" charset="-122"/>
                <a:cs typeface="微软雅黑" panose="020B0503020204020204" charset="-122"/>
              </a:rPr>
              <a:t>社交媒体推动拍照和打卡。游客可能记录景点外观，却缺少观察建筑细节、理解历史背景和建立文化联系的引导。</a:t>
            </a:r>
            <a:endParaRPr sz="1090" b="0">
              <a:solidFill>
                <a:srgbClr val="5A5A50"/>
              </a:solidFill>
              <a:latin typeface="微软雅黑" panose="020B0503020204020204" charset="-122"/>
              <a:ea typeface="微软雅黑" panose="020B0503020204020204" charset="-122"/>
              <a:cs typeface="微软雅黑" panose="020B0503020204020204" charset="-122"/>
            </a:endParaRPr>
          </a:p>
          <a:p>
            <a:pPr algn="l">
              <a:buNone/>
              <a:defRPr sz="1090" b="0">
                <a:solidFill>
                  <a:srgbClr val="5A5A50"/>
                </a:solidFill>
                <a:latin typeface="微软雅黑" panose="020B0503020204020204" charset="-122"/>
                <a:ea typeface="微软雅黑" panose="020B0503020204020204" charset="-122"/>
                <a:cs typeface="微软雅黑" panose="020B0503020204020204" charset="-122"/>
              </a:defRPr>
            </a:pPr>
            <a:r>
              <a:rPr sz="1090" b="0">
                <a:solidFill>
                  <a:srgbClr val="5A5A50"/>
                </a:solidFill>
                <a:latin typeface="微软雅黑" panose="020B0503020204020204" charset="-122"/>
                <a:ea typeface="微软雅黑" panose="020B0503020204020204" charset="-122"/>
                <a:cs typeface="微软雅黑" panose="020B0503020204020204" charset="-122"/>
              </a:rPr>
              <a:t>Photo-oriented visits may record appearances without prompting deeper observation, historical understanding or cultural connection.</a:t>
            </a:r>
            <a:endParaRPr sz="1090" b="0">
              <a:solidFill>
                <a:srgbClr val="5A5A50"/>
              </a:solidFill>
              <a:latin typeface="微软雅黑" panose="020B0503020204020204" charset="-122"/>
              <a:ea typeface="微软雅黑" panose="020B0503020204020204" charset="-122"/>
              <a:cs typeface="微软雅黑" panose="020B0503020204020204" charset="-122"/>
            </a:endParaRPr>
          </a:p>
        </p:txBody>
      </p:sp>
      <p:sp>
        <p:nvSpPr>
          <p:cNvPr id="19" name="outcomes"/>
          <p:cNvSpPr>
            <a:spLocks noGrp="1"/>
          </p:cNvSpPr>
          <p:nvPr/>
        </p:nvSpPr>
        <p:spPr>
          <a:xfrm>
            <a:off x="9096375" y="1466850"/>
            <a:ext cx="2476500" cy="4762500"/>
          </a:xfrm>
          <a:prstGeom prst="roundRect">
            <a:avLst>
              <a:gd name="adj" fmla="val 3077"/>
            </a:avLst>
          </a:prstGeom>
          <a:solidFill>
            <a:srgbClr val="E9D2BC"/>
          </a:solidFill>
          <a:ln w="11430">
            <a:solidFill>
              <a:srgbClr val="D8C6AA"/>
            </a:solidFill>
          </a:ln>
        </p:spPr>
      </p:sp>
      <p:sp>
        <p:nvSpPr>
          <p:cNvPr id="20" name="outcome-label"/>
          <p:cNvSpPr>
            <a:spLocks noGrp="1"/>
          </p:cNvSpPr>
          <p:nvPr/>
        </p:nvSpPr>
        <p:spPr>
          <a:xfrm>
            <a:off x="9315450" y="1685925"/>
            <a:ext cx="2047875" cy="561975"/>
          </a:xfrm>
          <a:prstGeom prst="rect">
            <a:avLst/>
          </a:prstGeom>
          <a:noFill/>
          <a:ln w="0">
            <a:noFill/>
          </a:ln>
        </p:spPr>
        <p:txBody>
          <a:bodyPr anchor="t">
            <a:noAutofit/>
          </a:bodyPr>
          <a:lstStyle/>
          <a:p>
            <a:pPr algn="l">
              <a:buNone/>
              <a:defRPr sz="1275" b="1">
                <a:solidFill>
                  <a:srgbClr val="AE4832"/>
                </a:solidFill>
                <a:latin typeface="微软雅黑" panose="020B0503020204020204" charset="-122"/>
                <a:ea typeface="微软雅黑" panose="020B0503020204020204" charset="-122"/>
                <a:cs typeface="微软雅黑" panose="020B0503020204020204" charset="-122"/>
              </a:defRPr>
            </a:pPr>
            <a:r>
              <a:rPr sz="1275" b="1">
                <a:solidFill>
                  <a:srgbClr val="AE4832"/>
                </a:solidFill>
                <a:latin typeface="微软雅黑" panose="020B0503020204020204" charset="-122"/>
                <a:ea typeface="微软雅黑" panose="020B0503020204020204" charset="-122"/>
                <a:cs typeface="微软雅黑" panose="020B0503020204020204" charset="-122"/>
              </a:rPr>
              <a:t>SURFACE-LEVEL VISITS</a:t>
            </a:r>
            <a:endParaRPr sz="1275" b="1">
              <a:solidFill>
                <a:srgbClr val="AE4832"/>
              </a:solidFill>
              <a:latin typeface="微软雅黑" panose="020B0503020204020204" charset="-122"/>
              <a:ea typeface="微软雅黑" panose="020B0503020204020204" charset="-122"/>
              <a:cs typeface="微软雅黑" panose="020B0503020204020204" charset="-122"/>
            </a:endParaRPr>
          </a:p>
          <a:p>
            <a:pPr algn="l">
              <a:buNone/>
              <a:defRPr sz="1275" b="1">
                <a:solidFill>
                  <a:srgbClr val="AE4832"/>
                </a:solidFill>
                <a:latin typeface="微软雅黑" panose="020B0503020204020204" charset="-122"/>
                <a:ea typeface="微软雅黑" panose="020B0503020204020204" charset="-122"/>
                <a:cs typeface="微软雅黑" panose="020B0503020204020204" charset="-122"/>
              </a:defRPr>
            </a:pPr>
            <a:r>
              <a:rPr sz="1275" b="1">
                <a:solidFill>
                  <a:srgbClr val="AE4832"/>
                </a:solidFill>
                <a:latin typeface="微软雅黑" panose="020B0503020204020204" charset="-122"/>
                <a:ea typeface="微软雅黑" panose="020B0503020204020204" charset="-122"/>
                <a:cs typeface="微软雅黑" panose="020B0503020204020204" charset="-122"/>
              </a:rPr>
              <a:t>游览体验停留在表面</a:t>
            </a:r>
            <a:endParaRPr sz="1275" b="1">
              <a:solidFill>
                <a:srgbClr val="AE4832"/>
              </a:solidFill>
              <a:latin typeface="微软雅黑" panose="020B0503020204020204" charset="-122"/>
              <a:ea typeface="微软雅黑" panose="020B0503020204020204" charset="-122"/>
              <a:cs typeface="微软雅黑" panose="020B0503020204020204" charset="-122"/>
            </a:endParaRPr>
          </a:p>
        </p:txBody>
      </p:sp>
      <p:sp>
        <p:nvSpPr>
          <p:cNvPr id="21" name="outcome-items"/>
          <p:cNvSpPr>
            <a:spLocks noGrp="1"/>
          </p:cNvSpPr>
          <p:nvPr/>
        </p:nvSpPr>
        <p:spPr>
          <a:xfrm>
            <a:off x="9315450" y="2505075"/>
            <a:ext cx="2047875" cy="3286125"/>
          </a:xfrm>
          <a:prstGeom prst="rect">
            <a:avLst/>
          </a:prstGeom>
          <a:noFill/>
          <a:ln w="0">
            <a:noFill/>
          </a:ln>
        </p:spPr>
        <p:txBody>
          <a:bodyPr anchor="t">
            <a:noAutofit/>
          </a:bodyPr>
          <a:lstStyle/>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1  Weak cultural memory</a:t>
            </a:r>
            <a:endParaRPr sz="1125" b="0">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    对历史文化的记忆较弱</a:t>
            </a:r>
            <a:endParaRPr sz="1125" b="0">
              <a:solidFill>
                <a:srgbClr val="273532"/>
              </a:solidFill>
              <a:latin typeface="微软雅黑" panose="020B0503020204020204" charset="-122"/>
              <a:ea typeface="微软雅黑" panose="020B0503020204020204" charset="-122"/>
              <a:cs typeface="微软雅黑" panose="020B0503020204020204" charset="-122"/>
            </a:endParaRPr>
          </a:p>
          <a:p>
            <a:endParaRPr sz="1125"/>
          </a:p>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2  Limited emotional connection</a:t>
            </a:r>
            <a:endParaRPr sz="1125" b="0">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    难以与景点建立情感联系</a:t>
            </a:r>
            <a:endParaRPr sz="1125" b="0">
              <a:solidFill>
                <a:srgbClr val="273532"/>
              </a:solidFill>
              <a:latin typeface="微软雅黑" panose="020B0503020204020204" charset="-122"/>
              <a:ea typeface="微软雅黑" panose="020B0503020204020204" charset="-122"/>
              <a:cs typeface="微软雅黑" panose="020B0503020204020204" charset="-122"/>
            </a:endParaRPr>
          </a:p>
          <a:p>
            <a:endParaRPr sz="1125"/>
          </a:p>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3  Time and cost do not </a:t>
            </a:r>
            <a:r>
              <a:rPr sz="1125" b="0">
                <a:solidFill>
                  <a:srgbClr val="273532"/>
                </a:solidFill>
                <a:latin typeface="微软雅黑" panose="020B0503020204020204" charset="-122"/>
                <a:ea typeface="微软雅黑" panose="020B0503020204020204" charset="-122"/>
                <a:cs typeface="微软雅黑" panose="020B0503020204020204" charset="-122"/>
              </a:rPr>
              <a:t>      </a:t>
            </a:r>
            <a:r>
              <a:rPr sz="1125" b="0">
                <a:solidFill>
                  <a:srgbClr val="273532"/>
                </a:solidFill>
                <a:latin typeface="微软雅黑" panose="020B0503020204020204" charset="-122"/>
                <a:ea typeface="微软雅黑" panose="020B0503020204020204" charset="-122"/>
                <a:cs typeface="微软雅黑" panose="020B0503020204020204" charset="-122"/>
              </a:rPr>
              <a:t>become meaningful cultural experiences</a:t>
            </a:r>
            <a:endParaRPr sz="1125" b="0">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    时间和旅行成本未转化为有意义的文化体验</a:t>
            </a:r>
            <a:endParaRPr sz="1125" b="0">
              <a:solidFill>
                <a:srgbClr val="273532"/>
              </a:solidFill>
              <a:latin typeface="微软雅黑" panose="020B0503020204020204" charset="-122"/>
              <a:ea typeface="微软雅黑" panose="020B0503020204020204" charset="-122"/>
              <a:cs typeface="微软雅黑" panose="020B0503020204020204" charset="-122"/>
            </a:endParaRPr>
          </a:p>
          <a:p>
            <a:endParaRPr sz="1125"/>
          </a:p>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4  Study tours may miss their learning goals</a:t>
            </a:r>
            <a:endParaRPr sz="1125" b="0">
              <a:solidFill>
                <a:srgbClr val="273532"/>
              </a:solidFill>
              <a:latin typeface="微软雅黑" panose="020B0503020204020204" charset="-122"/>
              <a:ea typeface="微软雅黑" panose="020B0503020204020204" charset="-122"/>
              <a:cs typeface="微软雅黑" panose="020B0503020204020204" charset="-122"/>
            </a:endParaRPr>
          </a:p>
          <a:p>
            <a:pPr algn="l">
              <a:buNone/>
              <a:defRPr sz="1125" b="0">
                <a:solidFill>
                  <a:srgbClr val="273532"/>
                </a:solidFill>
                <a:latin typeface="微软雅黑" panose="020B0503020204020204" charset="-122"/>
                <a:ea typeface="微软雅黑" panose="020B0503020204020204" charset="-122"/>
                <a:cs typeface="微软雅黑" panose="020B0503020204020204" charset="-122"/>
              </a:defRPr>
            </a:pPr>
            <a:r>
              <a:rPr sz="1125" b="0">
                <a:solidFill>
                  <a:srgbClr val="273532"/>
                </a:solidFill>
                <a:latin typeface="微软雅黑" panose="020B0503020204020204" charset="-122"/>
                <a:ea typeface="微软雅黑" panose="020B0503020204020204" charset="-122"/>
                <a:cs typeface="微软雅黑" panose="020B0503020204020204" charset="-122"/>
              </a:rPr>
              <a:t>    研学参观完成但未达到预期学习效果</a:t>
            </a:r>
            <a:endParaRPr sz="1125" b="0">
              <a:solidFill>
                <a:srgbClr val="273532"/>
              </a:solidFill>
              <a:latin typeface="微软雅黑" panose="020B0503020204020204" charset="-122"/>
              <a:ea typeface="微软雅黑" panose="020B0503020204020204" charset="-122"/>
              <a:cs typeface="微软雅黑" panose="020B0503020204020204" charset="-122"/>
            </a:endParaRPr>
          </a:p>
        </p:txBody>
      </p:sp>
      <p:cxnSp>
        <p:nvCxnSpPr>
          <p:cNvPr id="287" name="直接箭头连接符 46"/>
          <p:cNvCxnSpPr>
            <a:stCxn id="5" idx="3"/>
            <a:endCxn id="12" idx="1"/>
          </p:cNvCxnSpPr>
          <p:nvPr/>
        </p:nvCxnSpPr>
        <p:spPr>
          <a:xfrm>
            <a:off x="3381375" y="3848100"/>
            <a:ext cx="857250" cy="0"/>
          </a:xfrm>
          <a:prstGeom prst="straightConnector1">
            <a:avLst/>
          </a:prstGeom>
          <a:ln w="28575">
            <a:solidFill>
              <a:srgbClr val="AE4832"/>
            </a:solidFill>
            <a:prstDash val="solid"/>
            <a:tailEnd type="triangle" w="med" len="med"/>
          </a:ln>
        </p:spPr>
      </p:cxnSp>
      <p:sp>
        <p:nvSpPr>
          <p:cNvPr id="23" name="arrow1-label"/>
          <p:cNvSpPr>
            <a:spLocks noGrp="1"/>
          </p:cNvSpPr>
          <p:nvPr/>
        </p:nvSpPr>
        <p:spPr>
          <a:xfrm>
            <a:off x="3505200" y="3390900"/>
            <a:ext cx="638175" cy="457200"/>
          </a:xfrm>
          <a:prstGeom prst="rect">
            <a:avLst/>
          </a:prstGeom>
          <a:noFill/>
          <a:ln w="0">
            <a:noFill/>
          </a:ln>
        </p:spPr>
        <p:txBody>
          <a:bodyPr anchor="t">
            <a:noAutofit/>
          </a:bodyPr>
          <a:lstStyle/>
          <a:p>
            <a:pPr algn="ctr">
              <a:buNone/>
              <a:defRPr sz="975" b="1">
                <a:solidFill>
                  <a:srgbClr val="AE4832"/>
                </a:solidFill>
                <a:latin typeface="微软雅黑" panose="020B0503020204020204" charset="-122"/>
                <a:ea typeface="微软雅黑" panose="020B0503020204020204" charset="-122"/>
                <a:cs typeface="微软雅黑" panose="020B0503020204020204" charset="-122"/>
              </a:defRPr>
            </a:pPr>
            <a:r>
              <a:rPr sz="975" b="1">
                <a:solidFill>
                  <a:srgbClr val="AE4832"/>
                </a:solidFill>
                <a:latin typeface="微软雅黑" panose="020B0503020204020204" charset="-122"/>
                <a:ea typeface="微软雅黑" panose="020B0503020204020204" charset="-122"/>
                <a:cs typeface="微软雅黑" panose="020B0503020204020204" charset="-122"/>
              </a:rPr>
              <a:t>reveals</a:t>
            </a:r>
            <a:endParaRPr sz="975" b="1">
              <a:solidFill>
                <a:srgbClr val="AE4832"/>
              </a:solidFill>
              <a:latin typeface="微软雅黑" panose="020B0503020204020204" charset="-122"/>
              <a:ea typeface="微软雅黑" panose="020B0503020204020204" charset="-122"/>
              <a:cs typeface="微软雅黑" panose="020B0503020204020204" charset="-122"/>
            </a:endParaRPr>
          </a:p>
          <a:p>
            <a:pPr algn="ctr">
              <a:buNone/>
              <a:defRPr sz="975" b="1">
                <a:solidFill>
                  <a:srgbClr val="AE4832"/>
                </a:solidFill>
                <a:latin typeface="微软雅黑" panose="020B0503020204020204" charset="-122"/>
                <a:ea typeface="微软雅黑" panose="020B0503020204020204" charset="-122"/>
                <a:cs typeface="微软雅黑" panose="020B0503020204020204" charset="-122"/>
              </a:defRPr>
            </a:pPr>
            <a:r>
              <a:rPr sz="975" b="1">
                <a:solidFill>
                  <a:srgbClr val="AE4832"/>
                </a:solidFill>
                <a:latin typeface="微软雅黑" panose="020B0503020204020204" charset="-122"/>
                <a:ea typeface="微软雅黑" panose="020B0503020204020204" charset="-122"/>
                <a:cs typeface="微软雅黑" panose="020B0503020204020204" charset="-122"/>
              </a:rPr>
              <a:t>引出</a:t>
            </a:r>
            <a:endParaRPr sz="975" b="1">
              <a:solidFill>
                <a:srgbClr val="AE4832"/>
              </a:solidFill>
              <a:latin typeface="微软雅黑" panose="020B0503020204020204" charset="-122"/>
              <a:ea typeface="微软雅黑" panose="020B0503020204020204" charset="-122"/>
              <a:cs typeface="微软雅黑" panose="020B0503020204020204" charset="-122"/>
            </a:endParaRPr>
          </a:p>
        </p:txBody>
      </p:sp>
      <p:cxnSp>
        <p:nvCxnSpPr>
          <p:cNvPr id="289" name="直接箭头连接符 48"/>
          <p:cNvCxnSpPr>
            <a:stCxn id="12" idx="3"/>
            <a:endCxn id="19" idx="1"/>
          </p:cNvCxnSpPr>
          <p:nvPr/>
        </p:nvCxnSpPr>
        <p:spPr>
          <a:xfrm>
            <a:off x="8239125" y="3848100"/>
            <a:ext cx="857250" cy="0"/>
          </a:xfrm>
          <a:prstGeom prst="straightConnector1">
            <a:avLst/>
          </a:prstGeom>
          <a:ln w="28575">
            <a:solidFill>
              <a:srgbClr val="AE4832"/>
            </a:solidFill>
            <a:prstDash val="solid"/>
            <a:tailEnd type="triangle" w="med" len="med"/>
          </a:ln>
        </p:spPr>
      </p:cxnSp>
      <p:sp>
        <p:nvSpPr>
          <p:cNvPr id="25" name="arrow2-label"/>
          <p:cNvSpPr>
            <a:spLocks noGrp="1"/>
          </p:cNvSpPr>
          <p:nvPr/>
        </p:nvSpPr>
        <p:spPr>
          <a:xfrm>
            <a:off x="8334375" y="3429000"/>
            <a:ext cx="685800" cy="457200"/>
          </a:xfrm>
          <a:prstGeom prst="rect">
            <a:avLst/>
          </a:prstGeom>
          <a:noFill/>
          <a:ln w="0">
            <a:noFill/>
          </a:ln>
        </p:spPr>
        <p:txBody>
          <a:bodyPr anchor="t">
            <a:noAutofit/>
          </a:bodyPr>
          <a:lstStyle/>
          <a:p>
            <a:pPr algn="ctr">
              <a:buNone/>
              <a:defRPr sz="975" b="1">
                <a:solidFill>
                  <a:srgbClr val="AE4832"/>
                </a:solidFill>
                <a:latin typeface="微软雅黑" panose="020B0503020204020204" charset="-122"/>
                <a:ea typeface="微软雅黑" panose="020B0503020204020204" charset="-122"/>
                <a:cs typeface="微软雅黑" panose="020B0503020204020204" charset="-122"/>
              </a:defRPr>
            </a:pPr>
            <a:r>
              <a:rPr sz="975" b="1">
                <a:solidFill>
                  <a:srgbClr val="AE4832"/>
                </a:solidFill>
                <a:latin typeface="微软雅黑" panose="020B0503020204020204" charset="-122"/>
                <a:ea typeface="微软雅黑" panose="020B0503020204020204" charset="-122"/>
                <a:cs typeface="微软雅黑" panose="020B0503020204020204" charset="-122"/>
              </a:rPr>
              <a:t>leads to</a:t>
            </a:r>
            <a:endParaRPr sz="975" b="1">
              <a:solidFill>
                <a:srgbClr val="AE4832"/>
              </a:solidFill>
              <a:latin typeface="微软雅黑" panose="020B0503020204020204" charset="-122"/>
              <a:ea typeface="微软雅黑" panose="020B0503020204020204" charset="-122"/>
              <a:cs typeface="微软雅黑" panose="020B0503020204020204" charset="-122"/>
            </a:endParaRPr>
          </a:p>
          <a:p>
            <a:pPr algn="ctr">
              <a:buNone/>
              <a:defRPr sz="975" b="1">
                <a:solidFill>
                  <a:srgbClr val="AE4832"/>
                </a:solidFill>
                <a:latin typeface="微软雅黑" panose="020B0503020204020204" charset="-122"/>
                <a:ea typeface="微软雅黑" panose="020B0503020204020204" charset="-122"/>
                <a:cs typeface="微软雅黑" panose="020B0503020204020204" charset="-122"/>
              </a:defRPr>
            </a:pPr>
            <a:r>
              <a:rPr sz="975" b="1">
                <a:solidFill>
                  <a:srgbClr val="AE4832"/>
                </a:solidFill>
                <a:latin typeface="微软雅黑" panose="020B0503020204020204" charset="-122"/>
                <a:ea typeface="微软雅黑" panose="020B0503020204020204" charset="-122"/>
                <a:cs typeface="微软雅黑" panose="020B0503020204020204" charset="-122"/>
              </a:rPr>
              <a:t>导致</a:t>
            </a:r>
            <a:endParaRPr sz="975" b="1">
              <a:solidFill>
                <a:srgbClr val="AE483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sp>
        <p:nvSpPr>
          <p:cNvPr id="22" name="矩形 21"/>
          <p:cNvSpPr>
            <a:spLocks noGrp="1"/>
          </p:cNvSpPr>
          <p:nvPr/>
        </p:nvSpPr>
        <p:spPr>
          <a:xfrm>
            <a:off x="0" y="0"/>
            <a:ext cx="190500" cy="6858000"/>
          </a:xfrm>
          <a:prstGeom prst="rect">
            <a:avLst/>
          </a:prstGeom>
          <a:solidFill>
            <a:srgbClr val="B64630"/>
          </a:solidFill>
          <a:ln w="0">
            <a:noFill/>
          </a:ln>
        </p:spPr>
      </p:sp>
      <p:sp>
        <p:nvSpPr>
          <p:cNvPr id="2" name="矩形 1"/>
          <p:cNvSpPr>
            <a:spLocks noGrp="1"/>
          </p:cNvSpPr>
          <p:nvPr/>
        </p:nvSpPr>
        <p:spPr>
          <a:xfrm>
            <a:off x="11353800" y="495300"/>
            <a:ext cx="342900" cy="213360"/>
          </a:xfrm>
          <a:prstGeom prst="rect">
            <a:avLst/>
          </a:prstGeom>
          <a:noFill/>
          <a:ln w="0">
            <a:noFill/>
          </a:ln>
        </p:spPr>
        <p:txBody>
          <a:bodyPr anchor="t">
            <a:normAutofit fontScale="62745"/>
          </a:bodyPr>
          <a:lstStyle/>
          <a:p>
            <a:pPr algn="r">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r>
              <a:rPr sz="1275" b="1" i="0">
                <a:solidFill>
                  <a:srgbClr val="B64630"/>
                </a:solidFill>
                <a:latin typeface="微软雅黑" panose="020B0503020204020204" charset="-122"/>
                <a:ea typeface="微软雅黑" panose="020B0503020204020204" charset="-122"/>
                <a:cs typeface="微软雅黑" panose="020B0503020204020204" charset="-122"/>
              </a:rPr>
              <a:t>05</a:t>
            </a: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85800" y="594360"/>
            <a:ext cx="10439400" cy="487680"/>
          </a:xfrm>
          <a:prstGeom prst="rect">
            <a:avLst/>
          </a:prstGeom>
          <a:noFill/>
          <a:ln w="0">
            <a:noFill/>
          </a:ln>
        </p:spPr>
        <p:txBody>
          <a:bodyPr anchor="t">
            <a:normAutofit fontScale="90000" lnSpcReduction="10000"/>
          </a:bodyPr>
          <a:lstStyle/>
          <a:p>
            <a:pPr algn="l">
              <a:lnSpc>
                <a:spcPct val="100000"/>
              </a:lnSpc>
              <a:buNone/>
              <a:defRPr sz="1425" b="0" i="0">
                <a:solidFill>
                  <a:srgbClr val="655F56"/>
                </a:solidFill>
                <a:latin typeface="微软雅黑" panose="020B0503020204020204" charset="-122"/>
                <a:ea typeface="微软雅黑" panose="020B0503020204020204" charset="-122"/>
                <a:cs typeface="微软雅黑" panose="020B0503020204020204" charset="-122"/>
              </a:defRPr>
            </a:pPr>
            <a:r>
              <a:rPr sz="1425" b="0" i="0">
                <a:solidFill>
                  <a:srgbClr val="655F56"/>
                </a:solidFill>
                <a:latin typeface="微软雅黑" panose="020B0503020204020204" charset="-122"/>
                <a:ea typeface="微软雅黑" panose="020B0503020204020204" charset="-122"/>
                <a:cs typeface="微软雅黑" panose="020B0503020204020204" charset="-122"/>
              </a:rPr>
              <a:t>The collision of tradition and fashion: How anthropomorphizing museum exhibits influences cultural inheritance</a:t>
            </a:r>
            <a:endParaRPr sz="1425"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425" b="0" i="0">
                <a:solidFill>
                  <a:srgbClr val="655F56"/>
                </a:solidFill>
                <a:latin typeface="微软雅黑" panose="020B0503020204020204" charset="-122"/>
                <a:ea typeface="微软雅黑" panose="020B0503020204020204" charset="-122"/>
                <a:cs typeface="微软雅黑" panose="020B0503020204020204" charset="-122"/>
              </a:defRPr>
            </a:pPr>
            <a:r>
              <a:rPr sz="1425" b="0" i="0">
                <a:solidFill>
                  <a:srgbClr val="655F56"/>
                </a:solidFill>
                <a:latin typeface="微软雅黑" panose="020B0503020204020204" charset="-122"/>
                <a:ea typeface="微软雅黑" panose="020B0503020204020204" charset="-122"/>
                <a:cs typeface="微软雅黑" panose="020B0503020204020204" charset="-122"/>
              </a:rPr>
              <a:t>传统与时尚的碰撞：拟人化博物馆展品如何影响文化遗产传承</a:t>
            </a:r>
            <a:endParaRPr sz="142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55320" y="1196340"/>
            <a:ext cx="731520" cy="53340"/>
          </a:xfrm>
          <a:prstGeom prst="rect">
            <a:avLst/>
          </a:prstGeom>
          <a:solidFill>
            <a:srgbClr val="B64630"/>
          </a:solidFill>
          <a:ln w="0">
            <a:noFill/>
          </a:ln>
        </p:spPr>
      </p:sp>
      <p:sp>
        <p:nvSpPr>
          <p:cNvPr id="6" name="圆角矩形 5"/>
          <p:cNvSpPr>
            <a:spLocks noGrp="1"/>
          </p:cNvSpPr>
          <p:nvPr/>
        </p:nvSpPr>
        <p:spPr>
          <a:xfrm>
            <a:off x="655320" y="1661160"/>
            <a:ext cx="5067300" cy="3810000"/>
          </a:xfrm>
          <a:prstGeom prst="roundRect">
            <a:avLst>
              <a:gd name="adj" fmla="val 2000"/>
            </a:avLst>
          </a:prstGeom>
          <a:solidFill>
            <a:srgbClr val="FFF9EE"/>
          </a:solidFill>
          <a:ln w="11430">
            <a:solidFill>
              <a:srgbClr val="D8BE96"/>
            </a:solidFill>
          </a:ln>
        </p:spPr>
      </p:sp>
      <p:sp>
        <p:nvSpPr>
          <p:cNvPr id="7" name="矩形 6"/>
          <p:cNvSpPr>
            <a:spLocks noGrp="1"/>
          </p:cNvSpPr>
          <p:nvPr/>
        </p:nvSpPr>
        <p:spPr>
          <a:xfrm>
            <a:off x="914400" y="1874520"/>
            <a:ext cx="4343400" cy="259080"/>
          </a:xfrm>
          <a:prstGeom prst="rect">
            <a:avLst/>
          </a:prstGeom>
          <a:noFill/>
          <a:ln w="0">
            <a:noFill/>
          </a:ln>
        </p:spPr>
        <p:txBody>
          <a:bodyPr anchor="t">
            <a:normAutofit fontScale="73333"/>
          </a:bodyPr>
          <a:lstStyle/>
          <a:p>
            <a:pPr algn="l">
              <a:lnSpc>
                <a:spcPct val="100000"/>
              </a:lnSpc>
              <a:buNone/>
              <a:defRPr sz="1500" b="1" i="0">
                <a:solidFill>
                  <a:srgbClr val="B64630"/>
                </a:solidFill>
                <a:latin typeface="微软雅黑" panose="020B0503020204020204" charset="-122"/>
                <a:ea typeface="微软雅黑" panose="020B0503020204020204" charset="-122"/>
                <a:cs typeface="微软雅黑" panose="020B0503020204020204" charset="-122"/>
              </a:defRPr>
            </a:pPr>
            <a:r>
              <a:rPr sz="1500" b="1" i="0">
                <a:solidFill>
                  <a:srgbClr val="B64630"/>
                </a:solidFill>
                <a:latin typeface="微软雅黑" panose="020B0503020204020204" charset="-122"/>
                <a:ea typeface="微软雅黑" panose="020B0503020204020204" charset="-122"/>
                <a:cs typeface="微软雅黑" panose="020B0503020204020204" charset="-122"/>
              </a:rPr>
              <a:t>ORIGINAL TEXT  文献原文</a:t>
            </a:r>
            <a:endParaRPr sz="1500"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14400" y="2270760"/>
            <a:ext cx="4457700" cy="2743200"/>
          </a:xfrm>
          <a:prstGeom prst="rect">
            <a:avLst/>
          </a:prstGeom>
          <a:noFill/>
          <a:ln w="0">
            <a:noFill/>
          </a:ln>
        </p:spPr>
        <p:txBody>
          <a:bodyPr anchor="t">
            <a:normAutofit fontScale="86286"/>
          </a:bodyPr>
          <a:lstStyle/>
          <a:p>
            <a:pPr algn="l">
              <a:lnSpc>
                <a:spcPct val="105000"/>
              </a:lnSpc>
              <a:buNone/>
              <a:defRPr sz="1350" b="0" i="0">
                <a:solidFill>
                  <a:srgbClr val="655F56"/>
                </a:solidFill>
                <a:highlight>
                  <a:srgbClr val="FFF9EE"/>
                </a:highlight>
                <a:latin typeface="微软雅黑" panose="020B0503020204020204" charset="-122"/>
                <a:ea typeface="微软雅黑" panose="020B0503020204020204" charset="-122"/>
                <a:cs typeface="微软雅黑" panose="020B0503020204020204" charset="-122"/>
              </a:defRPr>
            </a:pPr>
            <a:r>
              <a:rPr sz="1350" b="0" i="0">
                <a:solidFill>
                  <a:srgbClr val="655F56"/>
                </a:solidFill>
                <a:highlight>
                  <a:srgbClr val="FFF9EE"/>
                </a:highlight>
                <a:latin typeface="微软雅黑" panose="020B0503020204020204" charset="-122"/>
                <a:ea typeface="微软雅黑" panose="020B0503020204020204" charset="-122"/>
                <a:cs typeface="微软雅黑" panose="020B0503020204020204" charset="-122"/>
              </a:rPr>
              <a:t>However, </a:t>
            </a:r>
            <a:r>
              <a:rPr sz="135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traditional didactic curations and elitist stereotypes </a:t>
            </a:r>
            <a:r>
              <a:rPr sz="1350" b="0" i="0">
                <a:solidFill>
                  <a:srgbClr val="655F56"/>
                </a:solidFill>
                <a:highlight>
                  <a:srgbClr val="FFF9EE"/>
                </a:highlight>
                <a:latin typeface="微软雅黑" panose="020B0503020204020204" charset="-122"/>
                <a:ea typeface="微软雅黑" panose="020B0503020204020204" charset="-122"/>
                <a:cs typeface="微软雅黑" panose="020B0503020204020204" charset="-122"/>
              </a:rPr>
              <a:t>have made museums</a:t>
            </a:r>
            <a:r>
              <a:rPr sz="135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 dull and unapproachable for many visitors</a:t>
            </a:r>
            <a:r>
              <a:rPr sz="1350" b="0" i="0">
                <a:solidFill>
                  <a:srgbClr val="655F56"/>
                </a:solidFill>
                <a:highlight>
                  <a:srgbClr val="FFF9EE"/>
                </a:highlight>
                <a:latin typeface="微软雅黑" panose="020B0503020204020204" charset="-122"/>
                <a:ea typeface="微软雅黑" panose="020B0503020204020204" charset="-122"/>
                <a:cs typeface="微软雅黑" panose="020B0503020204020204" charset="-122"/>
              </a:rPr>
              <a:t>, hindering their ability to fulfill public education and cultural inheritance functions (González-Herrera, Díaz-Herrera, Hernández-Dionis, &amp; Pérez-Jorge, 2023; Mason &amp; McCarthy, 2006). Therefore, it is crucial and urgent to effectively addressing these challenges.</a:t>
            </a:r>
            <a:endParaRPr sz="1350" b="0" i="0">
              <a:solidFill>
                <a:srgbClr val="655F56"/>
              </a:solidFill>
              <a:latin typeface="微软雅黑" panose="020B0503020204020204" charset="-122"/>
              <a:ea typeface="微软雅黑" panose="020B0503020204020204" charset="-122"/>
              <a:cs typeface="微软雅黑" panose="020B0503020204020204" charset="-122"/>
            </a:endParaRPr>
          </a:p>
          <a:p>
            <a:endParaRPr sz="1350"/>
          </a:p>
          <a:p>
            <a:pPr algn="l">
              <a:lnSpc>
                <a:spcPct val="105000"/>
              </a:lnSpc>
              <a:buNone/>
              <a:defRPr sz="1350" b="0" i="0">
                <a:solidFill>
                  <a:srgbClr val="655F56"/>
                </a:solidFill>
                <a:highlight>
                  <a:srgbClr val="FFF9EE"/>
                </a:highlight>
                <a:latin typeface="微软雅黑" panose="020B0503020204020204" charset="-122"/>
                <a:ea typeface="微软雅黑" panose="020B0503020204020204" charset="-122"/>
                <a:cs typeface="微软雅黑" panose="020B0503020204020204" charset="-122"/>
              </a:defRPr>
            </a:pPr>
            <a:r>
              <a:rPr sz="1350" b="0" i="0">
                <a:solidFill>
                  <a:srgbClr val="655F56"/>
                </a:solidFill>
                <a:highlight>
                  <a:srgbClr val="FFF9EE"/>
                </a:highlight>
                <a:latin typeface="微软雅黑" panose="020B0503020204020204" charset="-122"/>
                <a:ea typeface="微软雅黑" panose="020B0503020204020204" charset="-122"/>
                <a:cs typeface="微软雅黑" panose="020B0503020204020204" charset="-122"/>
              </a:rPr>
              <a:t>然而，传统的教育性策展方式以及精英主义思维，使得博物馆对许多游客来说变得枯燥且难以接近，从而影响了博物馆在公共教育和文化传承方面的作用（González-Herrera, Díaz-Herrera, Hernández-Dionis, &amp; Pérez-Jorge, 2023; Mason &amp; McCarthy, 2006）。因此，切实解决这些挑战至关重要且迫在眉睫。</a:t>
            </a:r>
            <a:endParaRPr sz="135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0" name="右箭头 9"/>
          <p:cNvSpPr>
            <a:spLocks noGrp="1"/>
          </p:cNvSpPr>
          <p:nvPr/>
        </p:nvSpPr>
        <p:spPr>
          <a:xfrm>
            <a:off x="5867400" y="3124200"/>
            <a:ext cx="762000" cy="533400"/>
          </a:xfrm>
          <a:prstGeom prst="rightArrow">
            <a:avLst/>
          </a:prstGeom>
          <a:solidFill>
            <a:srgbClr val="B64630"/>
          </a:solidFill>
          <a:ln w="0">
            <a:noFill/>
          </a:ln>
        </p:spPr>
      </p:sp>
      <p:sp>
        <p:nvSpPr>
          <p:cNvPr id="11" name="矩形 10"/>
          <p:cNvSpPr>
            <a:spLocks noGrp="1"/>
          </p:cNvSpPr>
          <p:nvPr/>
        </p:nvSpPr>
        <p:spPr>
          <a:xfrm>
            <a:off x="5905500" y="3741420"/>
            <a:ext cx="685800" cy="365760"/>
          </a:xfrm>
          <a:prstGeom prst="rect">
            <a:avLst/>
          </a:prstGeom>
          <a:noFill/>
          <a:ln w="0">
            <a:noFill/>
          </a:ln>
        </p:spPr>
        <p:txBody>
          <a:bodyPr anchor="t">
            <a:normAutofit fontScale="65043"/>
          </a:bodyPr>
          <a:lstStyle/>
          <a:p>
            <a:pPr algn="ctr">
              <a:lnSpc>
                <a:spcPct val="100000"/>
              </a:lnSpc>
              <a:buNone/>
              <a:defRPr sz="1125" b="1" i="0">
                <a:solidFill>
                  <a:srgbClr val="B64630"/>
                </a:solidFill>
                <a:latin typeface="微软雅黑" panose="020B0503020204020204" charset="-122"/>
                <a:ea typeface="微软雅黑" panose="020B0503020204020204" charset="-122"/>
                <a:cs typeface="微软雅黑" panose="020B0503020204020204" charset="-122"/>
              </a:defRPr>
            </a:pPr>
            <a:r>
              <a:rPr sz="1125" b="1" i="0">
                <a:solidFill>
                  <a:srgbClr val="B64630"/>
                </a:solidFill>
                <a:latin typeface="微软雅黑" panose="020B0503020204020204" charset="-122"/>
                <a:ea typeface="微软雅黑" panose="020B0503020204020204" charset="-122"/>
                <a:cs typeface="微软雅黑" panose="020B0503020204020204" charset="-122"/>
              </a:rPr>
              <a:t>SUPPORTS</a:t>
            </a:r>
            <a:endParaRPr sz="1125" b="1" i="0">
              <a:solidFill>
                <a:srgbClr val="B64630"/>
              </a:solidFill>
              <a:latin typeface="微软雅黑" panose="020B0503020204020204" charset="-122"/>
              <a:ea typeface="微软雅黑" panose="020B0503020204020204" charset="-122"/>
              <a:cs typeface="微软雅黑" panose="020B0503020204020204" charset="-122"/>
            </a:endParaRPr>
          </a:p>
          <a:p>
            <a:pPr algn="ctr">
              <a:lnSpc>
                <a:spcPct val="100000"/>
              </a:lnSpc>
              <a:buNone/>
              <a:defRPr sz="1125" b="1" i="0">
                <a:solidFill>
                  <a:srgbClr val="B64630"/>
                </a:solidFill>
                <a:latin typeface="微软雅黑" panose="020B0503020204020204" charset="-122"/>
                <a:ea typeface="微软雅黑" panose="020B0503020204020204" charset="-122"/>
                <a:cs typeface="微软雅黑" panose="020B0503020204020204" charset="-122"/>
              </a:defRPr>
            </a:pPr>
            <a:r>
              <a:rPr sz="1125" b="1" i="0">
                <a:solidFill>
                  <a:srgbClr val="B64630"/>
                </a:solidFill>
                <a:latin typeface="微软雅黑" panose="020B0503020204020204" charset="-122"/>
                <a:ea typeface="微软雅黑" panose="020B0503020204020204" charset="-122"/>
                <a:cs typeface="微软雅黑" panose="020B0503020204020204" charset="-122"/>
              </a:rPr>
              <a:t>支持</a:t>
            </a:r>
            <a:endParaRPr sz="112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812280" y="1661160"/>
            <a:ext cx="4724400" cy="3810000"/>
          </a:xfrm>
          <a:prstGeom prst="roundRect">
            <a:avLst>
              <a:gd name="adj" fmla="val 2000"/>
            </a:avLst>
          </a:prstGeom>
          <a:solidFill>
            <a:srgbClr val="EBD6BD"/>
          </a:solidFill>
          <a:ln w="11430">
            <a:solidFill>
              <a:srgbClr val="D8BE96"/>
            </a:solidFill>
          </a:ln>
        </p:spPr>
      </p:sp>
      <p:sp>
        <p:nvSpPr>
          <p:cNvPr id="13" name="矩形 12"/>
          <p:cNvSpPr>
            <a:spLocks noGrp="1"/>
          </p:cNvSpPr>
          <p:nvPr/>
        </p:nvSpPr>
        <p:spPr>
          <a:xfrm>
            <a:off x="7124700" y="1874520"/>
            <a:ext cx="3962400" cy="259080"/>
          </a:xfrm>
          <a:prstGeom prst="rect">
            <a:avLst/>
          </a:prstGeom>
          <a:noFill/>
          <a:ln w="0">
            <a:noFill/>
          </a:ln>
        </p:spPr>
        <p:txBody>
          <a:bodyPr anchor="t">
            <a:normAutofit fontScale="73333"/>
          </a:bodyPr>
          <a:lstStyle/>
          <a:p>
            <a:pPr algn="l">
              <a:lnSpc>
                <a:spcPct val="100000"/>
              </a:lnSpc>
              <a:buNone/>
              <a:defRPr sz="1500" b="1" i="0">
                <a:solidFill>
                  <a:srgbClr val="B64630"/>
                </a:solidFill>
                <a:latin typeface="微软雅黑" panose="020B0503020204020204" charset="-122"/>
                <a:ea typeface="微软雅黑" panose="020B0503020204020204" charset="-122"/>
                <a:cs typeface="微软雅黑" panose="020B0503020204020204" charset="-122"/>
              </a:defRPr>
            </a:pPr>
            <a:r>
              <a:rPr sz="1500" b="1" i="0">
                <a:solidFill>
                  <a:srgbClr val="B64630"/>
                </a:solidFill>
                <a:latin typeface="微软雅黑" panose="020B0503020204020204" charset="-122"/>
                <a:ea typeface="微软雅黑" panose="020B0503020204020204" charset="-122"/>
                <a:cs typeface="微软雅黑" panose="020B0503020204020204" charset="-122"/>
              </a:rPr>
              <a:t>LITERATURE SUMMARY  文献总结</a:t>
            </a:r>
            <a:endParaRPr sz="1500"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7124700" y="2457450"/>
            <a:ext cx="3810000" cy="15240"/>
          </a:xfrm>
          <a:prstGeom prst="rect">
            <a:avLst/>
          </a:prstGeom>
          <a:solidFill>
            <a:srgbClr val="D8BE96"/>
          </a:solidFill>
          <a:ln w="0">
            <a:noFill/>
          </a:ln>
        </p:spPr>
      </p:sp>
      <p:sp>
        <p:nvSpPr>
          <p:cNvPr id="16" name="矩形 15"/>
          <p:cNvSpPr>
            <a:spLocks noGrp="1"/>
          </p:cNvSpPr>
          <p:nvPr/>
        </p:nvSpPr>
        <p:spPr>
          <a:xfrm>
            <a:off x="7124700" y="2686050"/>
            <a:ext cx="3848100" cy="876300"/>
          </a:xfrm>
          <a:prstGeom prst="rect">
            <a:avLst/>
          </a:prstGeom>
          <a:noFill/>
          <a:ln w="0">
            <a:noFill/>
          </a:ln>
        </p:spPr>
        <p:txBody>
          <a:bodyPr anchor="t">
            <a:normAutofit/>
          </a:bodyPr>
          <a:lstStyle/>
          <a:p>
            <a:pPr algn="l">
              <a:lnSpc>
                <a:spcPct val="100000"/>
              </a:lnSpc>
              <a:buNone/>
              <a:defRPr sz="1425" b="0"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单一、刻板且陈旧的文化传播方式，会大大降低年轻群体对传统文化和古代历史的探索欲与求知欲，使观光旅途变得更加被动。</a:t>
            </a:r>
            <a:endParaRPr sz="1725"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7124700" y="3714750"/>
            <a:ext cx="3848100" cy="1381125"/>
          </a:xfrm>
          <a:prstGeom prst="rect">
            <a:avLst/>
          </a:prstGeom>
          <a:noFill/>
          <a:ln w="0">
            <a:noFill/>
          </a:ln>
        </p:spPr>
        <p:txBody>
          <a:bodyPr anchor="t">
            <a:normAutofit fontScale="98977"/>
          </a:bodyPr>
          <a:lstStyle/>
          <a:p>
            <a:pPr algn="l">
              <a:lnSpc>
                <a:spcPct val="100000"/>
              </a:lnSpc>
              <a:buNone/>
              <a:defRPr sz="1425" b="0" i="0">
                <a:solidFill>
                  <a:srgbClr val="655F56"/>
                </a:solidFill>
                <a:latin typeface="微软雅黑" panose="020B0503020204020204" charset="-122"/>
                <a:ea typeface="微软雅黑" panose="020B0503020204020204" charset="-122"/>
                <a:cs typeface="微软雅黑" panose="020B0503020204020204" charset="-122"/>
              </a:defRPr>
            </a:pPr>
            <a:r>
              <a:rPr sz="1425" b="0" i="0">
                <a:solidFill>
                  <a:srgbClr val="655F56"/>
                </a:solidFill>
                <a:latin typeface="微软雅黑" panose="020B0503020204020204" charset="-122"/>
                <a:ea typeface="微软雅黑" panose="020B0503020204020204" charset="-122"/>
                <a:cs typeface="微软雅黑" panose="020B0503020204020204" charset="-122"/>
              </a:rPr>
              <a:t>Monotonous, rigid, and outdated approaches to cultural communication can greatly reduce young people's curiosity and desire to explore traditional culture and ancient history, making sightseeing a more passive experience.</a:t>
            </a:r>
            <a:endParaRPr sz="135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7124700" y="5090160"/>
            <a:ext cx="3848100" cy="228600"/>
          </a:xfrm>
          <a:prstGeom prst="rect">
            <a:avLst/>
          </a:prstGeom>
          <a:noFill/>
          <a:ln w="0">
            <a:noFill/>
          </a:ln>
        </p:spPr>
        <p:txBody>
          <a:bodyPr anchor="t">
            <a:normAutofit/>
          </a:bodyPr>
          <a:lstStyle/>
          <a:p>
            <a:pPr algn="l">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55320" y="5684520"/>
            <a:ext cx="10881360" cy="15240"/>
          </a:xfrm>
          <a:prstGeom prst="rect">
            <a:avLst/>
          </a:prstGeom>
          <a:solidFill>
            <a:srgbClr val="D8BE96"/>
          </a:solidFill>
          <a:ln w="0">
            <a:noFill/>
          </a:ln>
        </p:spPr>
      </p:sp>
      <p:sp>
        <p:nvSpPr>
          <p:cNvPr id="20" name="矩形 19"/>
          <p:cNvSpPr>
            <a:spLocks noGrp="1"/>
          </p:cNvSpPr>
          <p:nvPr/>
        </p:nvSpPr>
        <p:spPr>
          <a:xfrm>
            <a:off x="685800" y="5867400"/>
            <a:ext cx="10782300" cy="411480"/>
          </a:xfrm>
          <a:prstGeom prst="rect">
            <a:avLst/>
          </a:prstGeom>
          <a:noFill/>
          <a:ln w="0">
            <a:noFill/>
          </a:ln>
        </p:spPr>
        <p:txBody>
          <a:bodyPr anchor="t">
            <a:normAutofit/>
          </a:bodyPr>
          <a:lstStyle/>
          <a:p>
            <a:pPr algn="l">
              <a:lnSpc>
                <a:spcPct val="10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r>
              <a:rPr sz="1050" b="0" i="0">
                <a:solidFill>
                  <a:srgbClr val="655F56"/>
                </a:solidFill>
                <a:latin typeface="微软雅黑" panose="020B0503020204020204" charset="-122"/>
                <a:ea typeface="微软雅黑" panose="020B0503020204020204" charset="-122"/>
                <a:cs typeface="微软雅黑" panose="020B0503020204020204" charset="-122"/>
              </a:rPr>
              <a:t>Cai, S., Lin, D., &amp; Xiao, H. (2025). The collision of tradition and fashion: How anthropomorphizing museum exhibits influences cultural inheritance. Tourism Management, 109, 105133. https://doi.org/10.1016/j.tourman.2025.105133</a:t>
            </a:r>
            <a:endParaRPr sz="1050" b="0" i="0">
              <a:solidFill>
                <a:srgbClr val="655F5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sp>
        <p:nvSpPr>
          <p:cNvPr id="29" name="矩形 28"/>
          <p:cNvSpPr>
            <a:spLocks noGrp="1"/>
          </p:cNvSpPr>
          <p:nvPr/>
        </p:nvSpPr>
        <p:spPr>
          <a:xfrm>
            <a:off x="0" y="0"/>
            <a:ext cx="190500" cy="6858000"/>
          </a:xfrm>
          <a:prstGeom prst="rect">
            <a:avLst/>
          </a:prstGeom>
          <a:solidFill>
            <a:srgbClr val="B64630"/>
          </a:solidFill>
          <a:ln w="0">
            <a:noFill/>
          </a:ln>
        </p:spPr>
      </p:sp>
      <p:sp>
        <p:nvSpPr>
          <p:cNvPr id="2" name="矩形 1"/>
          <p:cNvSpPr>
            <a:spLocks noGrp="1"/>
          </p:cNvSpPr>
          <p:nvPr/>
        </p:nvSpPr>
        <p:spPr>
          <a:xfrm>
            <a:off x="11144250" y="514350"/>
            <a:ext cx="381000" cy="190500"/>
          </a:xfrm>
          <a:prstGeom prst="rect">
            <a:avLst/>
          </a:prstGeom>
          <a:noFill/>
          <a:ln w="0">
            <a:noFill/>
          </a:ln>
        </p:spPr>
        <p:txBody>
          <a:bodyPr anchor="t">
            <a:normAutofit fontScale="66667"/>
          </a:bodyPr>
          <a:lstStyle/>
          <a:p>
            <a:pPr algn="r">
              <a:lnSpc>
                <a:spcPct val="100000"/>
              </a:lnSpc>
              <a:buNone/>
              <a:defRPr sz="975" b="1" i="0">
                <a:solidFill>
                  <a:srgbClr val="B64630"/>
                </a:solidFill>
                <a:latin typeface="微软雅黑" panose="020B0503020204020204" charset="-122"/>
                <a:ea typeface="微软雅黑" panose="020B0503020204020204" charset="-122"/>
                <a:cs typeface="微软雅黑" panose="020B0503020204020204" charset="-122"/>
              </a:defRPr>
            </a:pPr>
            <a:r>
              <a:rPr sz="975" b="1" i="0">
                <a:solidFill>
                  <a:srgbClr val="B64630"/>
                </a:solidFill>
                <a:latin typeface="微软雅黑" panose="020B0503020204020204" charset="-122"/>
                <a:ea typeface="微软雅黑" panose="020B0503020204020204" charset="-122"/>
                <a:cs typeface="微软雅黑" panose="020B0503020204020204" charset="-122"/>
              </a:rPr>
              <a:t>06</a:t>
            </a:r>
            <a:endParaRPr sz="9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95325" y="469265"/>
            <a:ext cx="10191750" cy="559435"/>
          </a:xfrm>
          <a:prstGeom prst="rect">
            <a:avLst/>
          </a:prstGeom>
          <a:noFill/>
          <a:ln w="0">
            <a:noFill/>
          </a:ln>
        </p:spPr>
        <p:txBody>
          <a:bodyPr anchor="t">
            <a:normAutofit/>
          </a:bodyPr>
          <a:lstStyle/>
          <a:p>
            <a:pPr algn="l">
              <a:lnSpc>
                <a:spcPct val="100000"/>
              </a:lnSpc>
              <a:buClrTx/>
              <a:buSzTx/>
              <a:buNone/>
              <a:defRPr sz="1425" b="0" i="0">
                <a:solidFill>
                  <a:srgbClr val="655F56"/>
                </a:solidFill>
                <a:latin typeface="微软雅黑" panose="020B0503020204020204" charset="-122"/>
                <a:ea typeface="微软雅黑" panose="020B0503020204020204" charset="-122"/>
                <a:cs typeface="微软雅黑" panose="020B0503020204020204" charset="-122"/>
              </a:defRPr>
            </a:pPr>
            <a:r>
              <a:rPr sz="1300" i="0">
                <a:latin typeface="微软雅黑" panose="020B0503020204020204" charset="-122"/>
                <a:ea typeface="微软雅黑" panose="020B0503020204020204" charset="-122"/>
                <a:cs typeface="微软雅黑" panose="020B0503020204020204" charset="-122"/>
              </a:rPr>
              <a:t>Commodification of photogenic sites and rise of “selfie parks” as tourist enclaves</a:t>
            </a:r>
            <a:endParaRPr sz="1300" i="0">
              <a:latin typeface="微软雅黑" panose="020B0503020204020204" charset="-122"/>
              <a:ea typeface="微软雅黑" panose="020B0503020204020204" charset="-122"/>
              <a:cs typeface="微软雅黑" panose="020B0503020204020204" charset="-122"/>
            </a:endParaRPr>
          </a:p>
          <a:p>
            <a:pPr algn="l">
              <a:lnSpc>
                <a:spcPct val="100000"/>
              </a:lnSpc>
              <a:buClrTx/>
              <a:buSzTx/>
              <a:buNone/>
              <a:defRPr sz="1425" b="0" i="0">
                <a:solidFill>
                  <a:srgbClr val="655F56"/>
                </a:solidFill>
                <a:latin typeface="微软雅黑" panose="020B0503020204020204" charset="-122"/>
                <a:ea typeface="微软雅黑" panose="020B0503020204020204" charset="-122"/>
                <a:cs typeface="微软雅黑" panose="020B0503020204020204" charset="-122"/>
              </a:defRPr>
            </a:pPr>
            <a:r>
              <a:rPr sz="1300" i="0">
                <a:latin typeface="微软雅黑" panose="020B0503020204020204" charset="-122"/>
                <a:ea typeface="微软雅黑" panose="020B0503020204020204" charset="-122"/>
                <a:cs typeface="微软雅黑" panose="020B0503020204020204" charset="-122"/>
              </a:rPr>
              <a:t>具有拍摄价值的景点的商业化发展，以及“自拍公园”作为旅游聚集地的出现</a:t>
            </a:r>
            <a:endParaRPr sz="1300" i="0">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57225" y="1190625"/>
            <a:ext cx="733425" cy="57150"/>
          </a:xfrm>
          <a:prstGeom prst="rect">
            <a:avLst/>
          </a:prstGeom>
          <a:solidFill>
            <a:srgbClr val="B64630"/>
          </a:solidFill>
          <a:ln w="0">
            <a:noFill/>
          </a:ln>
        </p:spPr>
      </p:sp>
      <p:sp>
        <p:nvSpPr>
          <p:cNvPr id="6" name="矩形 5"/>
          <p:cNvSpPr>
            <a:spLocks noGrp="1"/>
          </p:cNvSpPr>
          <p:nvPr/>
        </p:nvSpPr>
        <p:spPr>
          <a:xfrm>
            <a:off x="666750" y="1504950"/>
            <a:ext cx="4476750" cy="228600"/>
          </a:xfrm>
          <a:prstGeom prst="rect">
            <a:avLst/>
          </a:prstGeom>
          <a:noFill/>
          <a:ln w="0">
            <a:noFill/>
          </a:ln>
        </p:spPr>
        <p:txBody>
          <a:bodyPr anchor="t">
            <a:normAutofit fontScale="60588"/>
          </a:bodyPr>
          <a:lstStyle/>
          <a:p>
            <a:pPr algn="l">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r>
              <a:t>ORIGINAL TEXT  文献原文</a:t>
            </a: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000875" y="1504950"/>
            <a:ext cx="4476750" cy="228600"/>
          </a:xfrm>
          <a:prstGeom prst="rect">
            <a:avLst/>
          </a:prstGeom>
          <a:noFill/>
          <a:ln w="0">
            <a:noFill/>
          </a:ln>
        </p:spPr>
        <p:txBody>
          <a:bodyPr anchor="t">
            <a:normAutofit fontScale="70588"/>
          </a:bodyPr>
          <a:lstStyle/>
          <a:p>
            <a:pPr algn="l">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r>
              <a:rPr sz="1275" b="1" i="0">
                <a:solidFill>
                  <a:srgbClr val="B64630"/>
                </a:solidFill>
                <a:latin typeface="微软雅黑" panose="020B0503020204020204" charset="-122"/>
                <a:ea typeface="微软雅黑" panose="020B0503020204020204" charset="-122"/>
                <a:cs typeface="微软雅黑" panose="020B0503020204020204" charset="-122"/>
              </a:rPr>
              <a:t>LITERATURE SUMMARY  文献总结</a:t>
            </a: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47700" y="1847850"/>
            <a:ext cx="4762500" cy="1162050"/>
          </a:xfrm>
          <a:prstGeom prst="roundRect">
            <a:avLst>
              <a:gd name="adj" fmla="val 6557"/>
            </a:avLst>
          </a:prstGeom>
          <a:solidFill>
            <a:srgbClr val="FFF9EE"/>
          </a:solidFill>
          <a:ln w="11430">
            <a:solidFill>
              <a:srgbClr val="D8BE96"/>
            </a:solidFill>
          </a:ln>
        </p:spPr>
        <p:txBody>
          <a:bodyPr/>
          <a:lstStyle/>
          <a:p/>
        </p:txBody>
      </p:sp>
      <p:sp>
        <p:nvSpPr>
          <p:cNvPr id="9" name="圆角矩形 8"/>
          <p:cNvSpPr>
            <a:spLocks noGrp="1"/>
          </p:cNvSpPr>
          <p:nvPr/>
        </p:nvSpPr>
        <p:spPr>
          <a:xfrm>
            <a:off x="6800850" y="1847850"/>
            <a:ext cx="4762500" cy="788035"/>
          </a:xfrm>
          <a:prstGeom prst="roundRect">
            <a:avLst>
              <a:gd name="adj" fmla="val 6557"/>
            </a:avLst>
          </a:prstGeom>
          <a:solidFill>
            <a:srgbClr val="EBD6BD"/>
          </a:solidFill>
          <a:ln w="11430">
            <a:solidFill>
              <a:srgbClr val="D8BE96"/>
            </a:solidFill>
          </a:ln>
        </p:spPr>
      </p:sp>
      <p:sp>
        <p:nvSpPr>
          <p:cNvPr id="10" name="圆角矩形 9"/>
          <p:cNvSpPr>
            <a:spLocks noGrp="1"/>
          </p:cNvSpPr>
          <p:nvPr/>
        </p:nvSpPr>
        <p:spPr>
          <a:xfrm>
            <a:off x="781050" y="1981200"/>
            <a:ext cx="304800" cy="304800"/>
          </a:xfrm>
          <a:prstGeom prst="roundRect">
            <a:avLst>
              <a:gd name="adj" fmla="val 25000"/>
            </a:avLst>
          </a:prstGeom>
          <a:solidFill>
            <a:srgbClr val="B64630"/>
          </a:solidFill>
          <a:ln w="0">
            <a:noFill/>
          </a:ln>
        </p:spPr>
        <p:txBody>
          <a:bodyPr anchor="ctr">
            <a:normAutofit fontScale="93639"/>
          </a:bodyPr>
          <a:lstStyle/>
          <a:p>
            <a:pPr algn="ctr">
              <a:buNone/>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1</a:t>
            </a:r>
            <a:endParaRPr sz="1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87120" y="1847850"/>
            <a:ext cx="4267200" cy="914400"/>
          </a:xfrm>
          <a:prstGeom prst="rect">
            <a:avLst/>
          </a:prstGeom>
          <a:noFill/>
          <a:ln w="0">
            <a:noFill/>
          </a:ln>
        </p:spPr>
        <p:txBody>
          <a:bodyPr anchor="t">
            <a:noAutofit/>
          </a:bodyPr>
          <a:lstStyle/>
          <a:p>
            <a:pPr algn="l">
              <a:lnSpc>
                <a:spcPct val="10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r>
              <a:rPr sz="800" b="0" i="0">
                <a:solidFill>
                  <a:srgbClr val="655F56"/>
                </a:solidFill>
                <a:latin typeface="微软雅黑" panose="020B0503020204020204" charset="-122"/>
                <a:ea typeface="微软雅黑" panose="020B0503020204020204" charset="-122"/>
                <a:cs typeface="微软雅黑" panose="020B0503020204020204" charset="-122"/>
              </a:rPr>
              <a:t>More recently, SNSs have inspired highly mimicked travel behaviors within destinations where travelers seek to imitate travel images created and posted by influencers and peers (Balomenou &amp; Garrod, Citation2019; Oh, Citation2022; Siegel et al., Citation2022; Tang et al., Citation2024). </a:t>
            </a:r>
            <a:r>
              <a:rPr sz="8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To this end, travel practices have morphed. Selfies have emerged as a ubiquitous practice</a:t>
            </a:r>
            <a:endParaRPr sz="8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endParaRPr>
          </a:p>
          <a:p>
            <a:pPr algn="l">
              <a:lnSpc>
                <a:spcPct val="10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r>
              <a:rPr sz="800" b="0" i="0">
                <a:solidFill>
                  <a:srgbClr val="655F56"/>
                </a:solidFill>
                <a:latin typeface="微软雅黑" panose="020B0503020204020204" charset="-122"/>
                <a:ea typeface="微软雅黑" panose="020B0503020204020204" charset="-122"/>
                <a:cs typeface="微软雅黑" panose="020B0503020204020204" charset="-122"/>
              </a:rPr>
              <a:t>近年来，社交媒体（SNS）促使旅行者在目的地中模仿大量由网红和同行所创造并发布的旅行形象，从而引发高度仿效的旅游行为（Balomenou &amp; Garrod, Citation2019；Oh, Citation2022；Siegel 等，Citation2022；Tang 等，Citation2024）。为此，旅行方式发生了变化。自拍已成为一种普遍存在的旅行实践。</a:t>
            </a:r>
            <a:endParaRPr sz="80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2" name="右箭头 11"/>
          <p:cNvSpPr>
            <a:spLocks noGrp="1"/>
          </p:cNvSpPr>
          <p:nvPr/>
        </p:nvSpPr>
        <p:spPr>
          <a:xfrm>
            <a:off x="5629275" y="2066925"/>
            <a:ext cx="952500" cy="400050"/>
          </a:xfrm>
          <a:prstGeom prst="rightArrow">
            <a:avLst/>
          </a:prstGeom>
          <a:solidFill>
            <a:srgbClr val="B64630"/>
          </a:solidFill>
          <a:ln w="0">
            <a:noFill/>
          </a:ln>
        </p:spPr>
      </p:sp>
      <p:sp>
        <p:nvSpPr>
          <p:cNvPr id="13" name="矩形 12"/>
          <p:cNvSpPr>
            <a:spLocks noGrp="1"/>
          </p:cNvSpPr>
          <p:nvPr/>
        </p:nvSpPr>
        <p:spPr>
          <a:xfrm>
            <a:off x="6887845" y="1914525"/>
            <a:ext cx="4238625" cy="838200"/>
          </a:xfrm>
          <a:prstGeom prst="rect">
            <a:avLst/>
          </a:prstGeom>
          <a:noFill/>
          <a:ln w="0">
            <a:noFill/>
          </a:ln>
        </p:spPr>
        <p:txBody>
          <a:bodyPr anchor="t">
            <a:normAutofit/>
          </a:bodyPr>
          <a:lstStyle/>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300" b="0" i="0">
                <a:solidFill>
                  <a:srgbClr val="253532"/>
                </a:solidFill>
                <a:latin typeface="微软雅黑" panose="020B0503020204020204" charset="-122"/>
                <a:ea typeface="微软雅黑" panose="020B0503020204020204" charset="-122"/>
                <a:cs typeface="微软雅黑" panose="020B0503020204020204" charset="-122"/>
              </a:rPr>
              <a:t>自拍逐渐成为旅游中一普遍行为</a:t>
            </a:r>
            <a:endParaRPr sz="1300"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300" b="0" i="0">
                <a:solidFill>
                  <a:srgbClr val="253532"/>
                </a:solidFill>
                <a:latin typeface="微软雅黑" panose="020B0503020204020204" charset="-122"/>
                <a:ea typeface="微软雅黑" panose="020B0503020204020204" charset="-122"/>
                <a:cs typeface="微软雅黑" panose="020B0503020204020204" charset="-122"/>
              </a:rPr>
              <a:t>Selfies have gradually become a common practice in travel.</a:t>
            </a:r>
            <a:endParaRPr sz="1300"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47700" y="3171825"/>
            <a:ext cx="4762500" cy="1162050"/>
          </a:xfrm>
          <a:prstGeom prst="roundRect">
            <a:avLst>
              <a:gd name="adj" fmla="val 6557"/>
            </a:avLst>
          </a:prstGeom>
          <a:solidFill>
            <a:srgbClr val="FFF9EE"/>
          </a:solidFill>
          <a:ln w="11430">
            <a:solidFill>
              <a:srgbClr val="D8BE96"/>
            </a:solidFill>
          </a:ln>
        </p:spPr>
      </p:sp>
      <p:sp>
        <p:nvSpPr>
          <p:cNvPr id="15" name="圆角矩形 14"/>
          <p:cNvSpPr>
            <a:spLocks noGrp="1"/>
          </p:cNvSpPr>
          <p:nvPr/>
        </p:nvSpPr>
        <p:spPr>
          <a:xfrm>
            <a:off x="6800850" y="2752725"/>
            <a:ext cx="4762500" cy="1390650"/>
          </a:xfrm>
          <a:prstGeom prst="roundRect">
            <a:avLst>
              <a:gd name="adj" fmla="val 6557"/>
            </a:avLst>
          </a:prstGeom>
          <a:solidFill>
            <a:srgbClr val="EBD6BD"/>
          </a:solidFill>
          <a:ln w="11430">
            <a:solidFill>
              <a:srgbClr val="D8BE96"/>
            </a:solidFill>
          </a:ln>
        </p:spPr>
      </p:sp>
      <p:sp>
        <p:nvSpPr>
          <p:cNvPr id="16" name="圆角矩形 15"/>
          <p:cNvSpPr>
            <a:spLocks noGrp="1"/>
          </p:cNvSpPr>
          <p:nvPr/>
        </p:nvSpPr>
        <p:spPr>
          <a:xfrm>
            <a:off x="781050" y="3305175"/>
            <a:ext cx="304800" cy="304800"/>
          </a:xfrm>
          <a:prstGeom prst="roundRect">
            <a:avLst>
              <a:gd name="adj" fmla="val 25000"/>
            </a:avLst>
          </a:prstGeom>
          <a:solidFill>
            <a:srgbClr val="B64630"/>
          </a:solidFill>
          <a:ln w="0">
            <a:noFill/>
          </a:ln>
        </p:spPr>
        <p:txBody>
          <a:bodyPr anchor="ctr">
            <a:normAutofit fontScale="93639"/>
          </a:bodyPr>
          <a:lstStyle/>
          <a:p>
            <a:pPr algn="ctr">
              <a:buNone/>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2</a:t>
            </a:r>
            <a:endParaRPr sz="1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127125" y="3213100"/>
            <a:ext cx="4000500" cy="914400"/>
          </a:xfrm>
          <a:prstGeom prst="rect">
            <a:avLst/>
          </a:prstGeom>
          <a:noFill/>
          <a:ln w="0">
            <a:noFill/>
          </a:ln>
        </p:spPr>
        <p:txBody>
          <a:bodyPr anchor="t">
            <a:noAutofit/>
          </a:bodyPr>
          <a:lstStyle/>
          <a:p>
            <a:pPr algn="l">
              <a:lnSpc>
                <a:spcPct val="10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r>
              <a:rPr sz="800" b="0" i="0">
                <a:solidFill>
                  <a:srgbClr val="655F56"/>
                </a:solidFill>
                <a:latin typeface="微软雅黑" panose="020B0503020204020204" charset="-122"/>
                <a:ea typeface="微软雅黑" panose="020B0503020204020204" charset="-122"/>
                <a:cs typeface="微软雅黑" panose="020B0503020204020204" charset="-122"/>
              </a:rPr>
              <a:t>However, there is</a:t>
            </a:r>
            <a:r>
              <a:rPr sz="8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 a moral gap if a place is solely used for photographic purposes and there is little other interaction between the visitors and the place</a:t>
            </a:r>
            <a:r>
              <a:rPr sz="800" b="0" i="0">
                <a:solidFill>
                  <a:srgbClr val="655F56"/>
                </a:solidFill>
                <a:latin typeface="微软雅黑" panose="020B0503020204020204" charset="-122"/>
                <a:ea typeface="微软雅黑" panose="020B0503020204020204" charset="-122"/>
                <a:cs typeface="微软雅黑" panose="020B0503020204020204" charset="-122"/>
              </a:rPr>
              <a:t> (Deery et al., Citation2012). Bruner (Citation2005, p. 192) discusses ‘tourist borderzones’ as the spaces where natives and tourists come to interact.</a:t>
            </a:r>
            <a:endParaRPr sz="80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r>
              <a:rPr sz="800" b="0" i="0">
                <a:solidFill>
                  <a:srgbClr val="655F56"/>
                </a:solidFill>
                <a:latin typeface="微软雅黑" panose="020B0503020204020204" charset="-122"/>
                <a:ea typeface="微软雅黑" panose="020B0503020204020204" charset="-122"/>
                <a:cs typeface="微软雅黑" panose="020B0503020204020204" charset="-122"/>
              </a:rPr>
              <a:t>然而，如果某个地方仅被用于拍照目的，而游客与该地方之间几乎没有其他互动，那么这就存在道德上的缺失（</a:t>
            </a:r>
            <a:r>
              <a:rPr sz="800" b="0" i="0">
                <a:solidFill>
                  <a:srgbClr val="655F56"/>
                </a:solidFill>
                <a:latin typeface="微软雅黑" panose="020B0503020204020204" charset="-122"/>
                <a:ea typeface="微软雅黑" panose="020B0503020204020204" charset="-122"/>
                <a:cs typeface="微软雅黑" panose="020B0503020204020204" charset="-122"/>
              </a:rPr>
              <a:t>Deery </a:t>
            </a:r>
            <a:r>
              <a:rPr sz="800" b="0" i="0">
                <a:solidFill>
                  <a:srgbClr val="655F56"/>
                </a:solidFill>
                <a:latin typeface="微软雅黑" panose="020B0503020204020204" charset="-122"/>
                <a:ea typeface="微软雅黑" panose="020B0503020204020204" charset="-122"/>
                <a:cs typeface="微软雅黑" panose="020B0503020204020204" charset="-122"/>
              </a:rPr>
              <a:t>等人，2012 年）。</a:t>
            </a:r>
            <a:r>
              <a:rPr sz="800" b="0" i="0">
                <a:solidFill>
                  <a:srgbClr val="655F56"/>
                </a:solidFill>
                <a:latin typeface="微软雅黑" panose="020B0503020204020204" charset="-122"/>
                <a:ea typeface="微软雅黑" panose="020B0503020204020204" charset="-122"/>
                <a:cs typeface="微软雅黑" panose="020B0503020204020204" charset="-122"/>
              </a:rPr>
              <a:t>Bruner（2005 </a:t>
            </a:r>
            <a:r>
              <a:rPr sz="800" b="0" i="0">
                <a:solidFill>
                  <a:srgbClr val="655F56"/>
                </a:solidFill>
                <a:latin typeface="微软雅黑" panose="020B0503020204020204" charset="-122"/>
                <a:ea typeface="微软雅黑" panose="020B0503020204020204" charset="-122"/>
                <a:cs typeface="微软雅黑" panose="020B0503020204020204" charset="-122"/>
              </a:rPr>
              <a:t>年，第 192 页）将“旅游边界区”定义为当地居民和游客相互互动的空间。</a:t>
            </a:r>
            <a:endParaRPr sz="80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8" name="右箭头 17"/>
          <p:cNvSpPr>
            <a:spLocks noGrp="1"/>
          </p:cNvSpPr>
          <p:nvPr/>
        </p:nvSpPr>
        <p:spPr>
          <a:xfrm>
            <a:off x="5619750" y="3552825"/>
            <a:ext cx="952500" cy="400050"/>
          </a:xfrm>
          <a:prstGeom prst="rightArrow">
            <a:avLst/>
          </a:prstGeom>
          <a:solidFill>
            <a:srgbClr val="B64630"/>
          </a:solidFill>
          <a:ln w="0">
            <a:noFill/>
          </a:ln>
        </p:spPr>
      </p:sp>
      <p:sp>
        <p:nvSpPr>
          <p:cNvPr id="19" name="矩形 18"/>
          <p:cNvSpPr>
            <a:spLocks noGrp="1"/>
          </p:cNvSpPr>
          <p:nvPr/>
        </p:nvSpPr>
        <p:spPr>
          <a:xfrm>
            <a:off x="6830060" y="2853055"/>
            <a:ext cx="4733290" cy="1081405"/>
          </a:xfrm>
          <a:prstGeom prst="rect">
            <a:avLst/>
          </a:prstGeom>
          <a:noFill/>
          <a:ln w="0">
            <a:noFill/>
          </a:ln>
        </p:spPr>
        <p:txBody>
          <a:bodyPr anchor="t">
            <a:noAutofit/>
          </a:bodyPr>
          <a:lstStyle/>
          <a:p>
            <a:pPr algn="l">
              <a:lnSpc>
                <a:spcPct val="100000"/>
              </a:lnSpc>
              <a:buClrTx/>
              <a:buSzTx/>
              <a:buFontTx/>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300" b="0" i="0">
                <a:solidFill>
                  <a:srgbClr val="253532"/>
                </a:solidFill>
                <a:latin typeface="微软雅黑" panose="020B0503020204020204" charset="-122"/>
                <a:ea typeface="微软雅黑" panose="020B0503020204020204" charset="-122"/>
                <a:cs typeface="微软雅黑" panose="020B0503020204020204" charset="-122"/>
              </a:rPr>
              <a:t>一些景点的作用逐渐演变为只为拍照，导致游客与该地方几乎没有其他互动</a:t>
            </a:r>
            <a:endParaRPr sz="1300"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ClrTx/>
              <a:buSzTx/>
              <a:buFontTx/>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300" b="0" i="0">
                <a:solidFill>
                  <a:srgbClr val="253532"/>
                </a:solidFill>
                <a:latin typeface="微软雅黑" panose="020B0503020204020204" charset="-122"/>
                <a:ea typeface="微软雅黑" panose="020B0503020204020204" charset="-122"/>
                <a:cs typeface="微软雅黑" panose="020B0503020204020204" charset="-122"/>
              </a:rPr>
              <a:t>The functions of some scenic spots have gradually shifted to merely being places for taking photos, resulting in very little interaction between tourists and the area.</a:t>
            </a:r>
            <a:endParaRPr sz="1300"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47700" y="4410710"/>
            <a:ext cx="4762500" cy="1247140"/>
          </a:xfrm>
          <a:prstGeom prst="roundRect">
            <a:avLst>
              <a:gd name="adj" fmla="val 6557"/>
            </a:avLst>
          </a:prstGeom>
          <a:solidFill>
            <a:srgbClr val="FFF9EE"/>
          </a:solidFill>
          <a:ln w="11430">
            <a:solidFill>
              <a:srgbClr val="D8BE96"/>
            </a:solidFill>
          </a:ln>
        </p:spPr>
      </p:sp>
      <p:sp>
        <p:nvSpPr>
          <p:cNvPr id="21" name="圆角矩形 20"/>
          <p:cNvSpPr>
            <a:spLocks noGrp="1"/>
          </p:cNvSpPr>
          <p:nvPr/>
        </p:nvSpPr>
        <p:spPr>
          <a:xfrm>
            <a:off x="6800850" y="4260850"/>
            <a:ext cx="4762500" cy="1397000"/>
          </a:xfrm>
          <a:prstGeom prst="roundRect">
            <a:avLst>
              <a:gd name="adj" fmla="val 6557"/>
            </a:avLst>
          </a:prstGeom>
          <a:solidFill>
            <a:srgbClr val="EBD6BD"/>
          </a:solidFill>
          <a:ln w="11430">
            <a:solidFill>
              <a:srgbClr val="D8BE96"/>
            </a:solidFill>
          </a:ln>
        </p:spPr>
      </p:sp>
      <p:sp>
        <p:nvSpPr>
          <p:cNvPr id="22" name="圆角矩形 21"/>
          <p:cNvSpPr>
            <a:spLocks noGrp="1"/>
          </p:cNvSpPr>
          <p:nvPr/>
        </p:nvSpPr>
        <p:spPr>
          <a:xfrm>
            <a:off x="782320" y="4509135"/>
            <a:ext cx="304800" cy="304800"/>
          </a:xfrm>
          <a:prstGeom prst="roundRect">
            <a:avLst>
              <a:gd name="adj" fmla="val 25000"/>
            </a:avLst>
          </a:prstGeom>
          <a:solidFill>
            <a:srgbClr val="B64630"/>
          </a:solidFill>
          <a:ln w="0">
            <a:noFill/>
          </a:ln>
        </p:spPr>
        <p:txBody>
          <a:bodyPr anchor="ctr">
            <a:normAutofit fontScale="93639"/>
          </a:bodyPr>
          <a:lstStyle/>
          <a:p>
            <a:pPr algn="ctr">
              <a:buNone/>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3</a:t>
            </a:r>
            <a:endParaRPr sz="1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1123315" y="4454525"/>
            <a:ext cx="4244340" cy="1203325"/>
          </a:xfrm>
          <a:prstGeom prst="rect">
            <a:avLst/>
          </a:prstGeom>
          <a:noFill/>
          <a:ln w="0">
            <a:noFill/>
          </a:ln>
        </p:spPr>
        <p:txBody>
          <a:bodyPr anchor="t">
            <a:noAutofit/>
          </a:bodyPr>
          <a:lstStyle/>
          <a:p>
            <a:pPr algn="l">
              <a:lnSpc>
                <a:spcPct val="100000"/>
              </a:lnSpc>
              <a:buNone/>
              <a:defRPr sz="975" b="0" i="0">
                <a:solidFill>
                  <a:srgbClr val="655F56"/>
                </a:solidFill>
                <a:latin typeface="微软雅黑" panose="020B0503020204020204" charset="-122"/>
                <a:ea typeface="微软雅黑" panose="020B0503020204020204" charset="-122"/>
                <a:cs typeface="微软雅黑" panose="020B0503020204020204" charset="-122"/>
              </a:defRPr>
            </a:pPr>
            <a:r>
              <a:rPr sz="6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To achieve the idealized types of photos that now circulate on social media, there has been a shift in performative behavior that has onsite implications</a:t>
            </a:r>
            <a:r>
              <a:rPr sz="600" b="0" i="0">
                <a:solidFill>
                  <a:srgbClr val="655F56"/>
                </a:solidFill>
                <a:latin typeface="微软雅黑" panose="020B0503020204020204" charset="-122"/>
                <a:ea typeface="微软雅黑" panose="020B0503020204020204" charset="-122"/>
                <a:cs typeface="微软雅黑" panose="020B0503020204020204" charset="-122"/>
              </a:rPr>
              <a:t> (Pearce &amp; Wang, Citation2019).Caldeira et al. (Citation2021) discussed the painstaking processes in which users engage to generate the type of posts that are considered ‘</a:t>
            </a:r>
            <a:r>
              <a:rPr sz="6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successful’ on SNSs, including engaging in extensive grooming and makeup rituals.</a:t>
            </a:r>
            <a:r>
              <a:rPr sz="600" b="0" i="0">
                <a:solidFill>
                  <a:srgbClr val="655F56"/>
                </a:solidFill>
                <a:latin typeface="微软雅黑" panose="020B0503020204020204" charset="-122"/>
                <a:ea typeface="微软雅黑" panose="020B0503020204020204" charset="-122"/>
                <a:cs typeface="微软雅黑" panose="020B0503020204020204" charset="-122"/>
              </a:rPr>
              <a:t> Furthermore, Siegel et al. (Citation2022) found that social media-induced tourists exhibit nuanced travel behaviors and </a:t>
            </a:r>
            <a:r>
              <a:rPr sz="6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bring along props, costume and extensive photography equipment</a:t>
            </a:r>
            <a:r>
              <a:rPr sz="600" b="0" i="0">
                <a:solidFill>
                  <a:srgbClr val="655F56"/>
                </a:solidFill>
                <a:latin typeface="微软雅黑" panose="020B0503020204020204" charset="-122"/>
                <a:ea typeface="微软雅黑" panose="020B0503020204020204" charset="-122"/>
                <a:cs typeface="微软雅黑" panose="020B0503020204020204" charset="-122"/>
              </a:rPr>
              <a:t>. Subsequently, </a:t>
            </a:r>
            <a:r>
              <a:rPr sz="6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many spend substantially more time and effort to achieve a ‘perfect photo’ in that place and time.</a:t>
            </a:r>
            <a:endParaRPr sz="60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975" b="0" i="0">
                <a:solidFill>
                  <a:srgbClr val="655F56"/>
                </a:solidFill>
                <a:latin typeface="微软雅黑" panose="020B0503020204020204" charset="-122"/>
                <a:ea typeface="微软雅黑" panose="020B0503020204020204" charset="-122"/>
                <a:cs typeface="微软雅黑" panose="020B0503020204020204" charset="-122"/>
              </a:defRPr>
            </a:pPr>
            <a:r>
              <a:rPr sz="600" b="0" i="0">
                <a:solidFill>
                  <a:srgbClr val="655F56"/>
                </a:solidFill>
                <a:latin typeface="微软雅黑" panose="020B0503020204020204" charset="-122"/>
                <a:ea typeface="微软雅黑" panose="020B0503020204020204" charset="-122"/>
                <a:cs typeface="微软雅黑" panose="020B0503020204020204" charset="-122"/>
              </a:rPr>
              <a:t>为了获得如今在社交媒体上广泛传播的理想化照片类型，人们的行为表现发生了变化，这种变化对现场行为产生了实际影响（</a:t>
            </a:r>
            <a:r>
              <a:rPr sz="600" b="0" i="0">
                <a:solidFill>
                  <a:srgbClr val="655F56"/>
                </a:solidFill>
                <a:latin typeface="微软雅黑" panose="020B0503020204020204" charset="-122"/>
                <a:ea typeface="微软雅黑" panose="020B0503020204020204" charset="-122"/>
                <a:cs typeface="微软雅黑" panose="020B0503020204020204" charset="-122"/>
              </a:rPr>
              <a:t>Pearce &amp; Wang, Citation2019）。Caldeira </a:t>
            </a:r>
            <a:r>
              <a:rPr sz="600" b="0" i="0">
                <a:solidFill>
                  <a:srgbClr val="655F56"/>
                </a:solidFill>
                <a:latin typeface="微软雅黑" panose="020B0503020204020204" charset="-122"/>
                <a:ea typeface="微软雅黑" panose="020B0503020204020204" charset="-122"/>
                <a:cs typeface="微软雅黑" panose="020B0503020204020204" charset="-122"/>
              </a:rPr>
              <a:t>等人（</a:t>
            </a:r>
            <a:r>
              <a:rPr sz="600" b="0" i="0">
                <a:solidFill>
                  <a:srgbClr val="655F56"/>
                </a:solidFill>
                <a:latin typeface="微软雅黑" panose="020B0503020204020204" charset="-122"/>
                <a:ea typeface="微软雅黑" panose="020B0503020204020204" charset="-122"/>
                <a:cs typeface="微软雅黑" panose="020B0503020204020204" charset="-122"/>
              </a:rPr>
              <a:t>Citation2021）</a:t>
            </a:r>
            <a:r>
              <a:rPr sz="600" b="0" i="0">
                <a:solidFill>
                  <a:srgbClr val="655F56"/>
                </a:solidFill>
                <a:latin typeface="微软雅黑" panose="020B0503020204020204" charset="-122"/>
                <a:ea typeface="微软雅黑" panose="020B0503020204020204" charset="-122"/>
                <a:cs typeface="微软雅黑" panose="020B0503020204020204" charset="-122"/>
              </a:rPr>
              <a:t>探讨了用户为在社交网络中生成被视为“成功”的帖子而进行的繁琐过程，包括投入大量时间进行精心打扮和化妆。此外，</a:t>
            </a:r>
            <a:r>
              <a:rPr sz="600" b="0" i="0">
                <a:solidFill>
                  <a:srgbClr val="655F56"/>
                </a:solidFill>
                <a:latin typeface="微软雅黑" panose="020B0503020204020204" charset="-122"/>
                <a:ea typeface="微软雅黑" panose="020B0503020204020204" charset="-122"/>
                <a:cs typeface="微软雅黑" panose="020B0503020204020204" charset="-122"/>
              </a:rPr>
              <a:t>Siegel </a:t>
            </a:r>
            <a:r>
              <a:rPr sz="600" b="0" i="0">
                <a:solidFill>
                  <a:srgbClr val="655F56"/>
                </a:solidFill>
                <a:latin typeface="微软雅黑" panose="020B0503020204020204" charset="-122"/>
                <a:ea typeface="微软雅黑" panose="020B0503020204020204" charset="-122"/>
                <a:cs typeface="微软雅黑" panose="020B0503020204020204" charset="-122"/>
              </a:rPr>
              <a:t>等人（</a:t>
            </a:r>
            <a:r>
              <a:rPr sz="600" b="0" i="0">
                <a:solidFill>
                  <a:srgbClr val="655F56"/>
                </a:solidFill>
                <a:latin typeface="微软雅黑" panose="020B0503020204020204" charset="-122"/>
                <a:ea typeface="微软雅黑" panose="020B0503020204020204" charset="-122"/>
                <a:cs typeface="微软雅黑" panose="020B0503020204020204" charset="-122"/>
              </a:rPr>
              <a:t>Citation2022）</a:t>
            </a:r>
            <a:r>
              <a:rPr sz="600" b="0" i="0">
                <a:solidFill>
                  <a:srgbClr val="655F56"/>
                </a:solidFill>
                <a:latin typeface="微软雅黑" panose="020B0503020204020204" charset="-122"/>
                <a:ea typeface="微软雅黑" panose="020B0503020204020204" charset="-122"/>
                <a:cs typeface="微软雅黑" panose="020B0503020204020204" charset="-122"/>
              </a:rPr>
              <a:t>发现，受社交媒体影响的游客表现出更为细致的旅行行为，并携带道具、服装以及大量摄影设备。因此，许多人会花费更多的时间和精力，在特定地点和时间拍摄出“完美”的照片。</a:t>
            </a:r>
            <a:endParaRPr sz="60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24" name="右箭头 23"/>
          <p:cNvSpPr>
            <a:spLocks noGrp="1"/>
          </p:cNvSpPr>
          <p:nvPr/>
        </p:nvSpPr>
        <p:spPr>
          <a:xfrm>
            <a:off x="5619750" y="4876800"/>
            <a:ext cx="952500" cy="400050"/>
          </a:xfrm>
          <a:prstGeom prst="rightArrow">
            <a:avLst/>
          </a:prstGeom>
          <a:solidFill>
            <a:srgbClr val="B64630"/>
          </a:solidFill>
          <a:ln w="0">
            <a:noFill/>
          </a:ln>
        </p:spPr>
      </p:sp>
      <p:sp>
        <p:nvSpPr>
          <p:cNvPr id="25" name="矩形 24"/>
          <p:cNvSpPr>
            <a:spLocks noGrp="1"/>
          </p:cNvSpPr>
          <p:nvPr/>
        </p:nvSpPr>
        <p:spPr>
          <a:xfrm>
            <a:off x="6861175" y="4333875"/>
            <a:ext cx="4702175" cy="1284605"/>
          </a:xfrm>
          <a:prstGeom prst="rect">
            <a:avLst/>
          </a:prstGeom>
          <a:noFill/>
          <a:ln w="0">
            <a:noFill/>
          </a:ln>
        </p:spPr>
        <p:txBody>
          <a:bodyPr anchor="t">
            <a:noAutofit/>
          </a:bodyPr>
          <a:lstStyle/>
          <a:p>
            <a:pPr algn="l">
              <a:lnSpc>
                <a:spcPct val="100000"/>
              </a:lnSpc>
              <a:buClrTx/>
              <a:buSzTx/>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200" b="0" i="0">
                <a:solidFill>
                  <a:srgbClr val="253532"/>
                </a:solidFill>
                <a:latin typeface="微软雅黑" panose="020B0503020204020204" charset="-122"/>
                <a:ea typeface="微软雅黑" panose="020B0503020204020204" charset="-122"/>
                <a:cs typeface="微软雅黑" panose="020B0503020204020204" charset="-122"/>
              </a:rPr>
              <a:t>游客为了捕捉“完美照片”，花费大量时间经理甚至准备妆造，只为成为社交媒体上的“成功”帖子，忽略正真旅游观光的意义</a:t>
            </a:r>
            <a:endParaRPr sz="1200"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ClrTx/>
              <a:buSzTx/>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200" b="0" i="0">
                <a:solidFill>
                  <a:srgbClr val="253532"/>
                </a:solidFill>
                <a:latin typeface="微软雅黑" panose="020B0503020204020204" charset="-122"/>
                <a:ea typeface="微软雅黑" panose="020B0503020204020204" charset="-122"/>
                <a:cs typeface="微软雅黑" panose="020B0503020204020204" charset="-122"/>
              </a:rPr>
              <a:t>Tourists spend a great deal of time planning and even preparing their makeup just to capture "perfect photos", solely aiming to create "successful" posts on social media, while neglecting the true meaning of tourism and sightseeing.</a:t>
            </a:r>
            <a:endParaRPr sz="1200"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647700" y="5886450"/>
            <a:ext cx="10915650" cy="14288"/>
          </a:xfrm>
          <a:prstGeom prst="rect">
            <a:avLst/>
          </a:prstGeom>
          <a:solidFill>
            <a:srgbClr val="D8BE96"/>
          </a:solidFill>
          <a:ln w="0">
            <a:noFill/>
          </a:ln>
        </p:spPr>
      </p:sp>
      <p:sp>
        <p:nvSpPr>
          <p:cNvPr id="27" name="矩形 26"/>
          <p:cNvSpPr>
            <a:spLocks noGrp="1"/>
          </p:cNvSpPr>
          <p:nvPr/>
        </p:nvSpPr>
        <p:spPr>
          <a:xfrm>
            <a:off x="685800" y="6048375"/>
            <a:ext cx="10839450" cy="419100"/>
          </a:xfrm>
          <a:prstGeom prst="rect">
            <a:avLst/>
          </a:prstGeom>
          <a:noFill/>
          <a:ln w="0">
            <a:noFill/>
          </a:ln>
        </p:spPr>
        <p:txBody>
          <a:bodyPr anchor="t">
            <a:normAutofit/>
          </a:bodyPr>
          <a:lstStyle/>
          <a:p>
            <a:pPr algn="l">
              <a:lnSpc>
                <a:spcPct val="100000"/>
              </a:lnSpc>
              <a:buNone/>
              <a:defRPr sz="940" b="0" i="0">
                <a:solidFill>
                  <a:srgbClr val="655F56"/>
                </a:solidFill>
                <a:latin typeface="微软雅黑" panose="020B0503020204020204" charset="-122"/>
                <a:ea typeface="微软雅黑" panose="020B0503020204020204" charset="-122"/>
                <a:cs typeface="微软雅黑" panose="020B0503020204020204" charset="-122"/>
              </a:defRPr>
            </a:pPr>
            <a:r>
              <a:rPr sz="940" b="0" i="0">
                <a:solidFill>
                  <a:srgbClr val="655F56"/>
                </a:solidFill>
                <a:latin typeface="微软雅黑" panose="020B0503020204020204" charset="-122"/>
                <a:ea typeface="微软雅黑" panose="020B0503020204020204" charset="-122"/>
                <a:cs typeface="微软雅黑" panose="020B0503020204020204" charset="-122"/>
              </a:rPr>
              <a:t>Siegel, L. A., Tussyadiah, I., &amp; Scarles, C. (2025). Commodification of photogenic sites and rise of ‘selfie parks’ as tourist enclaves. Tourism Geographies, 27(6), 1184–1209. https://doi.org/10.1080/14616688.2025.2532582</a:t>
            </a:r>
            <a:endParaRPr sz="940" b="0" i="0">
              <a:solidFill>
                <a:srgbClr val="655F5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sp>
        <p:nvSpPr>
          <p:cNvPr id="25" name="矩形 24"/>
          <p:cNvSpPr>
            <a:spLocks noGrp="1"/>
          </p:cNvSpPr>
          <p:nvPr/>
        </p:nvSpPr>
        <p:spPr>
          <a:xfrm>
            <a:off x="0" y="0"/>
            <a:ext cx="190500" cy="6858000"/>
          </a:xfrm>
          <a:prstGeom prst="rect">
            <a:avLst/>
          </a:prstGeom>
          <a:solidFill>
            <a:srgbClr val="B64630"/>
          </a:solidFill>
          <a:ln w="0">
            <a:noFill/>
          </a:ln>
        </p:spPr>
      </p:sp>
      <p:sp>
        <p:nvSpPr>
          <p:cNvPr id="2" name="矩形 1"/>
          <p:cNvSpPr>
            <a:spLocks noGrp="1"/>
          </p:cNvSpPr>
          <p:nvPr/>
        </p:nvSpPr>
        <p:spPr>
          <a:xfrm>
            <a:off x="11144250" y="514350"/>
            <a:ext cx="381000" cy="190500"/>
          </a:xfrm>
          <a:prstGeom prst="rect">
            <a:avLst/>
          </a:prstGeom>
          <a:noFill/>
          <a:ln w="0">
            <a:noFill/>
          </a:ln>
        </p:spPr>
        <p:txBody>
          <a:bodyPr anchor="t">
            <a:normAutofit fontScale="66667"/>
          </a:bodyPr>
          <a:lstStyle/>
          <a:p>
            <a:pPr algn="r">
              <a:lnSpc>
                <a:spcPct val="100000"/>
              </a:lnSpc>
              <a:buNone/>
              <a:defRPr sz="975" b="1" i="0">
                <a:solidFill>
                  <a:srgbClr val="B64630"/>
                </a:solidFill>
                <a:latin typeface="微软雅黑" panose="020B0503020204020204" charset="-122"/>
                <a:ea typeface="微软雅黑" panose="020B0503020204020204" charset="-122"/>
                <a:cs typeface="微软雅黑" panose="020B0503020204020204" charset="-122"/>
              </a:defRPr>
            </a:pPr>
            <a:r>
              <a:rPr sz="975" b="1" i="0">
                <a:solidFill>
                  <a:srgbClr val="B64630"/>
                </a:solidFill>
                <a:latin typeface="微软雅黑" panose="020B0503020204020204" charset="-122"/>
                <a:ea typeface="微软雅黑" panose="020B0503020204020204" charset="-122"/>
                <a:cs typeface="微软雅黑" panose="020B0503020204020204" charset="-122"/>
              </a:rPr>
              <a:t>07</a:t>
            </a:r>
            <a:endParaRPr sz="9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781050" y="361950"/>
            <a:ext cx="10191750" cy="361950"/>
          </a:xfrm>
          <a:prstGeom prst="rect">
            <a:avLst/>
          </a:prstGeom>
          <a:noFill/>
          <a:ln w="0">
            <a:noFill/>
          </a:ln>
        </p:spPr>
        <p:txBody>
          <a:bodyPr anchor="t">
            <a:normAutofit fontScale="81609"/>
          </a:bodyPr>
          <a:lstStyle/>
          <a:p>
            <a:pPr algn="l">
              <a:lnSpc>
                <a:spcPct val="100000"/>
              </a:lnSpc>
              <a:buNone/>
              <a:defRPr sz="2175" b="1" i="0">
                <a:solidFill>
                  <a:srgbClr val="253532"/>
                </a:solidFill>
                <a:latin typeface="微软雅黑" panose="020B0503020204020204" charset="-122"/>
                <a:ea typeface="微软雅黑" panose="020B0503020204020204" charset="-122"/>
                <a:cs typeface="微软雅黑" panose="020B0503020204020204" charset="-122"/>
              </a:defRPr>
            </a:pPr>
            <a:endParaRPr sz="217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781050" y="742950"/>
            <a:ext cx="10191750" cy="457200"/>
          </a:xfrm>
          <a:prstGeom prst="rect">
            <a:avLst/>
          </a:prstGeom>
          <a:noFill/>
          <a:ln w="0">
            <a:noFill/>
          </a:ln>
        </p:spPr>
        <p:txBody>
          <a:bodyPr anchor="t">
            <a:normAutofit fontScale="90000" lnSpcReduction="10000"/>
          </a:bodyPr>
          <a:lstStyle/>
          <a:p>
            <a:pPr algn="l">
              <a:lnSpc>
                <a:spcPct val="100000"/>
              </a:lnSpc>
              <a:buNone/>
              <a:defRPr sz="1350" b="0" i="0">
                <a:solidFill>
                  <a:srgbClr val="655F56"/>
                </a:solidFill>
                <a:latin typeface="微软雅黑" panose="020B0503020204020204" charset="-122"/>
                <a:ea typeface="微软雅黑" panose="020B0503020204020204" charset="-122"/>
                <a:cs typeface="微软雅黑" panose="020B0503020204020204" charset="-122"/>
              </a:defRPr>
            </a:pPr>
            <a:r>
              <a:rPr sz="1350" b="0" i="0">
                <a:solidFill>
                  <a:srgbClr val="655F56"/>
                </a:solidFill>
                <a:latin typeface="微软雅黑" panose="020B0503020204020204" charset="-122"/>
                <a:ea typeface="微软雅黑" panose="020B0503020204020204" charset="-122"/>
                <a:cs typeface="微软雅黑" panose="020B0503020204020204" charset="-122"/>
              </a:rPr>
              <a:t>Learning Curiosity through Play: Exploring the Role of Games and Interactive Design in Museums</a:t>
            </a:r>
            <a:endParaRPr sz="135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350" b="0" i="0">
                <a:solidFill>
                  <a:srgbClr val="655F56"/>
                </a:solidFill>
                <a:latin typeface="微软雅黑" panose="020B0503020204020204" charset="-122"/>
                <a:ea typeface="微软雅黑" panose="020B0503020204020204" charset="-122"/>
                <a:cs typeface="微软雅黑" panose="020B0503020204020204" charset="-122"/>
              </a:defRPr>
            </a:pPr>
            <a:r>
              <a:rPr sz="1350" b="0" i="0">
                <a:solidFill>
                  <a:srgbClr val="655F56"/>
                </a:solidFill>
                <a:latin typeface="微软雅黑" panose="020B0503020204020204" charset="-122"/>
                <a:ea typeface="微软雅黑" panose="020B0503020204020204" charset="-122"/>
                <a:cs typeface="微软雅黑" panose="020B0503020204020204" charset="-122"/>
              </a:rPr>
              <a:t>通过游戏培养好奇心：探索游戏和互动设计在博物馆中的重要作用</a:t>
            </a:r>
            <a:endParaRPr sz="135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57225" y="1323975"/>
            <a:ext cx="733425" cy="57150"/>
          </a:xfrm>
          <a:prstGeom prst="rect">
            <a:avLst/>
          </a:prstGeom>
          <a:solidFill>
            <a:srgbClr val="B64630"/>
          </a:solidFill>
          <a:ln w="0">
            <a:noFill/>
          </a:ln>
        </p:spPr>
      </p:sp>
      <p:sp>
        <p:nvSpPr>
          <p:cNvPr id="6" name="矩形 5"/>
          <p:cNvSpPr>
            <a:spLocks noGrp="1"/>
          </p:cNvSpPr>
          <p:nvPr/>
        </p:nvSpPr>
        <p:spPr>
          <a:xfrm>
            <a:off x="666750" y="1581150"/>
            <a:ext cx="4476750" cy="228600"/>
          </a:xfrm>
          <a:prstGeom prst="rect">
            <a:avLst/>
          </a:prstGeom>
          <a:noFill/>
          <a:ln w="0">
            <a:noFill/>
          </a:ln>
        </p:spPr>
        <p:txBody>
          <a:bodyPr anchor="t">
            <a:normAutofit fontScale="60588"/>
          </a:bodyPr>
          <a:lstStyle/>
          <a:p>
            <a:pPr algn="l">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r>
              <a:t>ORIGINAL TEXT  文献原文</a:t>
            </a: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000875" y="1581150"/>
            <a:ext cx="4476750" cy="228600"/>
          </a:xfrm>
          <a:prstGeom prst="rect">
            <a:avLst/>
          </a:prstGeom>
          <a:noFill/>
          <a:ln w="0">
            <a:noFill/>
          </a:ln>
        </p:spPr>
        <p:txBody>
          <a:bodyPr anchor="t">
            <a:normAutofit fontScale="70588"/>
          </a:bodyPr>
          <a:lstStyle/>
          <a:p>
            <a:pPr algn="l">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r>
              <a:rPr sz="1275" b="1" i="0">
                <a:solidFill>
                  <a:srgbClr val="B64630"/>
                </a:solidFill>
                <a:latin typeface="微软雅黑" panose="020B0503020204020204" charset="-122"/>
                <a:ea typeface="微软雅黑" panose="020B0503020204020204" charset="-122"/>
                <a:cs typeface="微软雅黑" panose="020B0503020204020204" charset="-122"/>
              </a:rPr>
              <a:t>LITERATURE SUMMARY  文献总结</a:t>
            </a: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47700" y="1943100"/>
            <a:ext cx="4762500" cy="1600200"/>
          </a:xfrm>
          <a:prstGeom prst="roundRect">
            <a:avLst>
              <a:gd name="adj" fmla="val 4762"/>
            </a:avLst>
          </a:prstGeom>
          <a:solidFill>
            <a:srgbClr val="FFF9EE"/>
          </a:solidFill>
          <a:ln w="11430">
            <a:solidFill>
              <a:srgbClr val="D8BE96"/>
            </a:solidFill>
          </a:ln>
        </p:spPr>
      </p:sp>
      <p:sp>
        <p:nvSpPr>
          <p:cNvPr id="9" name="圆角矩形 8"/>
          <p:cNvSpPr>
            <a:spLocks noGrp="1"/>
          </p:cNvSpPr>
          <p:nvPr/>
        </p:nvSpPr>
        <p:spPr>
          <a:xfrm>
            <a:off x="6800850" y="1943100"/>
            <a:ext cx="4762500" cy="1600200"/>
          </a:xfrm>
          <a:prstGeom prst="roundRect">
            <a:avLst>
              <a:gd name="adj" fmla="val 4762"/>
            </a:avLst>
          </a:prstGeom>
          <a:solidFill>
            <a:srgbClr val="EBD6BD"/>
          </a:solidFill>
          <a:ln w="11430">
            <a:solidFill>
              <a:srgbClr val="D8BE96"/>
            </a:solidFill>
          </a:ln>
        </p:spPr>
      </p:sp>
      <p:sp>
        <p:nvSpPr>
          <p:cNvPr id="10" name="圆角矩形 9"/>
          <p:cNvSpPr>
            <a:spLocks noGrp="1"/>
          </p:cNvSpPr>
          <p:nvPr/>
        </p:nvSpPr>
        <p:spPr>
          <a:xfrm>
            <a:off x="781050" y="2095500"/>
            <a:ext cx="304800" cy="304800"/>
          </a:xfrm>
          <a:prstGeom prst="roundRect">
            <a:avLst>
              <a:gd name="adj" fmla="val 25000"/>
            </a:avLst>
          </a:prstGeom>
          <a:solidFill>
            <a:srgbClr val="B64630"/>
          </a:solidFill>
          <a:ln w="0">
            <a:noFill/>
          </a:ln>
        </p:spPr>
        <p:txBody>
          <a:bodyPr anchor="ctr">
            <a:normAutofit fontScale="93639"/>
          </a:bodyPr>
          <a:lstStyle/>
          <a:p>
            <a:pPr algn="ctr">
              <a:buNone/>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1</a:t>
            </a:r>
            <a:endParaRPr sz="1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219200" y="2095500"/>
            <a:ext cx="4000500" cy="1286510"/>
          </a:xfrm>
          <a:prstGeom prst="rect">
            <a:avLst/>
          </a:prstGeom>
          <a:noFill/>
          <a:ln w="0">
            <a:noFill/>
          </a:ln>
        </p:spPr>
        <p:txBody>
          <a:bodyPr anchor="t">
            <a:normAutofit fontScale="90000"/>
          </a:bodyPr>
          <a:lstStyle/>
          <a:p>
            <a:pPr algn="l">
              <a:lnSpc>
                <a:spcPct val="12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r>
              <a:rPr sz="1000" b="0" i="0">
                <a:solidFill>
                  <a:srgbClr val="655F56"/>
                </a:solidFill>
                <a:latin typeface="微软雅黑" panose="020B0503020204020204" charset="-122"/>
                <a:ea typeface="微软雅黑" panose="020B0503020204020204" charset="-122"/>
                <a:cs typeface="微软雅黑" panose="020B0503020204020204" charset="-122"/>
              </a:rPr>
              <a:t>In museums, </a:t>
            </a:r>
            <a:r>
              <a:rPr sz="10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games </a:t>
            </a:r>
            <a:r>
              <a:rPr sz="1000" b="0" i="0">
                <a:solidFill>
                  <a:srgbClr val="655F56"/>
                </a:solidFill>
                <a:latin typeface="微软雅黑" panose="020B0503020204020204" charset="-122"/>
                <a:ea typeface="微软雅黑" panose="020B0503020204020204" charset="-122"/>
                <a:cs typeface="微软雅黑" panose="020B0503020204020204" charset="-122"/>
              </a:rPr>
              <a:t>are uniquely positioned as tools for </a:t>
            </a:r>
            <a:r>
              <a:rPr sz="10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scaffolding interaction,</a:t>
            </a:r>
            <a:r>
              <a:rPr sz="1000" b="0" i="0">
                <a:solidFill>
                  <a:srgbClr val="655F56"/>
                </a:solidFill>
                <a:latin typeface="微软雅黑" panose="020B0503020204020204" charset="-122"/>
                <a:ea typeface="微软雅黑" panose="020B0503020204020204" charset="-122"/>
                <a:cs typeface="微软雅黑" panose="020B0503020204020204" charset="-122"/>
              </a:rPr>
              <a:t> offering structured and exploratory experiences that </a:t>
            </a:r>
            <a:r>
              <a:rPr sz="10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guide visitors through complex ideas</a:t>
            </a:r>
            <a:r>
              <a:rPr sz="1000" b="0" i="0">
                <a:solidFill>
                  <a:srgbClr val="655F56"/>
                </a:solidFill>
                <a:latin typeface="微软雅黑" panose="020B0503020204020204" charset="-122"/>
                <a:ea typeface="微软雅黑" panose="020B0503020204020204" charset="-122"/>
                <a:cs typeface="微软雅黑" panose="020B0503020204020204" charset="-122"/>
              </a:rPr>
              <a:t> while adapting to their individual needs [41]. </a:t>
            </a:r>
            <a:endParaRPr sz="100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2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endParaRPr sz="100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20000"/>
              </a:lnSpc>
              <a:buNone/>
              <a:defRPr sz="1050" b="0" i="0">
                <a:solidFill>
                  <a:srgbClr val="655F56"/>
                </a:solidFill>
                <a:latin typeface="微软雅黑" panose="020B0503020204020204" charset="-122"/>
                <a:ea typeface="微软雅黑" panose="020B0503020204020204" charset="-122"/>
                <a:cs typeface="微软雅黑" panose="020B0503020204020204" charset="-122"/>
              </a:defRPr>
            </a:pPr>
            <a:r>
              <a:rPr sz="1000" b="0" i="0">
                <a:solidFill>
                  <a:srgbClr val="655F56"/>
                </a:solidFill>
                <a:latin typeface="微软雅黑" panose="020B0503020204020204" charset="-122"/>
                <a:ea typeface="微软雅黑" panose="020B0503020204020204" charset="-122"/>
                <a:cs typeface="微软雅黑" panose="020B0503020204020204" charset="-122"/>
              </a:rPr>
              <a:t>在博物馆中，游戏作为促进互动的工具具有独特优势，能够提供结构化且探索性的体验，引导参观者理解复杂概念，同时根据个体需求进行调整[41]。</a:t>
            </a:r>
            <a:endParaRPr sz="100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2" name="右箭头 11"/>
          <p:cNvSpPr>
            <a:spLocks noGrp="1"/>
          </p:cNvSpPr>
          <p:nvPr/>
        </p:nvSpPr>
        <p:spPr>
          <a:xfrm>
            <a:off x="5619750" y="2543175"/>
            <a:ext cx="952500" cy="438150"/>
          </a:xfrm>
          <a:prstGeom prst="rightArrow">
            <a:avLst/>
          </a:prstGeom>
          <a:solidFill>
            <a:srgbClr val="B64630"/>
          </a:solidFill>
          <a:ln w="0">
            <a:noFill/>
          </a:ln>
        </p:spPr>
      </p:sp>
      <p:sp>
        <p:nvSpPr>
          <p:cNvPr id="13" name="矩形 12"/>
          <p:cNvSpPr>
            <a:spLocks noGrp="1"/>
          </p:cNvSpPr>
          <p:nvPr/>
        </p:nvSpPr>
        <p:spPr>
          <a:xfrm>
            <a:off x="7048500" y="2152650"/>
            <a:ext cx="4238625" cy="457200"/>
          </a:xfrm>
          <a:prstGeom prst="rect">
            <a:avLst/>
          </a:prstGeom>
          <a:noFill/>
          <a:ln w="0">
            <a:noFill/>
          </a:ln>
        </p:spPr>
        <p:txBody>
          <a:bodyPr anchor="t">
            <a:normAutofit fontScale="73592"/>
          </a:bodyPr>
          <a:lstStyle/>
          <a:p>
            <a:pPr algn="l">
              <a:lnSpc>
                <a:spcPct val="100000"/>
              </a:lnSpc>
              <a:buNone/>
              <a:defRPr sz="1425" b="1"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Games turn museum visits into active exploration</a:t>
            </a:r>
            <a:endParaRPr sz="1425"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425" b="1"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游戏将参观转化为主动探索</a:t>
            </a:r>
            <a:endParaRPr sz="1425"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7048500" y="2535555"/>
            <a:ext cx="4238625" cy="942340"/>
          </a:xfrm>
          <a:prstGeom prst="rect">
            <a:avLst/>
          </a:prstGeom>
          <a:noFill/>
          <a:ln w="0">
            <a:noFill/>
          </a:ln>
        </p:spPr>
        <p:txBody>
          <a:bodyPr anchor="t">
            <a:normAutofit fontScale="71650"/>
          </a:bodyPr>
          <a:lstStyle/>
          <a:p>
            <a:pPr algn="l">
              <a:lnSpc>
                <a:spcPct val="100000"/>
              </a:lnSpc>
              <a:buNone/>
              <a:defRPr sz="1125" b="0"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将游戏融入参观过程，可以通过目标、探索和互动引导游客理解景点内容，提高参与感与整体参观体验。</a:t>
            </a:r>
            <a:endParaRPr sz="1425">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125" b="0"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Integrating games into a visit can guide understanding through goals, exploration, and interaction, creating a more engaging museum experience.</a:t>
            </a:r>
            <a:endParaRPr sz="1425"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647700" y="3752850"/>
            <a:ext cx="4762500" cy="1885950"/>
          </a:xfrm>
          <a:prstGeom prst="roundRect">
            <a:avLst>
              <a:gd name="adj" fmla="val 4040"/>
            </a:avLst>
          </a:prstGeom>
          <a:solidFill>
            <a:srgbClr val="FFF9EE"/>
          </a:solidFill>
          <a:ln w="11430">
            <a:solidFill>
              <a:srgbClr val="D8BE96"/>
            </a:solidFill>
          </a:ln>
        </p:spPr>
      </p:sp>
      <p:sp>
        <p:nvSpPr>
          <p:cNvPr id="16" name="圆角矩形 15"/>
          <p:cNvSpPr>
            <a:spLocks noGrp="1"/>
          </p:cNvSpPr>
          <p:nvPr/>
        </p:nvSpPr>
        <p:spPr>
          <a:xfrm>
            <a:off x="6800850" y="3752850"/>
            <a:ext cx="4762500" cy="1885950"/>
          </a:xfrm>
          <a:prstGeom prst="roundRect">
            <a:avLst>
              <a:gd name="adj" fmla="val 4040"/>
            </a:avLst>
          </a:prstGeom>
          <a:solidFill>
            <a:srgbClr val="EBD6BD"/>
          </a:solidFill>
          <a:ln w="11430">
            <a:solidFill>
              <a:srgbClr val="D8BE96"/>
            </a:solidFill>
          </a:ln>
        </p:spPr>
      </p:sp>
      <p:sp>
        <p:nvSpPr>
          <p:cNvPr id="17" name="圆角矩形 16"/>
          <p:cNvSpPr>
            <a:spLocks noGrp="1"/>
          </p:cNvSpPr>
          <p:nvPr/>
        </p:nvSpPr>
        <p:spPr>
          <a:xfrm>
            <a:off x="781050" y="3905250"/>
            <a:ext cx="304800" cy="304800"/>
          </a:xfrm>
          <a:prstGeom prst="roundRect">
            <a:avLst>
              <a:gd name="adj" fmla="val 25000"/>
            </a:avLst>
          </a:prstGeom>
          <a:solidFill>
            <a:srgbClr val="B64630"/>
          </a:solidFill>
          <a:ln w="0">
            <a:noFill/>
          </a:ln>
        </p:spPr>
        <p:txBody>
          <a:bodyPr anchor="ctr">
            <a:normAutofit fontScale="93639"/>
          </a:bodyPr>
          <a:lstStyle/>
          <a:p>
            <a:pPr algn="ctr">
              <a:buNone/>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2</a:t>
            </a:r>
            <a:endParaRPr sz="1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127125" y="3861435"/>
            <a:ext cx="4264025" cy="1798320"/>
          </a:xfrm>
          <a:prstGeom prst="rect">
            <a:avLst/>
          </a:prstGeom>
          <a:noFill/>
          <a:ln w="0">
            <a:noFill/>
          </a:ln>
        </p:spPr>
        <p:txBody>
          <a:bodyPr anchor="t">
            <a:noAutofit/>
          </a:bodyPr>
          <a:lstStyle/>
          <a:p>
            <a:pPr algn="l">
              <a:lnSpc>
                <a:spcPct val="130000"/>
              </a:lnSpc>
              <a:buNone/>
              <a:defRPr sz="975" b="0" i="0">
                <a:solidFill>
                  <a:srgbClr val="655F56"/>
                </a:solidFill>
                <a:latin typeface="微软雅黑" panose="020B0503020204020204" charset="-122"/>
                <a:ea typeface="微软雅黑" panose="020B0503020204020204" charset="-122"/>
                <a:cs typeface="微软雅黑" panose="020B0503020204020204" charset="-122"/>
              </a:defRPr>
            </a:pPr>
            <a:r>
              <a:rPr sz="6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Scaffolding, </a:t>
            </a:r>
            <a:r>
              <a:rPr sz="600" b="0" i="0">
                <a:solidFill>
                  <a:srgbClr val="655F56"/>
                </a:solidFill>
                <a:latin typeface="微软雅黑" panose="020B0503020204020204" charset="-122"/>
                <a:ea typeface="微软雅黑" panose="020B0503020204020204" charset="-122"/>
                <a:cs typeface="微软雅黑" panose="020B0503020204020204" charset="-122"/>
              </a:rPr>
              <a:t>rooted in Vygotsky's concept of the zone of proximal development, refers to the structured support provided to learners as they navigate new content, gradually reducing this support as independence increases [74].</a:t>
            </a:r>
            <a:endParaRPr sz="60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975" b="0" i="0">
                <a:solidFill>
                  <a:srgbClr val="655F56"/>
                </a:solidFill>
                <a:latin typeface="微软雅黑" panose="020B0503020204020204" charset="-122"/>
                <a:ea typeface="微软雅黑" panose="020B0503020204020204" charset="-122"/>
                <a:cs typeface="微软雅黑" panose="020B0503020204020204" charset="-122"/>
              </a:defRPr>
            </a:pPr>
            <a:r>
              <a:rPr sz="600" b="0" i="0">
                <a:solidFill>
                  <a:srgbClr val="655F56"/>
                </a:solidFill>
                <a:latin typeface="微软雅黑" panose="020B0503020204020204" charset="-122"/>
                <a:ea typeface="微软雅黑" panose="020B0503020204020204" charset="-122"/>
                <a:cs typeface="微软雅黑" panose="020B0503020204020204" charset="-122"/>
              </a:rPr>
              <a:t>支架式学习源于维果茨基的“最近发展区”理论，指的是在学习者接触新内容时所提供的有条理的支持，随着其独立性增强，支持程度逐步减少[74]。</a:t>
            </a:r>
            <a:endParaRPr sz="60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975" b="0" i="0">
                <a:solidFill>
                  <a:srgbClr val="655F56"/>
                </a:solidFill>
                <a:latin typeface="微软雅黑" panose="020B0503020204020204" charset="-122"/>
                <a:ea typeface="微软雅黑" panose="020B0503020204020204" charset="-122"/>
                <a:cs typeface="微软雅黑" panose="020B0503020204020204" charset="-122"/>
              </a:defRPr>
            </a:pPr>
            <a:r>
              <a:rPr sz="600" b="0" i="0">
                <a:solidFill>
                  <a:srgbClr val="655F56"/>
                </a:solidFill>
                <a:latin typeface="微软雅黑" panose="020B0503020204020204" charset="-122"/>
                <a:ea typeface="微软雅黑" panose="020B0503020204020204" charset="-122"/>
                <a:cs typeface="微软雅黑" panose="020B0503020204020204" charset="-122"/>
              </a:rPr>
              <a:t> In the context of game-based learning, scaffolding is embedded through mechanisms such as prompts, feedback, and progression systems that </a:t>
            </a:r>
            <a:r>
              <a:rPr sz="6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adapt to the learner's skill level, fostering curiosity while avoiding frustration </a:t>
            </a:r>
            <a:r>
              <a:rPr sz="600" b="0" i="0">
                <a:solidFill>
                  <a:srgbClr val="655F56"/>
                </a:solidFill>
                <a:latin typeface="微软雅黑" panose="020B0503020204020204" charset="-122"/>
                <a:ea typeface="微软雅黑" panose="020B0503020204020204" charset="-122"/>
                <a:cs typeface="微软雅黑" panose="020B0503020204020204" charset="-122"/>
              </a:rPr>
              <a:t>[22, 25, 68]. For museums, where audiences range widely in age, background, and familiarity with both content and technology, scaffolding is a critical design principle that </a:t>
            </a:r>
            <a:r>
              <a:rPr sz="600"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ensures games and interactive experiences remain both accessible and meaningful </a:t>
            </a:r>
            <a:r>
              <a:rPr sz="600" b="0" i="0">
                <a:solidFill>
                  <a:srgbClr val="655F56"/>
                </a:solidFill>
                <a:latin typeface="微软雅黑" panose="020B0503020204020204" charset="-122"/>
                <a:ea typeface="微软雅黑" panose="020B0503020204020204" charset="-122"/>
                <a:cs typeface="微软雅黑" panose="020B0503020204020204" charset="-122"/>
              </a:rPr>
              <a:t>[26].</a:t>
            </a:r>
            <a:endParaRPr sz="60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975" b="0" i="0">
                <a:solidFill>
                  <a:srgbClr val="655F56"/>
                </a:solidFill>
                <a:latin typeface="微软雅黑" panose="020B0503020204020204" charset="-122"/>
                <a:ea typeface="微软雅黑" panose="020B0503020204020204" charset="-122"/>
                <a:cs typeface="微软雅黑" panose="020B0503020204020204" charset="-122"/>
              </a:defRPr>
            </a:pPr>
            <a:r>
              <a:rPr sz="600" b="0" i="0">
                <a:solidFill>
                  <a:srgbClr val="655F56"/>
                </a:solidFill>
                <a:latin typeface="微软雅黑" panose="020B0503020204020204" charset="-122"/>
                <a:ea typeface="微软雅黑" panose="020B0503020204020204" charset="-122"/>
                <a:cs typeface="微软雅黑" panose="020B0503020204020204" charset="-122"/>
              </a:rPr>
              <a:t>在基于游戏的学习环境中，支架式设计通过提示、反馈和进度系统等机制实现，这些机制会根据学习者的技能水平进行调整，激发好奇心的同时避免挫败感[22, 25, 68]。对于观众年龄、背景以及对内容和技术熟悉程度差异较大的博物馆而言，支架式设计是一项关键的设计原则，有助于确保游戏和互动体验既易于接触又富有意义[26]。</a:t>
            </a:r>
            <a:endParaRPr sz="60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9" name="右箭头 18"/>
          <p:cNvSpPr>
            <a:spLocks noGrp="1"/>
          </p:cNvSpPr>
          <p:nvPr/>
        </p:nvSpPr>
        <p:spPr>
          <a:xfrm>
            <a:off x="5619750" y="4476750"/>
            <a:ext cx="952500" cy="438150"/>
          </a:xfrm>
          <a:prstGeom prst="rightArrow">
            <a:avLst/>
          </a:prstGeom>
          <a:solidFill>
            <a:srgbClr val="B64630"/>
          </a:solidFill>
          <a:ln w="0">
            <a:noFill/>
          </a:ln>
        </p:spPr>
      </p:sp>
      <p:sp>
        <p:nvSpPr>
          <p:cNvPr id="20" name="矩形 19"/>
          <p:cNvSpPr>
            <a:spLocks noGrp="1"/>
          </p:cNvSpPr>
          <p:nvPr/>
        </p:nvSpPr>
        <p:spPr>
          <a:xfrm>
            <a:off x="7103745" y="3861435"/>
            <a:ext cx="4238625" cy="457200"/>
          </a:xfrm>
          <a:prstGeom prst="rect">
            <a:avLst/>
          </a:prstGeom>
          <a:noFill/>
          <a:ln w="0">
            <a:noFill/>
          </a:ln>
        </p:spPr>
        <p:txBody>
          <a:bodyPr anchor="t">
            <a:normAutofit/>
          </a:bodyPr>
          <a:lstStyle/>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150" b="0" i="0">
                <a:solidFill>
                  <a:srgbClr val="253532"/>
                </a:solidFill>
                <a:latin typeface="微软雅黑" panose="020B0503020204020204" charset="-122"/>
                <a:ea typeface="微软雅黑" panose="020B0503020204020204" charset="-122"/>
                <a:cs typeface="微软雅黑" panose="020B0503020204020204" charset="-122"/>
              </a:rPr>
              <a:t>Adaptive scaffolding keeps challenges meaningful</a:t>
            </a:r>
            <a:endParaRPr sz="1150"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150" b="0" i="0">
                <a:solidFill>
                  <a:srgbClr val="253532"/>
                </a:solidFill>
                <a:latin typeface="微软雅黑" panose="020B0503020204020204" charset="-122"/>
                <a:ea typeface="微软雅黑" panose="020B0503020204020204" charset="-122"/>
                <a:cs typeface="微软雅黑" panose="020B0503020204020204" charset="-122"/>
              </a:rPr>
              <a:t>自适应“支架式教学”让挑战保持合理</a:t>
            </a:r>
            <a:endParaRPr sz="1150"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7103745" y="4365625"/>
            <a:ext cx="4238625" cy="895350"/>
          </a:xfrm>
          <a:prstGeom prst="rect">
            <a:avLst/>
          </a:prstGeom>
          <a:noFill/>
          <a:ln w="0">
            <a:noFill/>
          </a:ln>
        </p:spPr>
        <p:txBody>
          <a:bodyPr anchor="t">
            <a:noAutofit/>
          </a:bodyPr>
          <a:lstStyle/>
          <a:p>
            <a:pPr algn="l">
              <a:lnSpc>
                <a:spcPct val="100000"/>
              </a:lnSpc>
              <a:buNone/>
              <a:defRPr sz="1125" b="0" i="0">
                <a:solidFill>
                  <a:srgbClr val="253532"/>
                </a:solidFill>
                <a:latin typeface="微软雅黑" panose="020B0503020204020204" charset="-122"/>
                <a:ea typeface="微软雅黑" panose="020B0503020204020204" charset="-122"/>
                <a:cs typeface="微软雅黑" panose="020B0503020204020204" charset="-122"/>
              </a:defRPr>
            </a:pPr>
            <a:r>
              <a:rPr sz="900" b="0" i="0">
                <a:solidFill>
                  <a:srgbClr val="253532"/>
                </a:solidFill>
                <a:latin typeface="微软雅黑" panose="020B0503020204020204" charset="-122"/>
                <a:ea typeface="微软雅黑" panose="020B0503020204020204" charset="-122"/>
                <a:cs typeface="微软雅黑" panose="020B0503020204020204" charset="-122"/>
              </a:rPr>
              <a:t>个性化调整--“支架式教学”，根据不同游客的能力，提供不同难度的解密问题，避免游客沮丧的同时，确保游戏和互动体验既易于理解，又具有意义，防止因为题目难度过低或者过高，让用户丧失使用兴趣。</a:t>
            </a:r>
            <a:endParaRPr sz="900"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125" b="0" i="0">
                <a:solidFill>
                  <a:srgbClr val="253532"/>
                </a:solidFill>
                <a:latin typeface="微软雅黑" panose="020B0503020204020204" charset="-122"/>
                <a:ea typeface="微软雅黑" panose="020B0503020204020204" charset="-122"/>
                <a:cs typeface="微软雅黑" panose="020B0503020204020204" charset="-122"/>
              </a:defRPr>
            </a:pPr>
            <a:r>
              <a:rPr sz="900" b="0" i="0">
                <a:solidFill>
                  <a:srgbClr val="253532"/>
                </a:solidFill>
                <a:latin typeface="微软雅黑" panose="020B0503020204020204" charset="-122"/>
                <a:ea typeface="微软雅黑" panose="020B0503020204020204" charset="-122"/>
                <a:cs typeface="微软雅黑" panose="020B0503020204020204" charset="-122"/>
              </a:rPr>
              <a:t>Personalized adjustment - "Scaffolded Instruction": Based on the different abilities of tourists, different levels of decryption questions are provided to avoid tourists' frustration while ensuring that the game and interactive experience is both easy to understand and meaningful, and preventing users from losing interest due to either too easy or too difficult questions.</a:t>
            </a:r>
            <a:endParaRPr sz="900"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647700" y="5886450"/>
            <a:ext cx="10915650" cy="14288"/>
          </a:xfrm>
          <a:prstGeom prst="rect">
            <a:avLst/>
          </a:prstGeom>
          <a:solidFill>
            <a:srgbClr val="D8BE96"/>
          </a:solidFill>
          <a:ln w="0">
            <a:noFill/>
          </a:ln>
        </p:spPr>
      </p:sp>
      <p:sp>
        <p:nvSpPr>
          <p:cNvPr id="23" name="矩形 22"/>
          <p:cNvSpPr>
            <a:spLocks noGrp="1"/>
          </p:cNvSpPr>
          <p:nvPr/>
        </p:nvSpPr>
        <p:spPr>
          <a:xfrm>
            <a:off x="685800" y="6029325"/>
            <a:ext cx="10839450" cy="457200"/>
          </a:xfrm>
          <a:prstGeom prst="rect">
            <a:avLst/>
          </a:prstGeom>
          <a:noFill/>
          <a:ln w="0">
            <a:noFill/>
          </a:ln>
        </p:spPr>
        <p:txBody>
          <a:bodyPr anchor="t">
            <a:normAutofit/>
          </a:bodyPr>
          <a:lstStyle/>
          <a:p>
            <a:pPr algn="l">
              <a:lnSpc>
                <a:spcPct val="100000"/>
              </a:lnSpc>
              <a:buNone/>
              <a:defRPr sz="900" b="0" i="0">
                <a:solidFill>
                  <a:srgbClr val="655F56"/>
                </a:solidFill>
                <a:latin typeface="微软雅黑" panose="020B0503020204020204" charset="-122"/>
                <a:ea typeface="微软雅黑" panose="020B0503020204020204" charset="-122"/>
                <a:cs typeface="微软雅黑" panose="020B0503020204020204" charset="-122"/>
              </a:defRPr>
            </a:pPr>
            <a:r>
              <a:rPr sz="900" b="0" i="0">
                <a:solidFill>
                  <a:srgbClr val="655F56"/>
                </a:solidFill>
                <a:latin typeface="微软雅黑" panose="020B0503020204020204" charset="-122"/>
                <a:ea typeface="微软雅黑" panose="020B0503020204020204" charset="-122"/>
                <a:cs typeface="微软雅黑" panose="020B0503020204020204" charset="-122"/>
              </a:rPr>
              <a:t>Grace D, T., Abel, C., &amp; Salen Tekinbaş, K. (2025). Learning curiosity through play: Exploring the role of games and interactive design in museums. In Proceedings of the 2025 CHI Conference on Human Factors in Computing Systems (CHI ’25), Article 655, 1–14. ACM. https://doi.org/10.1145/3706598.3713164</a:t>
            </a:r>
            <a:endParaRPr sz="900" b="0" i="0">
              <a:solidFill>
                <a:srgbClr val="655F5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sp>
        <p:nvSpPr>
          <p:cNvPr id="25" name="矩形 24"/>
          <p:cNvSpPr>
            <a:spLocks noGrp="1"/>
          </p:cNvSpPr>
          <p:nvPr/>
        </p:nvSpPr>
        <p:spPr>
          <a:xfrm>
            <a:off x="0" y="0"/>
            <a:ext cx="190500" cy="6858000"/>
          </a:xfrm>
          <a:prstGeom prst="rect">
            <a:avLst/>
          </a:prstGeom>
          <a:solidFill>
            <a:srgbClr val="B64630"/>
          </a:solidFill>
          <a:ln w="0">
            <a:noFill/>
          </a:ln>
        </p:spPr>
      </p:sp>
      <p:sp>
        <p:nvSpPr>
          <p:cNvPr id="2" name="矩形 1"/>
          <p:cNvSpPr>
            <a:spLocks noGrp="1"/>
          </p:cNvSpPr>
          <p:nvPr/>
        </p:nvSpPr>
        <p:spPr>
          <a:xfrm>
            <a:off x="11144250" y="514350"/>
            <a:ext cx="381000" cy="190500"/>
          </a:xfrm>
          <a:prstGeom prst="rect">
            <a:avLst/>
          </a:prstGeom>
          <a:noFill/>
          <a:ln w="0">
            <a:noFill/>
          </a:ln>
        </p:spPr>
        <p:txBody>
          <a:bodyPr anchor="t">
            <a:normAutofit fontScale="66667"/>
          </a:bodyPr>
          <a:lstStyle/>
          <a:p>
            <a:pPr algn="r">
              <a:lnSpc>
                <a:spcPct val="100000"/>
              </a:lnSpc>
              <a:buNone/>
              <a:defRPr sz="975" b="1" i="0">
                <a:solidFill>
                  <a:srgbClr val="B64630"/>
                </a:solidFill>
                <a:latin typeface="微软雅黑" panose="020B0503020204020204" charset="-122"/>
                <a:ea typeface="微软雅黑" panose="020B0503020204020204" charset="-122"/>
                <a:cs typeface="微软雅黑" panose="020B0503020204020204" charset="-122"/>
              </a:defRPr>
            </a:pPr>
            <a:r>
              <a:rPr sz="975" b="1" i="0">
                <a:solidFill>
                  <a:srgbClr val="B64630"/>
                </a:solidFill>
                <a:latin typeface="微软雅黑" panose="020B0503020204020204" charset="-122"/>
                <a:ea typeface="微软雅黑" panose="020B0503020204020204" charset="-122"/>
                <a:cs typeface="微软雅黑" panose="020B0503020204020204" charset="-122"/>
              </a:rPr>
              <a:t>08</a:t>
            </a:r>
            <a:endParaRPr sz="9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781050" y="714375"/>
            <a:ext cx="10287000" cy="457200"/>
          </a:xfrm>
          <a:prstGeom prst="rect">
            <a:avLst/>
          </a:prstGeom>
          <a:noFill/>
          <a:ln w="0">
            <a:noFill/>
          </a:ln>
        </p:spPr>
        <p:txBody>
          <a:bodyPr anchor="t">
            <a:normAutofit fontScale="90000" lnSpcReduction="10000"/>
          </a:bodyPr>
          <a:lstStyle/>
          <a:p>
            <a:pPr algn="l">
              <a:lnSpc>
                <a:spcPct val="100000"/>
              </a:lnSpc>
              <a:buNone/>
              <a:defRPr sz="1425" b="0" i="0">
                <a:solidFill>
                  <a:srgbClr val="655F56"/>
                </a:solidFill>
                <a:latin typeface="微软雅黑" panose="020B0503020204020204" charset="-122"/>
                <a:ea typeface="微软雅黑" panose="020B0503020204020204" charset="-122"/>
                <a:cs typeface="微软雅黑" panose="020B0503020204020204" charset="-122"/>
              </a:defRPr>
            </a:pPr>
            <a:r>
              <a:rPr sz="1350"/>
              <a:t>The collision of tradition and fashion: How anthropomorphizing museum exhibits influences cultural inheritance</a:t>
            </a:r>
            <a:endParaRPr sz="1350"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425" b="0" i="0">
                <a:solidFill>
                  <a:srgbClr val="655F56"/>
                </a:solidFill>
                <a:latin typeface="微软雅黑" panose="020B0503020204020204" charset="-122"/>
                <a:ea typeface="微软雅黑" panose="020B0503020204020204" charset="-122"/>
                <a:cs typeface="微软雅黑" panose="020B0503020204020204" charset="-122"/>
              </a:defRPr>
            </a:pPr>
            <a:r>
              <a:rPr sz="1350"/>
              <a:t>传统与时尚的碰撞：拟人化博物馆展品如何影响文化遗产传承</a:t>
            </a:r>
            <a:endParaRPr sz="1350"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57225" y="1304925"/>
            <a:ext cx="733425" cy="57150"/>
          </a:xfrm>
          <a:prstGeom prst="rect">
            <a:avLst/>
          </a:prstGeom>
          <a:solidFill>
            <a:srgbClr val="B64630"/>
          </a:solidFill>
          <a:ln w="0">
            <a:noFill/>
          </a:ln>
        </p:spPr>
      </p:sp>
      <p:sp>
        <p:nvSpPr>
          <p:cNvPr id="6" name="矩形 5"/>
          <p:cNvSpPr>
            <a:spLocks noGrp="1"/>
          </p:cNvSpPr>
          <p:nvPr/>
        </p:nvSpPr>
        <p:spPr>
          <a:xfrm>
            <a:off x="666750" y="1543050"/>
            <a:ext cx="4953000" cy="228600"/>
          </a:xfrm>
          <a:prstGeom prst="rect">
            <a:avLst/>
          </a:prstGeom>
          <a:noFill/>
          <a:ln w="0">
            <a:noFill/>
          </a:ln>
        </p:spPr>
        <p:txBody>
          <a:bodyPr anchor="t">
            <a:normAutofit fontScale="60588"/>
          </a:bodyPr>
          <a:lstStyle/>
          <a:p>
            <a:pPr algn="l">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r>
              <a:t>ORIGINAL TEXT  文献原文</a:t>
            </a: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191375" y="1543050"/>
            <a:ext cx="4238625" cy="228600"/>
          </a:xfrm>
          <a:prstGeom prst="rect">
            <a:avLst/>
          </a:prstGeom>
          <a:noFill/>
          <a:ln w="0">
            <a:noFill/>
          </a:ln>
        </p:spPr>
        <p:txBody>
          <a:bodyPr anchor="t">
            <a:normAutofit fontScale="70588"/>
          </a:bodyPr>
          <a:lstStyle/>
          <a:p>
            <a:pPr algn="l">
              <a:lnSpc>
                <a:spcPct val="100000"/>
              </a:lnSpc>
              <a:buNone/>
              <a:defRPr sz="1275" b="1" i="0">
                <a:solidFill>
                  <a:srgbClr val="B64630"/>
                </a:solidFill>
                <a:latin typeface="微软雅黑" panose="020B0503020204020204" charset="-122"/>
                <a:ea typeface="微软雅黑" panose="020B0503020204020204" charset="-122"/>
                <a:cs typeface="微软雅黑" panose="020B0503020204020204" charset="-122"/>
              </a:defRPr>
            </a:pPr>
            <a:r>
              <a:rPr sz="1275" b="1" i="0">
                <a:solidFill>
                  <a:srgbClr val="B64630"/>
                </a:solidFill>
                <a:latin typeface="微软雅黑" panose="020B0503020204020204" charset="-122"/>
                <a:ea typeface="微软雅黑" panose="020B0503020204020204" charset="-122"/>
                <a:cs typeface="微软雅黑" panose="020B0503020204020204" charset="-122"/>
              </a:rPr>
              <a:t>LITERATURE SUMMARY  文献总结</a:t>
            </a:r>
            <a:endParaRPr sz="12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47700" y="1885950"/>
            <a:ext cx="5334000" cy="1695450"/>
          </a:xfrm>
          <a:prstGeom prst="roundRect">
            <a:avLst>
              <a:gd name="adj" fmla="val 4494"/>
            </a:avLst>
          </a:prstGeom>
          <a:solidFill>
            <a:srgbClr val="FFF9EE"/>
          </a:solidFill>
          <a:ln w="11430">
            <a:solidFill>
              <a:srgbClr val="D8BE96"/>
            </a:solidFill>
          </a:ln>
        </p:spPr>
      </p:sp>
      <p:sp>
        <p:nvSpPr>
          <p:cNvPr id="9" name="圆角矩形 8"/>
          <p:cNvSpPr>
            <a:spLocks noGrp="1"/>
          </p:cNvSpPr>
          <p:nvPr/>
        </p:nvSpPr>
        <p:spPr>
          <a:xfrm>
            <a:off x="7067550" y="1885950"/>
            <a:ext cx="4495800" cy="1695450"/>
          </a:xfrm>
          <a:prstGeom prst="roundRect">
            <a:avLst>
              <a:gd name="adj" fmla="val 4494"/>
            </a:avLst>
          </a:prstGeom>
          <a:solidFill>
            <a:srgbClr val="EBD6BD"/>
          </a:solidFill>
          <a:ln w="11430">
            <a:solidFill>
              <a:srgbClr val="D8BE96"/>
            </a:solidFill>
          </a:ln>
        </p:spPr>
      </p:sp>
      <p:sp>
        <p:nvSpPr>
          <p:cNvPr id="10" name="圆角矩形 9"/>
          <p:cNvSpPr>
            <a:spLocks noGrp="1"/>
          </p:cNvSpPr>
          <p:nvPr/>
        </p:nvSpPr>
        <p:spPr>
          <a:xfrm>
            <a:off x="781050" y="2038350"/>
            <a:ext cx="304800" cy="304800"/>
          </a:xfrm>
          <a:prstGeom prst="roundRect">
            <a:avLst>
              <a:gd name="adj" fmla="val 25000"/>
            </a:avLst>
          </a:prstGeom>
          <a:solidFill>
            <a:srgbClr val="B64630"/>
          </a:solidFill>
          <a:ln w="0">
            <a:noFill/>
          </a:ln>
        </p:spPr>
        <p:txBody>
          <a:bodyPr anchor="ctr">
            <a:normAutofit fontScale="93639"/>
          </a:bodyPr>
          <a:lstStyle/>
          <a:p>
            <a:pPr algn="ctr">
              <a:buNone/>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1</a:t>
            </a:r>
            <a:endParaRPr sz="1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219200" y="2019300"/>
            <a:ext cx="4552950" cy="1390650"/>
          </a:xfrm>
          <a:prstGeom prst="rect">
            <a:avLst/>
          </a:prstGeom>
          <a:noFill/>
          <a:ln w="0">
            <a:noFill/>
          </a:ln>
        </p:spPr>
        <p:txBody>
          <a:bodyPr anchor="t">
            <a:normAutofit fontScale="89803"/>
          </a:bodyPr>
          <a:lstStyle/>
          <a:p>
            <a:pPr algn="l">
              <a:lnSpc>
                <a:spcPct val="100000"/>
              </a:lnSpc>
              <a:buNone/>
              <a:defRPr sz="865" b="0" i="0">
                <a:solidFill>
                  <a:srgbClr val="655F56"/>
                </a:solidFill>
                <a:latin typeface="微软雅黑" panose="020B0503020204020204" charset="-122"/>
                <a:ea typeface="微软雅黑" panose="020B0503020204020204" charset="-122"/>
                <a:cs typeface="微软雅黑" panose="020B0503020204020204" charset="-122"/>
              </a:defRPr>
            </a:pPr>
            <a:r>
              <a:rPr sz="865" b="0" i="0">
                <a:solidFill>
                  <a:srgbClr val="655F56"/>
                </a:solidFill>
                <a:latin typeface="微软雅黑" panose="020B0503020204020204" charset="-122"/>
                <a:ea typeface="微软雅黑" panose="020B0503020204020204" charset="-122"/>
                <a:cs typeface="微软雅黑" panose="020B0503020204020204" charset="-122"/>
              </a:rPr>
              <a:t>Verbal or visual anthropomorphic cues in interpretation motivate pro-environmental behaviors through guilt (Tam, 2019), sympathy (Caldwell &amp; Henry, 2020), or meaningful experiences (Liu, Ning, Zhang, Font, &amp; Zeng, 2024). </a:t>
            </a:r>
            <a:r>
              <a:rPr sz="865"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Cognitively, anthropomorphism satisfies effectance motivation by helping people make sense of unfamiliar entities or situations </a:t>
            </a:r>
            <a:r>
              <a:rPr sz="865" b="0" i="0">
                <a:solidFill>
                  <a:srgbClr val="655F56"/>
                </a:solidFill>
                <a:latin typeface="微软雅黑" panose="020B0503020204020204" charset="-122"/>
                <a:ea typeface="微软雅黑" panose="020B0503020204020204" charset="-122"/>
                <a:cs typeface="微软雅黑" panose="020B0503020204020204" charset="-122"/>
              </a:rPr>
              <a:t>(Epley et al., 2007).</a:t>
            </a:r>
            <a:endParaRPr sz="865" b="0" i="0">
              <a:solidFill>
                <a:srgbClr val="655F56"/>
              </a:solidFill>
              <a:latin typeface="微软雅黑" panose="020B0503020204020204" charset="-122"/>
              <a:ea typeface="微软雅黑" panose="020B0503020204020204" charset="-122"/>
              <a:cs typeface="微软雅黑" panose="020B0503020204020204" charset="-122"/>
            </a:endParaRPr>
          </a:p>
          <a:p>
            <a:endParaRPr sz="865"/>
          </a:p>
          <a:p>
            <a:pPr algn="l">
              <a:lnSpc>
                <a:spcPct val="100000"/>
              </a:lnSpc>
              <a:buNone/>
              <a:defRPr sz="865" b="0" i="0">
                <a:solidFill>
                  <a:srgbClr val="655F56"/>
                </a:solidFill>
                <a:latin typeface="微软雅黑" panose="020B0503020204020204" charset="-122"/>
                <a:ea typeface="微软雅黑" panose="020B0503020204020204" charset="-122"/>
                <a:cs typeface="微软雅黑" panose="020B0503020204020204" charset="-122"/>
              </a:defRPr>
            </a:pPr>
            <a:r>
              <a:rPr sz="865" b="0" i="0">
                <a:solidFill>
                  <a:srgbClr val="655F56"/>
                </a:solidFill>
                <a:latin typeface="微软雅黑" panose="020B0503020204020204" charset="-122"/>
                <a:ea typeface="微软雅黑" panose="020B0503020204020204" charset="-122"/>
                <a:cs typeface="微软雅黑" panose="020B0503020204020204" charset="-122"/>
              </a:rPr>
              <a:t>通过语言或视觉上的拟人化元素，可以激发人们采取环保行为，这种激励方式可以是出于负罪感（Tam，2019 年）、同情心（Caldwell 和 Henry，2020 年），或是为了获得有意义的体验（Liu、Ning、Zhang、Font 和 Zeng，2024 年）。从认知层面来看，拟人化设计有助于满足人们追求效果的需求，帮助人们更好地理解那些陌生的实体或情境（Epley 等人，2007 年）。</a:t>
            </a:r>
            <a:endParaRPr sz="86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2" name="右箭头 11"/>
          <p:cNvSpPr>
            <a:spLocks noGrp="1"/>
          </p:cNvSpPr>
          <p:nvPr/>
        </p:nvSpPr>
        <p:spPr>
          <a:xfrm>
            <a:off x="6153150" y="2524125"/>
            <a:ext cx="723900" cy="419100"/>
          </a:xfrm>
          <a:prstGeom prst="rightArrow">
            <a:avLst/>
          </a:prstGeom>
          <a:solidFill>
            <a:srgbClr val="B64630"/>
          </a:solidFill>
          <a:ln w="0">
            <a:noFill/>
          </a:ln>
        </p:spPr>
      </p:sp>
      <p:sp>
        <p:nvSpPr>
          <p:cNvPr id="13" name="矩形 12"/>
          <p:cNvSpPr>
            <a:spLocks noGrp="1"/>
          </p:cNvSpPr>
          <p:nvPr/>
        </p:nvSpPr>
        <p:spPr>
          <a:xfrm>
            <a:off x="7286625" y="2076450"/>
            <a:ext cx="4000500" cy="457200"/>
          </a:xfrm>
          <a:prstGeom prst="rect">
            <a:avLst/>
          </a:prstGeom>
          <a:noFill/>
          <a:ln w="0">
            <a:noFill/>
          </a:ln>
        </p:spPr>
        <p:txBody>
          <a:bodyPr anchor="t">
            <a:normAutofit fontScale="69325"/>
          </a:bodyPr>
          <a:lstStyle/>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Emotional engagement supports meaningful understanding</a:t>
            </a:r>
            <a:endParaRPr sz="1425"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情感投入促进意义理解</a:t>
            </a:r>
            <a:endParaRPr sz="1425"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7286625" y="2517775"/>
            <a:ext cx="4000500" cy="873125"/>
          </a:xfrm>
          <a:prstGeom prst="rect">
            <a:avLst/>
          </a:prstGeom>
          <a:noFill/>
          <a:ln w="0">
            <a:noFill/>
          </a:ln>
        </p:spPr>
        <p:txBody>
          <a:bodyPr anchor="t">
            <a:noAutofit/>
          </a:bodyPr>
          <a:lstStyle/>
          <a:p>
            <a:pPr algn="l">
              <a:lnSpc>
                <a:spcPct val="100000"/>
              </a:lnSpc>
              <a:buNone/>
              <a:defRPr sz="1090" b="0" i="0">
                <a:solidFill>
                  <a:srgbClr val="253532"/>
                </a:solidFill>
                <a:latin typeface="微软雅黑" panose="020B0503020204020204" charset="-122"/>
                <a:ea typeface="微软雅黑" panose="020B0503020204020204" charset="-122"/>
                <a:cs typeface="微软雅黑" panose="020B0503020204020204" charset="-122"/>
              </a:defRPr>
            </a:pPr>
            <a:r>
              <a:rPr sz="900" b="0" i="0">
                <a:solidFill>
                  <a:srgbClr val="253532"/>
                </a:solidFill>
                <a:latin typeface="微软雅黑" panose="020B0503020204020204" charset="-122"/>
                <a:ea typeface="微软雅黑" panose="020B0503020204020204" charset="-122"/>
                <a:cs typeface="微软雅黑" panose="020B0503020204020204" charset="-122"/>
              </a:rPr>
              <a:t>拟人化设计能够激发用户的情感需求，增强体验感，并帮助用户理解建筑或文物背后的故事、意义和价值。</a:t>
            </a:r>
            <a:endParaRPr sz="90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090" b="0" i="0">
                <a:solidFill>
                  <a:srgbClr val="253532"/>
                </a:solidFill>
                <a:latin typeface="微软雅黑" panose="020B0503020204020204" charset="-122"/>
                <a:ea typeface="微软雅黑" panose="020B0503020204020204" charset="-122"/>
                <a:cs typeface="微软雅黑" panose="020B0503020204020204" charset="-122"/>
              </a:defRPr>
            </a:pPr>
            <a:r>
              <a:rPr sz="900" b="0" i="0">
                <a:solidFill>
                  <a:srgbClr val="253532"/>
                </a:solidFill>
                <a:latin typeface="微软雅黑" panose="020B0503020204020204" charset="-122"/>
                <a:ea typeface="微软雅黑" panose="020B0503020204020204" charset="-122"/>
                <a:cs typeface="微软雅黑" panose="020B0503020204020204" charset="-122"/>
              </a:rPr>
              <a:t>Anthropomorphic design can engage visitors emotionally, strengthen the experience, and help them understand the stories, meaning, and value behind buildings or artifacts.</a:t>
            </a:r>
            <a:endParaRPr sz="900"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647700" y="3762375"/>
            <a:ext cx="5334000" cy="1885950"/>
          </a:xfrm>
          <a:prstGeom prst="roundRect">
            <a:avLst>
              <a:gd name="adj" fmla="val 4040"/>
            </a:avLst>
          </a:prstGeom>
          <a:solidFill>
            <a:srgbClr val="FFF9EE"/>
          </a:solidFill>
          <a:ln w="11430">
            <a:solidFill>
              <a:srgbClr val="D8BE96"/>
            </a:solidFill>
          </a:ln>
        </p:spPr>
      </p:sp>
      <p:sp>
        <p:nvSpPr>
          <p:cNvPr id="16" name="圆角矩形 15"/>
          <p:cNvSpPr>
            <a:spLocks noGrp="1"/>
          </p:cNvSpPr>
          <p:nvPr/>
        </p:nvSpPr>
        <p:spPr>
          <a:xfrm>
            <a:off x="7067550" y="3762375"/>
            <a:ext cx="4495800" cy="1885950"/>
          </a:xfrm>
          <a:prstGeom prst="roundRect">
            <a:avLst>
              <a:gd name="adj" fmla="val 4040"/>
            </a:avLst>
          </a:prstGeom>
          <a:solidFill>
            <a:srgbClr val="EBD6BD"/>
          </a:solidFill>
          <a:ln w="11430">
            <a:solidFill>
              <a:srgbClr val="D8BE96"/>
            </a:solidFill>
          </a:ln>
        </p:spPr>
      </p:sp>
      <p:sp>
        <p:nvSpPr>
          <p:cNvPr id="17" name="圆角矩形 16"/>
          <p:cNvSpPr>
            <a:spLocks noGrp="1"/>
          </p:cNvSpPr>
          <p:nvPr/>
        </p:nvSpPr>
        <p:spPr>
          <a:xfrm>
            <a:off x="781050" y="3914775"/>
            <a:ext cx="304800" cy="304800"/>
          </a:xfrm>
          <a:prstGeom prst="roundRect">
            <a:avLst>
              <a:gd name="adj" fmla="val 25000"/>
            </a:avLst>
          </a:prstGeom>
          <a:solidFill>
            <a:srgbClr val="B64630"/>
          </a:solidFill>
          <a:ln w="0">
            <a:noFill/>
          </a:ln>
        </p:spPr>
        <p:txBody>
          <a:bodyPr anchor="ctr">
            <a:normAutofit fontScale="93639"/>
          </a:bodyPr>
          <a:lstStyle/>
          <a:p>
            <a:pPr algn="ctr">
              <a:buNone/>
              <a:defRPr sz="1050" b="1">
                <a:solidFill>
                  <a:srgbClr val="FFFFFF"/>
                </a:solidFill>
                <a:latin typeface="微软雅黑" panose="020B0503020204020204" charset="-122"/>
                <a:ea typeface="微软雅黑" panose="020B0503020204020204" charset="-122"/>
                <a:cs typeface="微软雅黑" panose="020B0503020204020204" charset="-122"/>
              </a:defRPr>
            </a:pPr>
            <a:r>
              <a:rPr sz="1050" b="1">
                <a:solidFill>
                  <a:srgbClr val="FFFFFF"/>
                </a:solidFill>
                <a:latin typeface="微软雅黑" panose="020B0503020204020204" charset="-122"/>
                <a:ea typeface="微软雅黑" panose="020B0503020204020204" charset="-122"/>
                <a:cs typeface="微软雅黑" panose="020B0503020204020204" charset="-122"/>
              </a:rPr>
              <a:t>2</a:t>
            </a:r>
            <a:endParaRPr sz="10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219200" y="3886200"/>
            <a:ext cx="4552950" cy="1600200"/>
          </a:xfrm>
          <a:prstGeom prst="rect">
            <a:avLst/>
          </a:prstGeom>
          <a:noFill/>
          <a:ln w="0">
            <a:noFill/>
          </a:ln>
        </p:spPr>
        <p:txBody>
          <a:bodyPr anchor="t">
            <a:normAutofit fontScale="89796"/>
          </a:bodyPr>
          <a:lstStyle/>
          <a:p>
            <a:pPr algn="l">
              <a:lnSpc>
                <a:spcPct val="100000"/>
              </a:lnSpc>
              <a:buNone/>
              <a:defRPr sz="735" b="0" i="0">
                <a:solidFill>
                  <a:srgbClr val="655F56"/>
                </a:solidFill>
                <a:latin typeface="微软雅黑" panose="020B0503020204020204" charset="-122"/>
                <a:ea typeface="微软雅黑" panose="020B0503020204020204" charset="-122"/>
                <a:cs typeface="微软雅黑" panose="020B0503020204020204" charset="-122"/>
              </a:defRPr>
            </a:pPr>
            <a:r>
              <a:rPr sz="735" b="0" i="0">
                <a:solidFill>
                  <a:srgbClr val="655F56"/>
                </a:solidFill>
                <a:latin typeface="微软雅黑" panose="020B0503020204020204" charset="-122"/>
                <a:ea typeface="微软雅黑" panose="020B0503020204020204" charset="-122"/>
                <a:cs typeface="微软雅黑" panose="020B0503020204020204" charset="-122"/>
              </a:rPr>
              <a:t>Li et al. (2023) found that </a:t>
            </a:r>
            <a:r>
              <a:rPr sz="735"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museum exhibit anthropomorphism (MEA) enhances visitors' intention to know more by reducing psychological distance</a:t>
            </a:r>
            <a:r>
              <a:rPr sz="735" b="0" i="0">
                <a:solidFill>
                  <a:srgbClr val="655F56"/>
                </a:solidFill>
                <a:latin typeface="微软雅黑" panose="020B0503020204020204" charset="-122"/>
                <a:ea typeface="微软雅黑" panose="020B0503020204020204" charset="-122"/>
                <a:cs typeface="微软雅黑" panose="020B0503020204020204" charset="-122"/>
              </a:rPr>
              <a:t>, suggesting MEA's potential to</a:t>
            </a:r>
            <a:r>
              <a:rPr sz="735"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 support museums' cultural educational significance.</a:t>
            </a:r>
            <a:endParaRPr sz="735"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endParaRPr>
          </a:p>
          <a:p>
            <a:pPr algn="l">
              <a:lnSpc>
                <a:spcPct val="100000"/>
              </a:lnSpc>
              <a:buNone/>
              <a:defRPr sz="735" b="0" i="0">
                <a:solidFill>
                  <a:srgbClr val="655F56"/>
                </a:solidFill>
                <a:latin typeface="微软雅黑" panose="020B0503020204020204" charset="-122"/>
                <a:ea typeface="微软雅黑" panose="020B0503020204020204" charset="-122"/>
                <a:cs typeface="微软雅黑" panose="020B0503020204020204" charset="-122"/>
              </a:defRPr>
            </a:pPr>
            <a:r>
              <a:rPr sz="735" b="0" i="0">
                <a:solidFill>
                  <a:srgbClr val="655F56"/>
                </a:solidFill>
                <a:latin typeface="微软雅黑" panose="020B0503020204020204" charset="-122"/>
                <a:ea typeface="微软雅黑" panose="020B0503020204020204" charset="-122"/>
                <a:cs typeface="微软雅黑" panose="020B0503020204020204" charset="-122"/>
              </a:rPr>
              <a:t>As an emerging exhibition method, </a:t>
            </a:r>
            <a:r>
              <a:rPr sz="735"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MEA satisfies visitors' hedonic needs for fun and pleasure</a:t>
            </a:r>
            <a:r>
              <a:rPr sz="735" b="0" i="0">
                <a:solidFill>
                  <a:srgbClr val="655F56"/>
                </a:solidFill>
                <a:latin typeface="微软雅黑" panose="020B0503020204020204" charset="-122"/>
                <a:ea typeface="微软雅黑" panose="020B0503020204020204" charset="-122"/>
                <a:cs typeface="微软雅黑" panose="020B0503020204020204" charset="-122"/>
              </a:rPr>
              <a:t> (Melián-González, Gutiérrez-Taño, &amp; Bulchand-Gidumal, 2021),</a:t>
            </a:r>
            <a:r>
              <a:rPr sz="735"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 inspires active exploration of artifacts' meaning and value</a:t>
            </a:r>
            <a:r>
              <a:rPr sz="735" b="0" i="0">
                <a:solidFill>
                  <a:srgbClr val="655F56"/>
                </a:solidFill>
                <a:latin typeface="微软雅黑" panose="020B0503020204020204" charset="-122"/>
                <a:ea typeface="微软雅黑" panose="020B0503020204020204" charset="-122"/>
                <a:cs typeface="微软雅黑" panose="020B0503020204020204" charset="-122"/>
              </a:rPr>
              <a:t> (Epley et al., 2007; Li et al., 2023), </a:t>
            </a:r>
            <a:r>
              <a:rPr sz="735" b="0" i="0">
                <a:solidFill>
                  <a:srgbClr val="655F56"/>
                </a:solidFill>
                <a:highlight>
                  <a:srgbClr val="FFFF00"/>
                </a:highlight>
                <a:latin typeface="微软雅黑" panose="020B0503020204020204" charset="-122"/>
                <a:ea typeface="微软雅黑" panose="020B0503020204020204" charset="-122"/>
                <a:cs typeface="微软雅黑" panose="020B0503020204020204" charset="-122"/>
              </a:rPr>
              <a:t>fosters a sense of belonging and social connectio</a:t>
            </a:r>
            <a:r>
              <a:rPr sz="735" b="0" i="0">
                <a:solidFill>
                  <a:srgbClr val="655F56"/>
                </a:solidFill>
                <a:latin typeface="微软雅黑" panose="020B0503020204020204" charset="-122"/>
                <a:ea typeface="微软雅黑" panose="020B0503020204020204" charset="-122"/>
                <a:cs typeface="微软雅黑" panose="020B0503020204020204" charset="-122"/>
              </a:rPr>
              <a:t>n, and encourages a protective attitude toward artifacts (Yang et al., 2020).</a:t>
            </a:r>
            <a:endParaRPr sz="735" b="0" i="0">
              <a:solidFill>
                <a:srgbClr val="655F56"/>
              </a:solidFill>
              <a:latin typeface="微软雅黑" panose="020B0503020204020204" charset="-122"/>
              <a:ea typeface="微软雅黑" panose="020B0503020204020204" charset="-122"/>
              <a:cs typeface="微软雅黑" panose="020B0503020204020204" charset="-122"/>
            </a:endParaRPr>
          </a:p>
          <a:p>
            <a:endParaRPr sz="735"/>
          </a:p>
          <a:p>
            <a:pPr algn="l">
              <a:lnSpc>
                <a:spcPct val="100000"/>
              </a:lnSpc>
              <a:buNone/>
              <a:defRPr sz="735" b="0" i="0">
                <a:solidFill>
                  <a:srgbClr val="655F56"/>
                </a:solidFill>
                <a:latin typeface="微软雅黑" panose="020B0503020204020204" charset="-122"/>
                <a:ea typeface="微软雅黑" panose="020B0503020204020204" charset="-122"/>
                <a:cs typeface="微软雅黑" panose="020B0503020204020204" charset="-122"/>
              </a:defRPr>
            </a:pPr>
            <a:r>
              <a:rPr sz="735" b="0" i="0">
                <a:solidFill>
                  <a:srgbClr val="655F56"/>
                </a:solidFill>
                <a:latin typeface="微软雅黑" panose="020B0503020204020204" charset="-122"/>
                <a:ea typeface="微软雅黑" panose="020B0503020204020204" charset="-122"/>
                <a:cs typeface="微软雅黑" panose="020B0503020204020204" charset="-122"/>
              </a:rPr>
              <a:t>Li 等人（2023 年）的研究发现，博物馆展览中的拟人化表现能够缩短与观众的心理距离，从而增强观众想要了解更多信息的意愿，这表明拟人化表现有潜力提升博物馆的文化教育价值</a:t>
            </a:r>
            <a:endParaRPr sz="735" b="0" i="0">
              <a:solidFill>
                <a:srgbClr val="655F56"/>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735" b="0" i="0">
                <a:solidFill>
                  <a:srgbClr val="655F56"/>
                </a:solidFill>
                <a:latin typeface="微软雅黑" panose="020B0503020204020204" charset="-122"/>
                <a:ea typeface="微软雅黑" panose="020B0503020204020204" charset="-122"/>
                <a:cs typeface="微软雅黑" panose="020B0503020204020204" charset="-122"/>
              </a:defRPr>
            </a:pPr>
            <a:r>
              <a:rPr sz="735" b="0" i="0">
                <a:solidFill>
                  <a:srgbClr val="655F56"/>
                </a:solidFill>
                <a:latin typeface="微软雅黑" panose="020B0503020204020204" charset="-122"/>
                <a:ea typeface="微软雅黑" panose="020B0503020204020204" charset="-122"/>
                <a:cs typeface="微软雅黑" panose="020B0503020204020204" charset="-122"/>
              </a:rPr>
              <a:t>作为一种新兴的展览方式，拟人化表现能够满足观众对乐趣和愉悦的渴望（Melián-González、Gutiérrez-Taño 等，2023 年）。以及 Bulchand-Gidumal 在 2021 年的研究指出，这些文物能够激发人们积极探索其意义与价值的兴趣（Epley 等人，2007 年；Li 等人，2023 年）。同时，它们还能增强人们的归属感和社会联系，并促使人们产生对文物的保护意识（Yang 等人，2020 年）。</a:t>
            </a:r>
            <a:endParaRPr sz="73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9" name="右箭头 18"/>
          <p:cNvSpPr>
            <a:spLocks noGrp="1"/>
          </p:cNvSpPr>
          <p:nvPr/>
        </p:nvSpPr>
        <p:spPr>
          <a:xfrm>
            <a:off x="6153150" y="4476750"/>
            <a:ext cx="723900" cy="419100"/>
          </a:xfrm>
          <a:prstGeom prst="rightArrow">
            <a:avLst/>
          </a:prstGeom>
          <a:solidFill>
            <a:srgbClr val="B64630"/>
          </a:solidFill>
          <a:ln w="0">
            <a:noFill/>
          </a:ln>
        </p:spPr>
      </p:sp>
      <p:sp>
        <p:nvSpPr>
          <p:cNvPr id="20" name="矩形 19"/>
          <p:cNvSpPr>
            <a:spLocks noGrp="1"/>
          </p:cNvSpPr>
          <p:nvPr/>
        </p:nvSpPr>
        <p:spPr>
          <a:xfrm>
            <a:off x="7286625" y="3962400"/>
            <a:ext cx="4000500" cy="457200"/>
          </a:xfrm>
          <a:prstGeom prst="rect">
            <a:avLst/>
          </a:prstGeom>
          <a:noFill/>
          <a:ln w="0">
            <a:noFill/>
          </a:ln>
        </p:spPr>
        <p:txBody>
          <a:bodyPr anchor="t">
            <a:normAutofit fontScale="78708"/>
          </a:bodyPr>
          <a:lstStyle/>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Reduced psychological distance encourages learning</a:t>
            </a:r>
            <a:endParaRPr sz="1425" b="0" i="0">
              <a:solidFill>
                <a:srgbClr val="253532"/>
              </a:solidFill>
              <a:latin typeface="微软雅黑" panose="020B0503020204020204" charset="-122"/>
              <a:ea typeface="微软雅黑" panose="020B0503020204020204" charset="-122"/>
              <a:cs typeface="微软雅黑" panose="020B0503020204020204" charset="-122"/>
            </a:endParaRPr>
          </a:p>
          <a:p>
            <a:pPr algn="l">
              <a:lnSpc>
                <a:spcPct val="100000"/>
              </a:lnSpc>
              <a:buNone/>
              <a:defRPr sz="1350" b="1" i="0">
                <a:solidFill>
                  <a:srgbClr val="253532"/>
                </a:solidFill>
                <a:latin typeface="微软雅黑" panose="020B0503020204020204" charset="-122"/>
                <a:ea typeface="微软雅黑" panose="020B0503020204020204" charset="-122"/>
                <a:cs typeface="微软雅黑" panose="020B0503020204020204" charset="-122"/>
              </a:defRPr>
            </a:pPr>
            <a:r>
              <a:rPr sz="1425" b="0" i="0">
                <a:solidFill>
                  <a:srgbClr val="253532"/>
                </a:solidFill>
                <a:latin typeface="微软雅黑" panose="020B0503020204020204" charset="-122"/>
                <a:ea typeface="微软雅黑" panose="020B0503020204020204" charset="-122"/>
                <a:cs typeface="微软雅黑" panose="020B0503020204020204" charset="-122"/>
              </a:rPr>
              <a:t>缩短心理距离，增强了解意愿</a:t>
            </a:r>
            <a:endParaRPr sz="1425"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7319645" y="4419600"/>
            <a:ext cx="4000500" cy="895350"/>
          </a:xfrm>
          <a:prstGeom prst="rect">
            <a:avLst/>
          </a:prstGeom>
          <a:noFill/>
          <a:ln w="0">
            <a:noFill/>
          </a:ln>
        </p:spPr>
        <p:txBody>
          <a:bodyPr anchor="t">
            <a:noAutofit/>
          </a:bodyPr>
          <a:lstStyle/>
          <a:p>
            <a:pPr algn="l">
              <a:lnSpc>
                <a:spcPct val="100000"/>
              </a:lnSpc>
              <a:buNone/>
              <a:defRPr sz="1090" b="0" i="0">
                <a:solidFill>
                  <a:srgbClr val="253532"/>
                </a:solidFill>
                <a:latin typeface="微软雅黑" panose="020B0503020204020204" charset="-122"/>
                <a:ea typeface="微软雅黑" panose="020B0503020204020204" charset="-122"/>
                <a:cs typeface="微软雅黑" panose="020B0503020204020204" charset="-122"/>
              </a:defRPr>
            </a:pPr>
            <a:r>
              <a:rPr sz="1000" b="0" i="0">
                <a:solidFill>
                  <a:srgbClr val="253532"/>
                </a:solidFill>
                <a:latin typeface="微软雅黑" panose="020B0503020204020204" charset="-122"/>
                <a:ea typeface="微软雅黑" panose="020B0503020204020204" charset="-122"/>
                <a:cs typeface="微软雅黑" panose="020B0503020204020204" charset="-122"/>
              </a:rPr>
              <a:t>拟人化能够缩短用户与古代文物或建筑之间的心理距离，增强归属感和社会联结，促使用户产生主动了解的意愿，并展现出提升文化教育价值的潜力。</a:t>
            </a:r>
            <a:endParaRPr sz="1000"/>
          </a:p>
          <a:p>
            <a:pPr algn="l">
              <a:lnSpc>
                <a:spcPct val="100000"/>
              </a:lnSpc>
              <a:buNone/>
              <a:defRPr sz="1090" b="0" i="0">
                <a:solidFill>
                  <a:srgbClr val="253532"/>
                </a:solidFill>
                <a:latin typeface="微软雅黑" panose="020B0503020204020204" charset="-122"/>
                <a:ea typeface="微软雅黑" panose="020B0503020204020204" charset="-122"/>
                <a:cs typeface="微软雅黑" panose="020B0503020204020204" charset="-122"/>
              </a:defRPr>
            </a:pPr>
            <a:r>
              <a:rPr sz="1000" b="0" i="0">
                <a:solidFill>
                  <a:srgbClr val="253532"/>
                </a:solidFill>
                <a:latin typeface="微软雅黑" panose="020B0503020204020204" charset="-122"/>
                <a:ea typeface="微软雅黑" panose="020B0503020204020204" charset="-122"/>
                <a:cs typeface="微软雅黑" panose="020B0503020204020204" charset="-122"/>
              </a:rPr>
              <a:t>Anthropomorphism can reduce psychological distance from historical artifacts or buildings, strengthen belonging and social connection, encourage visitors to learn more, and support cultural education.</a:t>
            </a:r>
            <a:endParaRPr sz="1000" b="0"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647700" y="5886450"/>
            <a:ext cx="10915650" cy="14288"/>
          </a:xfrm>
          <a:prstGeom prst="rect">
            <a:avLst/>
          </a:prstGeom>
          <a:solidFill>
            <a:srgbClr val="D8BE96"/>
          </a:solidFill>
          <a:ln w="0">
            <a:noFill/>
          </a:ln>
        </p:spPr>
      </p:sp>
      <p:sp>
        <p:nvSpPr>
          <p:cNvPr id="23" name="矩形 22"/>
          <p:cNvSpPr>
            <a:spLocks noGrp="1"/>
          </p:cNvSpPr>
          <p:nvPr/>
        </p:nvSpPr>
        <p:spPr>
          <a:xfrm>
            <a:off x="685800" y="6057900"/>
            <a:ext cx="10839450" cy="419100"/>
          </a:xfrm>
          <a:prstGeom prst="rect">
            <a:avLst/>
          </a:prstGeom>
          <a:noFill/>
          <a:ln w="0">
            <a:noFill/>
          </a:ln>
        </p:spPr>
        <p:txBody>
          <a:bodyPr anchor="t">
            <a:normAutofit/>
          </a:bodyPr>
          <a:lstStyle/>
          <a:p>
            <a:pPr algn="l">
              <a:lnSpc>
                <a:spcPct val="100000"/>
              </a:lnSpc>
              <a:buNone/>
              <a:defRPr sz="940" b="0" i="0">
                <a:solidFill>
                  <a:srgbClr val="655F56"/>
                </a:solidFill>
                <a:latin typeface="微软雅黑" panose="020B0503020204020204" charset="-122"/>
                <a:ea typeface="微软雅黑" panose="020B0503020204020204" charset="-122"/>
                <a:cs typeface="微软雅黑" panose="020B0503020204020204" charset="-122"/>
              </a:defRPr>
            </a:pPr>
            <a:r>
              <a:rPr sz="940" b="0" i="0">
                <a:solidFill>
                  <a:srgbClr val="655F56"/>
                </a:solidFill>
                <a:latin typeface="微软雅黑" panose="020B0503020204020204" charset="-122"/>
                <a:ea typeface="微软雅黑" panose="020B0503020204020204" charset="-122"/>
                <a:cs typeface="微软雅黑" panose="020B0503020204020204" charset="-122"/>
              </a:rPr>
              <a:t>Cai, S., Lin, D., &amp; Xiao, H. (2025). The collision of tradition and fashion: How anthropomorphizing museum exhibits influences cultural inheritance. Tourism Management, 109, 105133. https://doi.org/10.1016/j.tourman.2025.105133</a:t>
            </a:r>
            <a:endParaRPr sz="940" b="0" i="0">
              <a:solidFill>
                <a:srgbClr val="655F5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sp>
        <p:nvSpPr>
          <p:cNvPr id="40" name="矩形 39"/>
          <p:cNvSpPr>
            <a:spLocks noGrp="1"/>
          </p:cNvSpPr>
          <p:nvPr/>
        </p:nvSpPr>
        <p:spPr>
          <a:xfrm>
            <a:off x="0" y="0"/>
            <a:ext cx="190500" cy="6858000"/>
          </a:xfrm>
          <a:prstGeom prst="rect">
            <a:avLst/>
          </a:prstGeom>
          <a:solidFill>
            <a:srgbClr val="B64630"/>
          </a:solidFill>
          <a:ln w="0">
            <a:noFill/>
          </a:ln>
        </p:spPr>
      </p:sp>
      <p:sp>
        <p:nvSpPr>
          <p:cNvPr id="2" name="矩形 1"/>
          <p:cNvSpPr>
            <a:spLocks noGrp="1"/>
          </p:cNvSpPr>
          <p:nvPr/>
        </p:nvSpPr>
        <p:spPr>
          <a:xfrm>
            <a:off x="11144250" y="514350"/>
            <a:ext cx="381000" cy="190500"/>
          </a:xfrm>
          <a:prstGeom prst="rect">
            <a:avLst/>
          </a:prstGeom>
          <a:noFill/>
          <a:ln w="0">
            <a:noFill/>
          </a:ln>
        </p:spPr>
        <p:txBody>
          <a:bodyPr anchor="t">
            <a:normAutofit fontScale="56667"/>
          </a:bodyPr>
          <a:lstStyle/>
          <a:p>
            <a:pPr algn="r">
              <a:lnSpc>
                <a:spcPct val="100000"/>
              </a:lnSpc>
              <a:buNone/>
              <a:defRPr sz="975" b="1" i="0">
                <a:solidFill>
                  <a:srgbClr val="B64630"/>
                </a:solidFill>
                <a:latin typeface="微软雅黑" panose="020B0503020204020204" charset="-122"/>
                <a:ea typeface="微软雅黑" panose="020B0503020204020204" charset="-122"/>
                <a:cs typeface="微软雅黑" panose="020B0503020204020204" charset="-122"/>
              </a:defRPr>
            </a:pPr>
            <a:r>
              <a:rPr sz="975" b="1" i="0">
                <a:solidFill>
                  <a:srgbClr val="B64630"/>
                </a:solidFill>
                <a:latin typeface="微软雅黑" panose="020B0503020204020204" charset="-122"/>
                <a:ea typeface="微软雅黑" panose="020B0503020204020204" charset="-122"/>
                <a:cs typeface="微软雅黑" panose="020B0503020204020204" charset="-122"/>
              </a:rPr>
              <a:t>09</a:t>
            </a:r>
            <a:endParaRPr sz="975"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66750" y="476250"/>
            <a:ext cx="6191250" cy="257175"/>
          </a:xfrm>
          <a:prstGeom prst="rect">
            <a:avLst/>
          </a:prstGeom>
          <a:noFill/>
          <a:ln w="0">
            <a:noFill/>
          </a:ln>
        </p:spPr>
        <p:txBody>
          <a:bodyPr anchor="t">
            <a:normAutofit fontScale="62500"/>
          </a:bodyPr>
          <a:lstStyle/>
          <a:p>
            <a:pPr algn="l">
              <a:lnSpc>
                <a:spcPct val="100000"/>
              </a:lnSpc>
              <a:buNone/>
              <a:defRPr sz="1500" b="1" i="0">
                <a:solidFill>
                  <a:srgbClr val="B64630"/>
                </a:solidFill>
                <a:latin typeface="微软雅黑" panose="020B0503020204020204" charset="-122"/>
                <a:ea typeface="微软雅黑" panose="020B0503020204020204" charset="-122"/>
                <a:cs typeface="微软雅黑" panose="020B0503020204020204" charset="-122"/>
              </a:defRPr>
            </a:pPr>
            <a:r>
              <a:rPr sz="1500" b="1" i="0">
                <a:solidFill>
                  <a:srgbClr val="B64630"/>
                </a:solidFill>
                <a:latin typeface="微软雅黑" panose="020B0503020204020204" charset="-122"/>
                <a:ea typeface="微软雅黑" panose="020B0503020204020204" charset="-122"/>
                <a:cs typeface="微软雅黑" panose="020B0503020204020204" charset="-122"/>
              </a:rPr>
              <a:t>MAIN QUEST  主线任务</a:t>
            </a:r>
            <a:endParaRPr sz="1500"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66750" y="800100"/>
            <a:ext cx="10668000" cy="19050"/>
          </a:xfrm>
          <a:prstGeom prst="rect">
            <a:avLst/>
          </a:prstGeom>
          <a:solidFill>
            <a:srgbClr val="D8BE96"/>
          </a:solidFill>
          <a:ln w="0">
            <a:noFill/>
          </a:ln>
        </p:spPr>
      </p:sp>
      <p:sp>
        <p:nvSpPr>
          <p:cNvPr id="5" name="圆角矩形 4"/>
          <p:cNvSpPr>
            <a:spLocks noGrp="1"/>
          </p:cNvSpPr>
          <p:nvPr/>
        </p:nvSpPr>
        <p:spPr>
          <a:xfrm>
            <a:off x="666750" y="1000125"/>
            <a:ext cx="3143250" cy="1752600"/>
          </a:xfrm>
          <a:prstGeom prst="roundRect">
            <a:avLst>
              <a:gd name="adj" fmla="val 4348"/>
            </a:avLst>
          </a:prstGeom>
          <a:solidFill>
            <a:srgbClr val="FFF9EE"/>
          </a:solidFill>
          <a:ln w="11430">
            <a:solidFill>
              <a:srgbClr val="D8BE96"/>
            </a:solidFill>
          </a:ln>
        </p:spPr>
      </p:sp>
      <p:sp>
        <p:nvSpPr>
          <p:cNvPr id="6" name="圆角矩形 5"/>
          <p:cNvSpPr>
            <a:spLocks noGrp="1"/>
          </p:cNvSpPr>
          <p:nvPr/>
        </p:nvSpPr>
        <p:spPr>
          <a:xfrm>
            <a:off x="838200" y="1171575"/>
            <a:ext cx="361950" cy="361950"/>
          </a:xfrm>
          <a:prstGeom prst="roundRect">
            <a:avLst>
              <a:gd name="adj" fmla="val 21053"/>
            </a:avLst>
          </a:prstGeom>
          <a:solidFill>
            <a:srgbClr val="B64630"/>
          </a:solidFill>
          <a:ln w="0">
            <a:noFill/>
          </a:ln>
        </p:spPr>
        <p:txBody>
          <a:bodyPr anchor="ctr">
            <a:normAutofit fontScale="78342"/>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01</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352550" y="1162050"/>
            <a:ext cx="2266950" cy="952500"/>
          </a:xfrm>
          <a:prstGeom prst="rect">
            <a:avLst/>
          </a:prstGeom>
          <a:noFill/>
          <a:ln w="0">
            <a:noFill/>
          </a:ln>
        </p:spPr>
        <p:txBody>
          <a:bodyPr anchor="t">
            <a:normAutofit/>
          </a:bodyPr>
          <a:lstStyle/>
          <a:p>
            <a:pPr algn="l">
              <a:lnSpc>
                <a:spcPct val="100000"/>
              </a:lnSpc>
              <a:buNone/>
              <a:defRPr sz="1165" b="1" i="0">
                <a:solidFill>
                  <a:srgbClr val="253532"/>
                </a:solidFill>
                <a:latin typeface="微软雅黑" panose="020B0503020204020204" charset="-122"/>
                <a:ea typeface="微软雅黑" panose="020B0503020204020204" charset="-122"/>
                <a:cs typeface="微软雅黑" panose="020B0503020204020204" charset="-122"/>
              </a:defRPr>
            </a:pPr>
            <a:r>
              <a:rPr sz="1165" b="1" i="0">
                <a:solidFill>
                  <a:srgbClr val="253532"/>
                </a:solidFill>
                <a:latin typeface="微软雅黑" panose="020B0503020204020204" charset="-122"/>
                <a:ea typeface="微软雅黑" panose="020B0503020204020204" charset="-122"/>
                <a:cs typeface="微软雅黑" panose="020B0503020204020204" charset="-122"/>
              </a:rPr>
              <a:t>针对不同的景点设置结合史实的虚拟剧情</a:t>
            </a:r>
            <a:endParaRPr sz="116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76300" y="2219325"/>
            <a:ext cx="2724150" cy="438150"/>
          </a:xfrm>
          <a:prstGeom prst="rect">
            <a:avLst/>
          </a:prstGeom>
          <a:noFill/>
          <a:ln w="0">
            <a:noFill/>
          </a:ln>
        </p:spPr>
        <p:txBody>
          <a:bodyPr anchor="t">
            <a:normAutofit/>
          </a:bodyPr>
          <a:lstStyle/>
          <a:p>
            <a:pPr algn="l">
              <a:lnSpc>
                <a:spcPct val="100000"/>
              </a:lnSpc>
              <a:buNone/>
              <a:defRPr sz="825" b="0" i="0">
                <a:solidFill>
                  <a:srgbClr val="655F56"/>
                </a:solidFill>
                <a:latin typeface="微软雅黑" panose="020B0503020204020204" charset="-122"/>
                <a:ea typeface="微软雅黑" panose="020B0503020204020204" charset="-122"/>
                <a:cs typeface="微软雅黑" panose="020B0503020204020204" charset="-122"/>
              </a:defRPr>
            </a:pPr>
            <a:r>
              <a:rPr sz="825" b="0" i="0">
                <a:solidFill>
                  <a:srgbClr val="655F56"/>
                </a:solidFill>
                <a:latin typeface="微软雅黑" panose="020B0503020204020204" charset="-122"/>
                <a:ea typeface="微软雅黑" panose="020B0503020204020204" charset="-122"/>
                <a:cs typeface="微软雅黑" panose="020B0503020204020204" charset="-122"/>
              </a:rPr>
              <a:t>Create a virtual storyline grounded in historical facts for each different attraction.</a:t>
            </a:r>
            <a:endParaRPr sz="82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4429125" y="1000125"/>
            <a:ext cx="3143250" cy="1752600"/>
          </a:xfrm>
          <a:prstGeom prst="roundRect">
            <a:avLst>
              <a:gd name="adj" fmla="val 4348"/>
            </a:avLst>
          </a:prstGeom>
          <a:solidFill>
            <a:srgbClr val="EBD6BD"/>
          </a:solidFill>
          <a:ln w="11430">
            <a:solidFill>
              <a:srgbClr val="D8BE96"/>
            </a:solidFill>
          </a:ln>
        </p:spPr>
      </p:sp>
      <p:sp>
        <p:nvSpPr>
          <p:cNvPr id="10" name="圆角矩形 9"/>
          <p:cNvSpPr>
            <a:spLocks noGrp="1"/>
          </p:cNvSpPr>
          <p:nvPr/>
        </p:nvSpPr>
        <p:spPr>
          <a:xfrm>
            <a:off x="4600575" y="1171575"/>
            <a:ext cx="361950" cy="361950"/>
          </a:xfrm>
          <a:prstGeom prst="roundRect">
            <a:avLst>
              <a:gd name="adj" fmla="val 21053"/>
            </a:avLst>
          </a:prstGeom>
          <a:solidFill>
            <a:srgbClr val="B64630"/>
          </a:solidFill>
          <a:ln w="0">
            <a:noFill/>
          </a:ln>
        </p:spPr>
        <p:txBody>
          <a:bodyPr anchor="ctr">
            <a:normAutofit fontScale="78342"/>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02</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114925" y="1162050"/>
            <a:ext cx="2266950" cy="952500"/>
          </a:xfrm>
          <a:prstGeom prst="rect">
            <a:avLst/>
          </a:prstGeom>
          <a:noFill/>
          <a:ln w="0">
            <a:noFill/>
          </a:ln>
        </p:spPr>
        <p:txBody>
          <a:bodyPr anchor="t">
            <a:normAutofit/>
          </a:bodyPr>
          <a:lstStyle/>
          <a:p>
            <a:pPr algn="l">
              <a:lnSpc>
                <a:spcPct val="100000"/>
              </a:lnSpc>
              <a:buNone/>
              <a:defRPr sz="1165" b="1" i="0">
                <a:solidFill>
                  <a:srgbClr val="253532"/>
                </a:solidFill>
                <a:latin typeface="微软雅黑" panose="020B0503020204020204" charset="-122"/>
                <a:ea typeface="微软雅黑" panose="020B0503020204020204" charset="-122"/>
                <a:cs typeface="微软雅黑" panose="020B0503020204020204" charset="-122"/>
              </a:defRPr>
            </a:pPr>
            <a:r>
              <a:rPr sz="1165" b="1" i="0">
                <a:solidFill>
                  <a:srgbClr val="253532"/>
                </a:solidFill>
                <a:latin typeface="微软雅黑" panose="020B0503020204020204" charset="-122"/>
                <a:ea typeface="微软雅黑" panose="020B0503020204020204" charset="-122"/>
                <a:cs typeface="微软雅黑" panose="020B0503020204020204" charset="-122"/>
              </a:rPr>
              <a:t>每个剧情可沿景点中的某一个文物或建筑展开，将此文物或建筑拟人化，将用户也塑造成其中角色，共同推动剧情（角色扮演）</a:t>
            </a:r>
            <a:endParaRPr sz="116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4638675" y="2219325"/>
            <a:ext cx="2724150" cy="438150"/>
          </a:xfrm>
          <a:prstGeom prst="rect">
            <a:avLst/>
          </a:prstGeom>
          <a:noFill/>
          <a:ln w="0">
            <a:noFill/>
          </a:ln>
        </p:spPr>
        <p:txBody>
          <a:bodyPr anchor="t">
            <a:normAutofit fontScale="75277"/>
          </a:bodyPr>
          <a:lstStyle/>
          <a:p>
            <a:pPr algn="l">
              <a:lnSpc>
                <a:spcPct val="100000"/>
              </a:lnSpc>
              <a:buNone/>
              <a:defRPr sz="825" b="0" i="0">
                <a:solidFill>
                  <a:srgbClr val="655F56"/>
                </a:solidFill>
                <a:latin typeface="微软雅黑" panose="020B0503020204020204" charset="-122"/>
                <a:ea typeface="微软雅黑" panose="020B0503020204020204" charset="-122"/>
                <a:cs typeface="微软雅黑" panose="020B0503020204020204" charset="-122"/>
              </a:defRPr>
            </a:pPr>
            <a:r>
              <a:rPr sz="825" b="0" i="0">
                <a:solidFill>
                  <a:srgbClr val="655F56"/>
                </a:solidFill>
                <a:latin typeface="微软雅黑" panose="020B0503020204020204" charset="-122"/>
                <a:ea typeface="微软雅黑" panose="020B0503020204020204" charset="-122"/>
                <a:cs typeface="微软雅黑" panose="020B0503020204020204" charset="-122"/>
              </a:rPr>
              <a:t>Each story develops around an artifact or building at the attraction. The artifact or building is personified, while the user also becomes a character and advances the story together through role-play.</a:t>
            </a:r>
            <a:endParaRPr sz="82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8191500" y="1000125"/>
            <a:ext cx="3143250" cy="1752600"/>
          </a:xfrm>
          <a:prstGeom prst="roundRect">
            <a:avLst>
              <a:gd name="adj" fmla="val 4348"/>
            </a:avLst>
          </a:prstGeom>
          <a:solidFill>
            <a:srgbClr val="FFF9EE"/>
          </a:solidFill>
          <a:ln w="11430">
            <a:solidFill>
              <a:srgbClr val="D8BE96"/>
            </a:solidFill>
          </a:ln>
        </p:spPr>
      </p:sp>
      <p:sp>
        <p:nvSpPr>
          <p:cNvPr id="14" name="圆角矩形 13"/>
          <p:cNvSpPr>
            <a:spLocks noGrp="1"/>
          </p:cNvSpPr>
          <p:nvPr/>
        </p:nvSpPr>
        <p:spPr>
          <a:xfrm>
            <a:off x="8362950" y="1171575"/>
            <a:ext cx="361950" cy="361950"/>
          </a:xfrm>
          <a:prstGeom prst="roundRect">
            <a:avLst>
              <a:gd name="adj" fmla="val 21053"/>
            </a:avLst>
          </a:prstGeom>
          <a:solidFill>
            <a:srgbClr val="B64630"/>
          </a:solidFill>
          <a:ln w="0">
            <a:noFill/>
          </a:ln>
        </p:spPr>
        <p:txBody>
          <a:bodyPr anchor="ctr">
            <a:normAutofit fontScale="78342"/>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03</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877300" y="1162050"/>
            <a:ext cx="2266950" cy="952500"/>
          </a:xfrm>
          <a:prstGeom prst="rect">
            <a:avLst/>
          </a:prstGeom>
          <a:noFill/>
          <a:ln w="0">
            <a:noFill/>
          </a:ln>
        </p:spPr>
        <p:txBody>
          <a:bodyPr anchor="t">
            <a:normAutofit fontScale="97162"/>
          </a:bodyPr>
          <a:lstStyle/>
          <a:p>
            <a:pPr algn="l">
              <a:lnSpc>
                <a:spcPct val="100000"/>
              </a:lnSpc>
              <a:buNone/>
              <a:defRPr sz="1165" b="1" i="0">
                <a:solidFill>
                  <a:srgbClr val="253532"/>
                </a:solidFill>
                <a:latin typeface="微软雅黑" panose="020B0503020204020204" charset="-122"/>
                <a:ea typeface="微软雅黑" panose="020B0503020204020204" charset="-122"/>
                <a:cs typeface="微软雅黑" panose="020B0503020204020204" charset="-122"/>
              </a:defRPr>
            </a:pPr>
            <a:r>
              <a:rPr sz="1165" b="1" i="0">
                <a:solidFill>
                  <a:srgbClr val="253532"/>
                </a:solidFill>
                <a:latin typeface="微软雅黑" panose="020B0503020204020204" charset="-122"/>
                <a:ea typeface="微软雅黑" panose="020B0503020204020204" charset="-122"/>
                <a:cs typeface="微软雅黑" panose="020B0503020204020204" charset="-122"/>
              </a:rPr>
              <a:t>剧情中穿插与史实相关的解谜，谜题的答案和下一个用户将要参观的景点有关，推动剧情（解谜的难度可自由选择，适配不同用户的水平）</a:t>
            </a:r>
            <a:endParaRPr sz="116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8401050" y="2219325"/>
            <a:ext cx="2724150" cy="438150"/>
          </a:xfrm>
          <a:prstGeom prst="rect">
            <a:avLst/>
          </a:prstGeom>
          <a:noFill/>
          <a:ln w="0">
            <a:noFill/>
          </a:ln>
        </p:spPr>
        <p:txBody>
          <a:bodyPr anchor="t">
            <a:normAutofit fontScale="77150"/>
          </a:bodyPr>
          <a:lstStyle/>
          <a:p>
            <a:pPr algn="l">
              <a:lnSpc>
                <a:spcPct val="100000"/>
              </a:lnSpc>
              <a:buNone/>
              <a:defRPr sz="825" b="0" i="0">
                <a:solidFill>
                  <a:srgbClr val="655F56"/>
                </a:solidFill>
                <a:latin typeface="微软雅黑" panose="020B0503020204020204" charset="-122"/>
                <a:ea typeface="微软雅黑" panose="020B0503020204020204" charset="-122"/>
                <a:cs typeface="微软雅黑" panose="020B0503020204020204" charset="-122"/>
              </a:defRPr>
            </a:pPr>
            <a:r>
              <a:rPr sz="825" b="0" i="0">
                <a:solidFill>
                  <a:srgbClr val="655F56"/>
                </a:solidFill>
                <a:latin typeface="微软雅黑" panose="020B0503020204020204" charset="-122"/>
                <a:ea typeface="微软雅黑" panose="020B0503020204020204" charset="-122"/>
                <a:cs typeface="微软雅黑" panose="020B0503020204020204" charset="-122"/>
              </a:rPr>
              <a:t>Historical puzzles are embedded in the story. Their answers relate to the next place the user will visit and move the story forward. Puzzle difficulty can be freely selected to suit different users.</a:t>
            </a:r>
            <a:endParaRPr sz="82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17" name="右箭头 16"/>
          <p:cNvSpPr>
            <a:spLocks noGrp="1"/>
          </p:cNvSpPr>
          <p:nvPr/>
        </p:nvSpPr>
        <p:spPr>
          <a:xfrm>
            <a:off x="3905250" y="1666875"/>
            <a:ext cx="361950" cy="400050"/>
          </a:xfrm>
          <a:prstGeom prst="rightArrow">
            <a:avLst/>
          </a:prstGeom>
          <a:solidFill>
            <a:srgbClr val="B64630"/>
          </a:solidFill>
          <a:ln w="0">
            <a:noFill/>
          </a:ln>
        </p:spPr>
      </p:sp>
      <p:sp>
        <p:nvSpPr>
          <p:cNvPr id="18" name="右箭头 17"/>
          <p:cNvSpPr>
            <a:spLocks noGrp="1"/>
          </p:cNvSpPr>
          <p:nvPr/>
        </p:nvSpPr>
        <p:spPr>
          <a:xfrm>
            <a:off x="7667625" y="1666875"/>
            <a:ext cx="361950" cy="400050"/>
          </a:xfrm>
          <a:prstGeom prst="rightArrow">
            <a:avLst/>
          </a:prstGeom>
          <a:solidFill>
            <a:srgbClr val="B64630"/>
          </a:solidFill>
          <a:ln w="0">
            <a:noFill/>
          </a:ln>
        </p:spPr>
      </p:sp>
      <p:sp>
        <p:nvSpPr>
          <p:cNvPr id="19" name="下箭头 18"/>
          <p:cNvSpPr>
            <a:spLocks noGrp="1"/>
          </p:cNvSpPr>
          <p:nvPr/>
        </p:nvSpPr>
        <p:spPr>
          <a:xfrm>
            <a:off x="9582150" y="2847975"/>
            <a:ext cx="361950" cy="285750"/>
          </a:xfrm>
          <a:prstGeom prst="downArrow">
            <a:avLst/>
          </a:prstGeom>
          <a:solidFill>
            <a:srgbClr val="B64630"/>
          </a:solidFill>
          <a:ln w="0">
            <a:noFill/>
          </a:ln>
        </p:spPr>
      </p:sp>
      <p:sp>
        <p:nvSpPr>
          <p:cNvPr id="20" name="圆角矩形 19"/>
          <p:cNvSpPr>
            <a:spLocks noGrp="1"/>
          </p:cNvSpPr>
          <p:nvPr/>
        </p:nvSpPr>
        <p:spPr>
          <a:xfrm>
            <a:off x="8191500" y="3257550"/>
            <a:ext cx="3143250" cy="1752600"/>
          </a:xfrm>
          <a:prstGeom prst="roundRect">
            <a:avLst>
              <a:gd name="adj" fmla="val 4348"/>
            </a:avLst>
          </a:prstGeom>
          <a:solidFill>
            <a:srgbClr val="EBD6BD"/>
          </a:solidFill>
          <a:ln w="11430">
            <a:solidFill>
              <a:srgbClr val="D8BE96"/>
            </a:solidFill>
          </a:ln>
        </p:spPr>
      </p:sp>
      <p:sp>
        <p:nvSpPr>
          <p:cNvPr id="21" name="圆角矩形 20"/>
          <p:cNvSpPr>
            <a:spLocks noGrp="1"/>
          </p:cNvSpPr>
          <p:nvPr/>
        </p:nvSpPr>
        <p:spPr>
          <a:xfrm>
            <a:off x="8362950" y="3429000"/>
            <a:ext cx="361950" cy="361950"/>
          </a:xfrm>
          <a:prstGeom prst="roundRect">
            <a:avLst>
              <a:gd name="adj" fmla="val 21053"/>
            </a:avLst>
          </a:prstGeom>
          <a:solidFill>
            <a:srgbClr val="B64630"/>
          </a:solidFill>
          <a:ln w="0">
            <a:noFill/>
          </a:ln>
        </p:spPr>
        <p:txBody>
          <a:bodyPr anchor="ctr">
            <a:normAutofit fontScale="78342"/>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04</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8877300" y="3419475"/>
            <a:ext cx="2266950" cy="952500"/>
          </a:xfrm>
          <a:prstGeom prst="rect">
            <a:avLst/>
          </a:prstGeom>
          <a:noFill/>
          <a:ln w="0">
            <a:noFill/>
          </a:ln>
        </p:spPr>
        <p:txBody>
          <a:bodyPr anchor="t">
            <a:normAutofit/>
          </a:bodyPr>
          <a:lstStyle/>
          <a:p>
            <a:pPr algn="l">
              <a:lnSpc>
                <a:spcPct val="100000"/>
              </a:lnSpc>
              <a:buNone/>
              <a:defRPr sz="1165" b="1" i="0">
                <a:solidFill>
                  <a:srgbClr val="253532"/>
                </a:solidFill>
                <a:latin typeface="微软雅黑" panose="020B0503020204020204" charset="-122"/>
                <a:ea typeface="微软雅黑" panose="020B0503020204020204" charset="-122"/>
                <a:cs typeface="微软雅黑" panose="020B0503020204020204" charset="-122"/>
              </a:defRPr>
            </a:pPr>
            <a:r>
              <a:rPr sz="1165" b="1" i="0">
                <a:solidFill>
                  <a:srgbClr val="253532"/>
                </a:solidFill>
                <a:latin typeface="微软雅黑" panose="020B0503020204020204" charset="-122"/>
                <a:ea typeface="微软雅黑" panose="020B0503020204020204" charset="-122"/>
                <a:cs typeface="微软雅黑" panose="020B0503020204020204" charset="-122"/>
              </a:rPr>
              <a:t>用户每观光到一个建筑或文物需拍照合影（收集记忆），成功后会有对应的史实介绍（文化解读）</a:t>
            </a:r>
            <a:endParaRPr sz="116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8401050" y="4476750"/>
            <a:ext cx="2724150" cy="438150"/>
          </a:xfrm>
          <a:prstGeom prst="rect">
            <a:avLst/>
          </a:prstGeom>
          <a:noFill/>
          <a:ln w="0">
            <a:noFill/>
          </a:ln>
        </p:spPr>
        <p:txBody>
          <a:bodyPr anchor="t">
            <a:normAutofit fontScale="74041"/>
          </a:bodyPr>
          <a:lstStyle/>
          <a:p>
            <a:pPr algn="l">
              <a:lnSpc>
                <a:spcPct val="100000"/>
              </a:lnSpc>
              <a:buNone/>
              <a:defRPr sz="825" b="0" i="0">
                <a:solidFill>
                  <a:srgbClr val="655F56"/>
                </a:solidFill>
                <a:latin typeface="微软雅黑" panose="020B0503020204020204" charset="-122"/>
                <a:ea typeface="微软雅黑" panose="020B0503020204020204" charset="-122"/>
                <a:cs typeface="微软雅黑" panose="020B0503020204020204" charset="-122"/>
              </a:defRPr>
            </a:pPr>
            <a:r>
              <a:rPr sz="825" b="0" i="0">
                <a:solidFill>
                  <a:srgbClr val="655F56"/>
                </a:solidFill>
                <a:latin typeface="微软雅黑" panose="020B0503020204020204" charset="-122"/>
                <a:ea typeface="微软雅黑" panose="020B0503020204020204" charset="-122"/>
                <a:cs typeface="微软雅黑" panose="020B0503020204020204" charset="-122"/>
              </a:rPr>
              <a:t>At every building or artifact, the user takes a photo together with it to collect a memory. After success, the corresponding historical introduction appears as cultural interpretation.</a:t>
            </a:r>
            <a:endParaRPr sz="82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4429125" y="3257550"/>
            <a:ext cx="3143250" cy="1752600"/>
          </a:xfrm>
          <a:prstGeom prst="roundRect">
            <a:avLst>
              <a:gd name="adj" fmla="val 4348"/>
            </a:avLst>
          </a:prstGeom>
          <a:solidFill>
            <a:srgbClr val="FFF9EE"/>
          </a:solidFill>
          <a:ln w="11430">
            <a:solidFill>
              <a:srgbClr val="D8BE96"/>
            </a:solidFill>
          </a:ln>
        </p:spPr>
      </p:sp>
      <p:sp>
        <p:nvSpPr>
          <p:cNvPr id="25" name="圆角矩形 24"/>
          <p:cNvSpPr>
            <a:spLocks noGrp="1"/>
          </p:cNvSpPr>
          <p:nvPr/>
        </p:nvSpPr>
        <p:spPr>
          <a:xfrm>
            <a:off x="4600575" y="3429000"/>
            <a:ext cx="361950" cy="361950"/>
          </a:xfrm>
          <a:prstGeom prst="roundRect">
            <a:avLst>
              <a:gd name="adj" fmla="val 21053"/>
            </a:avLst>
          </a:prstGeom>
          <a:solidFill>
            <a:srgbClr val="B64630"/>
          </a:solidFill>
          <a:ln w="0">
            <a:noFill/>
          </a:ln>
        </p:spPr>
        <p:txBody>
          <a:bodyPr anchor="ctr">
            <a:normAutofit fontScale="78342"/>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05</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5114925" y="3419475"/>
            <a:ext cx="2266950" cy="952500"/>
          </a:xfrm>
          <a:prstGeom prst="rect">
            <a:avLst/>
          </a:prstGeom>
          <a:noFill/>
          <a:ln w="0">
            <a:noFill/>
          </a:ln>
        </p:spPr>
        <p:txBody>
          <a:bodyPr anchor="t">
            <a:normAutofit/>
          </a:bodyPr>
          <a:lstStyle/>
          <a:p>
            <a:pPr algn="l">
              <a:lnSpc>
                <a:spcPct val="100000"/>
              </a:lnSpc>
              <a:buNone/>
              <a:defRPr sz="1165" b="1" i="0">
                <a:solidFill>
                  <a:srgbClr val="253532"/>
                </a:solidFill>
                <a:latin typeface="微软雅黑" panose="020B0503020204020204" charset="-122"/>
                <a:ea typeface="微软雅黑" panose="020B0503020204020204" charset="-122"/>
                <a:cs typeface="微软雅黑" panose="020B0503020204020204" charset="-122"/>
              </a:defRPr>
            </a:pPr>
            <a:r>
              <a:rPr sz="1165" b="1" i="0">
                <a:solidFill>
                  <a:srgbClr val="253532"/>
                </a:solidFill>
                <a:latin typeface="微软雅黑" panose="020B0503020204020204" charset="-122"/>
                <a:ea typeface="微软雅黑" panose="020B0503020204020204" charset="-122"/>
                <a:cs typeface="微软雅黑" panose="020B0503020204020204" charset="-122"/>
              </a:rPr>
              <a:t>成功观光过的文物，用户可随时打开看对应的介绍，有对应的3D虚拟模型收集（游戏奖励）</a:t>
            </a:r>
            <a:endParaRPr sz="116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4638675" y="4476750"/>
            <a:ext cx="2724150" cy="438150"/>
          </a:xfrm>
          <a:prstGeom prst="rect">
            <a:avLst/>
          </a:prstGeom>
          <a:noFill/>
          <a:ln w="0">
            <a:noFill/>
          </a:ln>
        </p:spPr>
        <p:txBody>
          <a:bodyPr anchor="t">
            <a:normAutofit fontScale="91919" lnSpcReduction="10000"/>
          </a:bodyPr>
          <a:lstStyle/>
          <a:p>
            <a:pPr algn="l">
              <a:lnSpc>
                <a:spcPct val="100000"/>
              </a:lnSpc>
              <a:buNone/>
              <a:defRPr sz="825" b="0" i="0">
                <a:solidFill>
                  <a:srgbClr val="655F56"/>
                </a:solidFill>
                <a:latin typeface="微软雅黑" panose="020B0503020204020204" charset="-122"/>
                <a:ea typeface="微软雅黑" panose="020B0503020204020204" charset="-122"/>
                <a:cs typeface="微软雅黑" panose="020B0503020204020204" charset="-122"/>
              </a:defRPr>
            </a:pPr>
            <a:r>
              <a:rPr sz="825" b="0" i="0">
                <a:solidFill>
                  <a:srgbClr val="655F56"/>
                </a:solidFill>
                <a:latin typeface="微软雅黑" panose="020B0503020204020204" charset="-122"/>
                <a:ea typeface="微软雅黑" panose="020B0503020204020204" charset="-122"/>
                <a:cs typeface="微软雅黑" panose="020B0503020204020204" charset="-122"/>
              </a:rPr>
              <a:t>For artifacts successfully visited, users can open the corresponding introduction at any time and collect a matching virtual 3D model as a game reward.</a:t>
            </a:r>
            <a:endParaRPr sz="82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666750" y="3257550"/>
            <a:ext cx="3143250" cy="1752600"/>
          </a:xfrm>
          <a:prstGeom prst="roundRect">
            <a:avLst>
              <a:gd name="adj" fmla="val 4348"/>
            </a:avLst>
          </a:prstGeom>
          <a:solidFill>
            <a:srgbClr val="EBD6BD"/>
          </a:solidFill>
          <a:ln w="11430">
            <a:solidFill>
              <a:srgbClr val="D8BE96"/>
            </a:solidFill>
          </a:ln>
        </p:spPr>
      </p:sp>
      <p:sp>
        <p:nvSpPr>
          <p:cNvPr id="29" name="圆角矩形 28"/>
          <p:cNvSpPr>
            <a:spLocks noGrp="1"/>
          </p:cNvSpPr>
          <p:nvPr/>
        </p:nvSpPr>
        <p:spPr>
          <a:xfrm>
            <a:off x="838200" y="3429000"/>
            <a:ext cx="361950" cy="361950"/>
          </a:xfrm>
          <a:prstGeom prst="roundRect">
            <a:avLst>
              <a:gd name="adj" fmla="val 21053"/>
            </a:avLst>
          </a:prstGeom>
          <a:solidFill>
            <a:srgbClr val="B64630"/>
          </a:solidFill>
          <a:ln w="0">
            <a:noFill/>
          </a:ln>
        </p:spPr>
        <p:txBody>
          <a:bodyPr anchor="ctr">
            <a:normAutofit fontScale="78342"/>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06</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1352550" y="3419475"/>
            <a:ext cx="2266950" cy="952500"/>
          </a:xfrm>
          <a:prstGeom prst="rect">
            <a:avLst/>
          </a:prstGeom>
          <a:noFill/>
          <a:ln w="0">
            <a:noFill/>
          </a:ln>
        </p:spPr>
        <p:txBody>
          <a:bodyPr anchor="t">
            <a:normAutofit/>
          </a:bodyPr>
          <a:lstStyle/>
          <a:p>
            <a:pPr algn="l">
              <a:lnSpc>
                <a:spcPct val="100000"/>
              </a:lnSpc>
              <a:buNone/>
              <a:defRPr sz="1165" b="1" i="0">
                <a:solidFill>
                  <a:srgbClr val="253532"/>
                </a:solidFill>
                <a:latin typeface="微软雅黑" panose="020B0503020204020204" charset="-122"/>
                <a:ea typeface="微软雅黑" panose="020B0503020204020204" charset="-122"/>
                <a:cs typeface="微软雅黑" panose="020B0503020204020204" charset="-122"/>
              </a:defRPr>
            </a:pPr>
            <a:r>
              <a:rPr sz="1165" b="1" i="0">
                <a:solidFill>
                  <a:srgbClr val="253532"/>
                </a:solidFill>
                <a:latin typeface="微软雅黑" panose="020B0503020204020204" charset="-122"/>
                <a:ea typeface="微软雅黑" panose="020B0503020204020204" charset="-122"/>
                <a:cs typeface="微软雅黑" panose="020B0503020204020204" charset="-122"/>
              </a:rPr>
              <a:t>参观完这个景点设置的全部文物或建筑即完成主线任务（运用任务和剧情）</a:t>
            </a:r>
            <a:endParaRPr sz="116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876300" y="4476750"/>
            <a:ext cx="2724150" cy="438150"/>
          </a:xfrm>
          <a:prstGeom prst="rect">
            <a:avLst/>
          </a:prstGeom>
          <a:noFill/>
          <a:ln w="0">
            <a:noFill/>
          </a:ln>
        </p:spPr>
        <p:txBody>
          <a:bodyPr anchor="t">
            <a:normAutofit fontScale="91919" lnSpcReduction="10000"/>
          </a:bodyPr>
          <a:lstStyle/>
          <a:p>
            <a:pPr algn="l">
              <a:lnSpc>
                <a:spcPct val="100000"/>
              </a:lnSpc>
              <a:buNone/>
              <a:defRPr sz="825" b="0" i="0">
                <a:solidFill>
                  <a:srgbClr val="655F56"/>
                </a:solidFill>
                <a:latin typeface="微软雅黑" panose="020B0503020204020204" charset="-122"/>
                <a:ea typeface="微软雅黑" panose="020B0503020204020204" charset="-122"/>
                <a:cs typeface="微软雅黑" panose="020B0503020204020204" charset="-122"/>
              </a:defRPr>
            </a:pPr>
            <a:r>
              <a:rPr sz="825" b="0" i="0">
                <a:solidFill>
                  <a:srgbClr val="655F56"/>
                </a:solidFill>
                <a:latin typeface="微软雅黑" panose="020B0503020204020204" charset="-122"/>
                <a:ea typeface="微软雅黑" panose="020B0503020204020204" charset="-122"/>
                <a:cs typeface="微软雅黑" panose="020B0503020204020204" charset="-122"/>
              </a:rPr>
              <a:t>The main quest is completed after visiting all artifacts or buildings assigned to the attraction, using quests and storylines.</a:t>
            </a:r>
            <a:endParaRPr sz="82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32" name="左箭头 31"/>
          <p:cNvSpPr>
            <a:spLocks noGrp="1"/>
          </p:cNvSpPr>
          <p:nvPr/>
        </p:nvSpPr>
        <p:spPr>
          <a:xfrm>
            <a:off x="7667625" y="3933825"/>
            <a:ext cx="361950" cy="400050"/>
          </a:xfrm>
          <a:prstGeom prst="leftArrow">
            <a:avLst/>
          </a:prstGeom>
          <a:solidFill>
            <a:srgbClr val="B64630"/>
          </a:solidFill>
          <a:ln w="0">
            <a:noFill/>
          </a:ln>
        </p:spPr>
      </p:sp>
      <p:sp>
        <p:nvSpPr>
          <p:cNvPr id="33" name="左箭头 32"/>
          <p:cNvSpPr>
            <a:spLocks noGrp="1"/>
          </p:cNvSpPr>
          <p:nvPr/>
        </p:nvSpPr>
        <p:spPr>
          <a:xfrm>
            <a:off x="3905250" y="3933825"/>
            <a:ext cx="361950" cy="400050"/>
          </a:xfrm>
          <a:prstGeom prst="leftArrow">
            <a:avLst/>
          </a:prstGeom>
          <a:solidFill>
            <a:srgbClr val="B64630"/>
          </a:solidFill>
          <a:ln w="0">
            <a:noFill/>
          </a:ln>
        </p:spPr>
      </p:sp>
      <p:sp>
        <p:nvSpPr>
          <p:cNvPr id="34" name="矩形 33"/>
          <p:cNvSpPr>
            <a:spLocks noGrp="1"/>
          </p:cNvSpPr>
          <p:nvPr/>
        </p:nvSpPr>
        <p:spPr>
          <a:xfrm>
            <a:off x="7810500" y="5219700"/>
            <a:ext cx="3333750" cy="190500"/>
          </a:xfrm>
          <a:prstGeom prst="rect">
            <a:avLst/>
          </a:prstGeom>
          <a:noFill/>
          <a:ln w="0">
            <a:noFill/>
          </a:ln>
        </p:spPr>
        <p:txBody>
          <a:bodyPr anchor="t">
            <a:normAutofit fontScale="51905"/>
          </a:bodyPr>
          <a:lstStyle/>
          <a:p>
            <a:pPr algn="l">
              <a:lnSpc>
                <a:spcPct val="100000"/>
              </a:lnSpc>
              <a:buNone/>
              <a:defRPr sz="1050" b="1" i="0">
                <a:solidFill>
                  <a:srgbClr val="B64630"/>
                </a:solidFill>
                <a:latin typeface="微软雅黑" panose="020B0503020204020204" charset="-122"/>
                <a:ea typeface="微软雅黑" panose="020B0503020204020204" charset="-122"/>
                <a:cs typeface="微软雅黑" panose="020B0503020204020204" charset="-122"/>
              </a:defRPr>
            </a:pPr>
            <a:r>
              <a:rPr sz="1050" b="1" i="0">
                <a:solidFill>
                  <a:srgbClr val="B64630"/>
                </a:solidFill>
                <a:latin typeface="微软雅黑" panose="020B0503020204020204" charset="-122"/>
                <a:ea typeface="微软雅黑" panose="020B0503020204020204" charset="-122"/>
                <a:cs typeface="微软雅黑" panose="020B0503020204020204" charset="-122"/>
              </a:rPr>
              <a:t>OPTIONAL BRANCH  可选支线</a:t>
            </a:r>
            <a:endParaRPr sz="1050" b="1" i="0">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35" name="圆角矩形 34"/>
          <p:cNvSpPr>
            <a:spLocks noGrp="1"/>
          </p:cNvSpPr>
          <p:nvPr/>
        </p:nvSpPr>
        <p:spPr>
          <a:xfrm>
            <a:off x="7810500" y="5467350"/>
            <a:ext cx="3524250" cy="1068070"/>
          </a:xfrm>
          <a:prstGeom prst="roundRect">
            <a:avLst>
              <a:gd name="adj" fmla="val 9091"/>
            </a:avLst>
          </a:prstGeom>
          <a:solidFill>
            <a:srgbClr val="E4C8A6"/>
          </a:solidFill>
          <a:ln w="11430">
            <a:solidFill>
              <a:srgbClr val="D8BE96"/>
            </a:solidFill>
          </a:ln>
        </p:spPr>
      </p:sp>
      <p:sp>
        <p:nvSpPr>
          <p:cNvPr id="36" name="矩形 35"/>
          <p:cNvSpPr>
            <a:spLocks noGrp="1"/>
          </p:cNvSpPr>
          <p:nvPr/>
        </p:nvSpPr>
        <p:spPr>
          <a:xfrm>
            <a:off x="8362950" y="5574030"/>
            <a:ext cx="2844800" cy="532130"/>
          </a:xfrm>
          <a:prstGeom prst="rect">
            <a:avLst/>
          </a:prstGeom>
          <a:noFill/>
          <a:ln w="0">
            <a:noFill/>
          </a:ln>
        </p:spPr>
        <p:txBody>
          <a:bodyPr anchor="t">
            <a:normAutofit/>
          </a:bodyPr>
          <a:lstStyle/>
          <a:p>
            <a:pPr algn="l">
              <a:lnSpc>
                <a:spcPct val="100000"/>
              </a:lnSpc>
              <a:buNone/>
              <a:defRPr sz="1125" b="1" i="0">
                <a:solidFill>
                  <a:srgbClr val="253532"/>
                </a:solidFill>
                <a:latin typeface="微软雅黑" panose="020B0503020204020204" charset="-122"/>
                <a:ea typeface="微软雅黑" panose="020B0503020204020204" charset="-122"/>
                <a:cs typeface="微软雅黑" panose="020B0503020204020204" charset="-122"/>
              </a:defRPr>
            </a:pPr>
            <a:r>
              <a:rPr sz="1165" b="1" i="0">
                <a:solidFill>
                  <a:srgbClr val="253532"/>
                </a:solidFill>
                <a:latin typeface="微软雅黑" panose="020B0503020204020204" charset="-122"/>
                <a:ea typeface="微软雅黑" panose="020B0503020204020204" charset="-122"/>
                <a:cs typeface="微软雅黑" panose="020B0503020204020204" charset="-122"/>
              </a:rPr>
              <a:t>支线任务（用户可选是否完成）：景点周边的一些小文物或著名美食</a:t>
            </a:r>
            <a:endParaRPr sz="1165" b="1" i="0">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37" name="矩形 36"/>
          <p:cNvSpPr>
            <a:spLocks noGrp="1"/>
          </p:cNvSpPr>
          <p:nvPr/>
        </p:nvSpPr>
        <p:spPr>
          <a:xfrm>
            <a:off x="8020050" y="6093460"/>
            <a:ext cx="3095625" cy="404495"/>
          </a:xfrm>
          <a:prstGeom prst="rect">
            <a:avLst/>
          </a:prstGeom>
          <a:noFill/>
          <a:ln w="0">
            <a:noFill/>
          </a:ln>
        </p:spPr>
        <p:txBody>
          <a:bodyPr anchor="t">
            <a:normAutofit/>
          </a:bodyPr>
          <a:lstStyle/>
          <a:p>
            <a:pPr algn="l">
              <a:lnSpc>
                <a:spcPct val="100000"/>
              </a:lnSpc>
              <a:buNone/>
              <a:defRPr sz="865" b="0" i="0">
                <a:solidFill>
                  <a:srgbClr val="655F56"/>
                </a:solidFill>
                <a:latin typeface="微软雅黑" panose="020B0503020204020204" charset="-122"/>
                <a:ea typeface="微软雅黑" panose="020B0503020204020204" charset="-122"/>
                <a:cs typeface="微软雅黑" panose="020B0503020204020204" charset="-122"/>
              </a:defRPr>
            </a:pPr>
            <a:r>
              <a:rPr sz="700" b="0" i="0">
                <a:solidFill>
                  <a:srgbClr val="655F56"/>
                </a:solidFill>
                <a:latin typeface="微软雅黑" panose="020B0503020204020204" charset="-122"/>
                <a:ea typeface="微软雅黑" panose="020B0503020204020204" charset="-122"/>
                <a:cs typeface="微软雅黑" panose="020B0503020204020204" charset="-122"/>
              </a:rPr>
              <a:t>Side quests are optional: small artifacts or famous foods around the attraction</a:t>
            </a:r>
            <a:r>
              <a:rPr sz="865" b="0" i="0">
                <a:solidFill>
                  <a:srgbClr val="655F56"/>
                </a:solidFill>
                <a:latin typeface="微软雅黑" panose="020B0503020204020204" charset="-122"/>
                <a:ea typeface="微软雅黑" panose="020B0503020204020204" charset="-122"/>
                <a:cs typeface="微软雅黑" panose="020B0503020204020204" charset="-122"/>
              </a:rPr>
              <a:t>.</a:t>
            </a:r>
            <a:endParaRPr sz="865" b="0" i="0">
              <a:solidFill>
                <a:srgbClr val="655F56"/>
              </a:solidFill>
              <a:latin typeface="微软雅黑" panose="020B0503020204020204" charset="-122"/>
              <a:ea typeface="微软雅黑" panose="020B0503020204020204" charset="-122"/>
              <a:cs typeface="微软雅黑" panose="020B0503020204020204" charset="-122"/>
            </a:endParaRPr>
          </a:p>
        </p:txBody>
      </p:sp>
      <p:sp>
        <p:nvSpPr>
          <p:cNvPr id="38" name="下箭头 37"/>
          <p:cNvSpPr>
            <a:spLocks noGrp="1"/>
          </p:cNvSpPr>
          <p:nvPr/>
        </p:nvSpPr>
        <p:spPr>
          <a:xfrm>
            <a:off x="9582150" y="5057775"/>
            <a:ext cx="266700" cy="266700"/>
          </a:xfrm>
          <a:prstGeom prst="downArrow">
            <a:avLst/>
          </a:prstGeom>
          <a:solidFill>
            <a:srgbClr val="B64630"/>
          </a:solidFill>
          <a:ln w="0">
            <a:noFill/>
          </a:ln>
        </p:spPr>
      </p:sp>
      <p:sp>
        <p:nvSpPr>
          <p:cNvPr id="41" name="圆角矩形 40"/>
          <p:cNvSpPr>
            <a:spLocks noGrp="1"/>
          </p:cNvSpPr>
          <p:nvPr/>
        </p:nvSpPr>
        <p:spPr>
          <a:xfrm>
            <a:off x="7896225" y="5570855"/>
            <a:ext cx="361950" cy="361950"/>
          </a:xfrm>
          <a:prstGeom prst="roundRect">
            <a:avLst>
              <a:gd name="adj" fmla="val 21053"/>
            </a:avLst>
          </a:prstGeom>
          <a:solidFill>
            <a:srgbClr val="B64630"/>
          </a:solidFill>
          <a:ln w="0">
            <a:noFill/>
          </a:ln>
        </p:spPr>
        <p:txBody>
          <a:bodyPr anchor="ctr">
            <a:normAutofit fontScale="80000"/>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07</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pic>
        <p:nvPicPr>
          <p:cNvPr id="8" name="图片 6"/>
          <p:cNvPicPr>
            <a:picLocks noChangeAspect="1"/>
          </p:cNvPicPr>
          <p:nvPr/>
        </p:nvPicPr>
        <p:blipFill>
          <a:blip r:embed="rId1"/>
          <a:srcRect t="21663" b="21663"/>
          <a:stretch>
            <a:fillRect/>
          </a:stretch>
        </p:blipFill>
        <p:spPr>
          <a:xfrm>
            <a:off x="5381625" y="0"/>
            <a:ext cx="6810375" cy="6858000"/>
          </a:xfrm>
          <a:prstGeom prst="rect">
            <a:avLst/>
          </a:prstGeom>
        </p:spPr>
      </p:pic>
      <p:sp>
        <p:nvSpPr>
          <p:cNvPr id="2" name="矩形 1"/>
          <p:cNvSpPr>
            <a:spLocks noGrp="1"/>
          </p:cNvSpPr>
          <p:nvPr/>
        </p:nvSpPr>
        <p:spPr>
          <a:xfrm>
            <a:off x="0" y="0"/>
            <a:ext cx="190500" cy="6858000"/>
          </a:xfrm>
          <a:prstGeom prst="rect">
            <a:avLst/>
          </a:prstGeom>
          <a:solidFill>
            <a:srgbClr val="B64630"/>
          </a:solidFill>
          <a:ln w="0">
            <a:noFill/>
          </a:ln>
        </p:spPr>
      </p:sp>
      <p:sp>
        <p:nvSpPr>
          <p:cNvPr id="3" name="矩形 2"/>
          <p:cNvSpPr>
            <a:spLocks noGrp="1"/>
          </p:cNvSpPr>
          <p:nvPr/>
        </p:nvSpPr>
        <p:spPr>
          <a:xfrm>
            <a:off x="800100" y="2505075"/>
            <a:ext cx="857250" cy="66675"/>
          </a:xfrm>
          <a:prstGeom prst="rect">
            <a:avLst/>
          </a:prstGeom>
          <a:solidFill>
            <a:srgbClr val="B64630"/>
          </a:solidFill>
          <a:ln w="0">
            <a:noFill/>
          </a:ln>
        </p:spPr>
      </p:sp>
      <p:sp>
        <p:nvSpPr>
          <p:cNvPr id="4" name="矩形 3"/>
          <p:cNvSpPr>
            <a:spLocks noGrp="1"/>
          </p:cNvSpPr>
          <p:nvPr/>
        </p:nvSpPr>
        <p:spPr>
          <a:xfrm>
            <a:off x="800100" y="2800350"/>
            <a:ext cx="4238625" cy="590550"/>
          </a:xfrm>
          <a:prstGeom prst="rect">
            <a:avLst/>
          </a:prstGeom>
          <a:noFill/>
          <a:ln w="0">
            <a:noFill/>
          </a:ln>
        </p:spPr>
        <p:txBody>
          <a:bodyPr anchor="t">
            <a:normAutofit fontScale="94927"/>
          </a:bodyPr>
          <a:lstStyle/>
          <a:p>
            <a:pPr algn="l">
              <a:buNone/>
              <a:defRPr sz="3450" b="1">
                <a:solidFill>
                  <a:srgbClr val="253532"/>
                </a:solidFill>
                <a:latin typeface="微软雅黑" panose="020B0503020204020204" charset="-122"/>
                <a:ea typeface="微软雅黑" panose="020B0503020204020204" charset="-122"/>
                <a:cs typeface="微软雅黑" panose="020B0503020204020204" charset="-122"/>
              </a:defRPr>
            </a:pPr>
            <a:r>
              <a:rPr sz="3450" b="1">
                <a:solidFill>
                  <a:srgbClr val="253532"/>
                </a:solidFill>
                <a:latin typeface="微软雅黑" panose="020B0503020204020204" charset="-122"/>
                <a:ea typeface="微软雅黑" panose="020B0503020204020204" charset="-122"/>
                <a:cs typeface="微软雅黑" panose="020B0503020204020204" charset="-122"/>
              </a:rPr>
              <a:t>Main Features</a:t>
            </a:r>
            <a:endParaRPr sz="3450"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800100" y="3486150"/>
            <a:ext cx="4238625" cy="628650"/>
          </a:xfrm>
          <a:prstGeom prst="rect">
            <a:avLst/>
          </a:prstGeom>
          <a:noFill/>
          <a:ln w="0">
            <a:noFill/>
          </a:ln>
        </p:spPr>
        <p:txBody>
          <a:bodyPr anchor="t">
            <a:normAutofit/>
          </a:bodyPr>
          <a:lstStyle/>
          <a:p>
            <a:pPr algn="l">
              <a:buNone/>
              <a:defRPr sz="3300" b="1">
                <a:solidFill>
                  <a:srgbClr val="253532"/>
                </a:solidFill>
                <a:latin typeface="微软雅黑" panose="020B0503020204020204" charset="-122"/>
                <a:ea typeface="微软雅黑" panose="020B0503020204020204" charset="-122"/>
                <a:cs typeface="微软雅黑" panose="020B0503020204020204" charset="-122"/>
              </a:defRPr>
            </a:pPr>
            <a:r>
              <a:rPr sz="3300" b="1">
                <a:solidFill>
                  <a:srgbClr val="253532"/>
                </a:solidFill>
                <a:latin typeface="微软雅黑" panose="020B0503020204020204" charset="-122"/>
                <a:ea typeface="微软雅黑" panose="020B0503020204020204" charset="-122"/>
                <a:cs typeface="微软雅黑" panose="020B0503020204020204" charset="-122"/>
              </a:rPr>
              <a:t>主要特点</a:t>
            </a:r>
            <a:endParaRPr sz="3300"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762500" y="523875"/>
            <a:ext cx="333375" cy="190500"/>
          </a:xfrm>
          <a:prstGeom prst="rect">
            <a:avLst/>
          </a:prstGeom>
          <a:noFill/>
          <a:ln w="0">
            <a:noFill/>
          </a:ln>
        </p:spPr>
        <p:txBody>
          <a:bodyPr anchor="t">
            <a:normAutofit fontScale="66667"/>
          </a:bodyPr>
          <a:lstStyle/>
          <a:p>
            <a:pPr algn="l">
              <a:buNone/>
              <a:defRPr sz="975" b="1">
                <a:solidFill>
                  <a:srgbClr val="B64630"/>
                </a:solidFill>
                <a:latin typeface="微软雅黑" panose="020B0503020204020204" charset="-122"/>
                <a:ea typeface="微软雅黑" panose="020B0503020204020204" charset="-122"/>
                <a:cs typeface="微软雅黑" panose="020B0503020204020204" charset="-122"/>
              </a:defRPr>
            </a:pPr>
            <a:r>
              <a:rPr sz="975" b="1">
                <a:solidFill>
                  <a:srgbClr val="B64630"/>
                </a:solidFill>
                <a:latin typeface="微软雅黑" panose="020B0503020204020204" charset="-122"/>
                <a:ea typeface="微软雅黑" panose="020B0503020204020204" charset="-122"/>
                <a:cs typeface="微软雅黑" panose="020B0503020204020204" charset="-122"/>
              </a:rPr>
              <a:t>10</a:t>
            </a:r>
            <a:endParaRPr sz="975" b="1">
              <a:solidFill>
                <a:srgbClr val="B6463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sp>
        <p:nvSpPr>
          <p:cNvPr id="43" name="矩形 42"/>
          <p:cNvSpPr>
            <a:spLocks noGrp="1"/>
          </p:cNvSpPr>
          <p:nvPr/>
        </p:nvSpPr>
        <p:spPr>
          <a:xfrm>
            <a:off x="0" y="0"/>
            <a:ext cx="190500" cy="6858000"/>
          </a:xfrm>
          <a:prstGeom prst="rect">
            <a:avLst/>
          </a:prstGeom>
          <a:solidFill>
            <a:srgbClr val="B64630"/>
          </a:solidFill>
          <a:ln w="0">
            <a:noFill/>
          </a:ln>
        </p:spPr>
      </p:sp>
      <p:sp>
        <p:nvSpPr>
          <p:cNvPr id="2" name="矩形 1"/>
          <p:cNvSpPr>
            <a:spLocks noGrp="1"/>
          </p:cNvSpPr>
          <p:nvPr/>
        </p:nvSpPr>
        <p:spPr>
          <a:xfrm>
            <a:off x="552450" y="361950"/>
            <a:ext cx="8572500" cy="533400"/>
          </a:xfrm>
          <a:prstGeom prst="rect">
            <a:avLst/>
          </a:prstGeom>
          <a:noFill/>
          <a:ln w="0">
            <a:noFill/>
          </a:ln>
        </p:spPr>
        <p:txBody>
          <a:bodyPr anchor="t">
            <a:normAutofit/>
          </a:bodyPr>
          <a:lstStyle/>
          <a:p>
            <a:pPr algn="l">
              <a:buNone/>
              <a:defRPr sz="2550" b="1">
                <a:solidFill>
                  <a:srgbClr val="253532"/>
                </a:solidFill>
                <a:latin typeface="微软雅黑" panose="020B0503020204020204" charset="-122"/>
                <a:ea typeface="微软雅黑" panose="020B0503020204020204" charset="-122"/>
                <a:cs typeface="微软雅黑" panose="020B0503020204020204" charset="-122"/>
              </a:defRPr>
            </a:pPr>
            <a:r>
              <a:rPr sz="2550" b="1">
                <a:solidFill>
                  <a:srgbClr val="253532"/>
                </a:solidFill>
                <a:latin typeface="微软雅黑" panose="020B0503020204020204" charset="-122"/>
                <a:ea typeface="微软雅黑" panose="020B0503020204020204" charset="-122"/>
                <a:cs typeface="微软雅黑" panose="020B0503020204020204" charset="-122"/>
              </a:rPr>
              <a:t>Main Features  主要特点</a:t>
            </a:r>
            <a:endParaRPr sz="2550"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1334750" y="476250"/>
            <a:ext cx="342900" cy="190500"/>
          </a:xfrm>
          <a:prstGeom prst="rect">
            <a:avLst/>
          </a:prstGeom>
          <a:noFill/>
          <a:ln w="0">
            <a:noFill/>
          </a:ln>
        </p:spPr>
        <p:txBody>
          <a:bodyPr anchor="t">
            <a:normAutofit fontScale="66667"/>
          </a:bodyPr>
          <a:lstStyle/>
          <a:p>
            <a:pPr algn="l">
              <a:buNone/>
              <a:defRPr sz="975" b="1">
                <a:solidFill>
                  <a:srgbClr val="B64630"/>
                </a:solidFill>
                <a:latin typeface="微软雅黑" panose="020B0503020204020204" charset="-122"/>
                <a:ea typeface="微软雅黑" panose="020B0503020204020204" charset="-122"/>
                <a:cs typeface="微软雅黑" panose="020B0503020204020204" charset="-122"/>
              </a:defRPr>
            </a:pPr>
            <a:r>
              <a:rPr sz="975" b="1">
                <a:solidFill>
                  <a:srgbClr val="B64630"/>
                </a:solidFill>
                <a:latin typeface="微软雅黑" panose="020B0503020204020204" charset="-122"/>
                <a:ea typeface="微软雅黑" panose="020B0503020204020204" charset="-122"/>
                <a:cs typeface="微软雅黑" panose="020B0503020204020204" charset="-122"/>
              </a:rPr>
              <a:t>11</a:t>
            </a:r>
            <a:endParaRPr sz="975"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52450" y="1009650"/>
            <a:ext cx="11087100" cy="19050"/>
          </a:xfrm>
          <a:prstGeom prst="rect">
            <a:avLst/>
          </a:prstGeom>
          <a:solidFill>
            <a:srgbClr val="C9B79B"/>
          </a:solidFill>
          <a:ln w="0">
            <a:noFill/>
          </a:ln>
        </p:spPr>
      </p:sp>
      <p:sp>
        <p:nvSpPr>
          <p:cNvPr id="5" name="矩形 4"/>
          <p:cNvSpPr>
            <a:spLocks noGrp="1"/>
          </p:cNvSpPr>
          <p:nvPr/>
        </p:nvSpPr>
        <p:spPr>
          <a:xfrm>
            <a:off x="4152900" y="1238250"/>
            <a:ext cx="19050" cy="5067300"/>
          </a:xfrm>
          <a:prstGeom prst="rect">
            <a:avLst/>
          </a:prstGeom>
          <a:solidFill>
            <a:srgbClr val="D8C9B1"/>
          </a:solidFill>
          <a:ln w="0">
            <a:noFill/>
          </a:ln>
        </p:spPr>
      </p:sp>
      <p:sp>
        <p:nvSpPr>
          <p:cNvPr id="6" name="矩形 5"/>
          <p:cNvSpPr>
            <a:spLocks noGrp="1"/>
          </p:cNvSpPr>
          <p:nvPr/>
        </p:nvSpPr>
        <p:spPr>
          <a:xfrm>
            <a:off x="7915275" y="1238250"/>
            <a:ext cx="19050" cy="5067300"/>
          </a:xfrm>
          <a:prstGeom prst="rect">
            <a:avLst/>
          </a:prstGeom>
          <a:solidFill>
            <a:srgbClr val="D8C9B1"/>
          </a:solidFill>
          <a:ln w="0">
            <a:noFill/>
          </a:ln>
        </p:spPr>
      </p:sp>
      <p:sp>
        <p:nvSpPr>
          <p:cNvPr id="7" name="矩形 6"/>
          <p:cNvSpPr>
            <a:spLocks noGrp="1"/>
          </p:cNvSpPr>
          <p:nvPr/>
        </p:nvSpPr>
        <p:spPr>
          <a:xfrm>
            <a:off x="552450" y="12573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01</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2573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史实与虚拟剧情结合</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Historical Facts + Fictional Story</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028700" y="1714500"/>
            <a:ext cx="3048000" cy="514350"/>
          </a:xfrm>
          <a:prstGeom prst="rect">
            <a:avLst/>
          </a:prstGeom>
          <a:noFill/>
          <a:ln w="0">
            <a:noFill/>
          </a:ln>
        </p:spPr>
        <p:txBody>
          <a:bodyPr anchor="t">
            <a:normAutofit/>
          </a:bodyPr>
          <a:lstStyle/>
          <a:p>
            <a:pPr algn="l">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针对不同景点设计独立剧情。虚构的游戏情节以真实历史事件、人物、文物和建筑为基础。</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028700" y="22574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Each site has an independent fictional storyline grounded in real events, people, artifacts and architecture.</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52450" y="29337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02</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028700" y="29337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文物和建筑拟人化</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Personified Heritage</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028700" y="3390900"/>
            <a:ext cx="3048000" cy="514350"/>
          </a:xfrm>
          <a:prstGeom prst="rect">
            <a:avLst/>
          </a:prstGeom>
          <a:noFill/>
          <a:ln w="0">
            <a:noFill/>
          </a:ln>
        </p:spPr>
        <p:txBody>
          <a:bodyPr anchor="t">
            <a:normAutofit/>
          </a:bodyPr>
          <a:lstStyle/>
          <a:p>
            <a:pPr algn="l">
              <a:buClrTx/>
              <a:buSzTx/>
              <a:buFontTx/>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将文物或建筑设计成故事角色，通过对话介绍自己的历史和故事，拉近游客与文化遗产的心理距离。</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39338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Artifacts and buildings become speaking characters, making their stories more approachable and reducing psychological distance.</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552450" y="46101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03</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028700" y="46101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游客参与角色扮演</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Visitor Role-play</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28700" y="5067300"/>
            <a:ext cx="3048000" cy="514350"/>
          </a:xfrm>
          <a:prstGeom prst="rect">
            <a:avLst/>
          </a:prstGeom>
          <a:noFill/>
          <a:ln w="0">
            <a:noFill/>
          </a:ln>
        </p:spPr>
        <p:txBody>
          <a:bodyPr anchor="t">
            <a:normAutofit/>
          </a:bodyPr>
          <a:lstStyle/>
          <a:p>
            <a:pPr algn="l">
              <a:buClrTx/>
              <a:buSzTx/>
              <a:buFontTx/>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用户成为故事中的角色，通过互动、接受任务和作出选择推动剧情，而不只是观看剧情。</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028700" y="56102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Visitors enter the story as characters and move it forward through interactions, missions and choices.</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24350" y="12573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04</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4800600" y="12573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解谜与实地路线结合</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Puzzles + Physical Routes</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4800600" y="1714500"/>
            <a:ext cx="3048000" cy="514350"/>
          </a:xfrm>
          <a:prstGeom prst="rect">
            <a:avLst/>
          </a:prstGeom>
          <a:noFill/>
          <a:ln w="0">
            <a:noFill/>
          </a:ln>
        </p:spPr>
        <p:txBody>
          <a:bodyPr anchor="t">
            <a:normAutofit/>
          </a:bodyPr>
          <a:lstStyle/>
          <a:p>
            <a:pPr algn="l">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历史谜题的答案提示下一个景点，使解谜、剧情和现实参观路线相互连接。</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4800600" y="22574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Historical puzzle answers reveal the next destination, connecting gameplay, story progression and the real route.</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4324350" y="29337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05</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4800600" y="29337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自适应谜题难度</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Adaptive Puzzle Difficulty</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4800600" y="3390900"/>
            <a:ext cx="3048000" cy="514350"/>
          </a:xfrm>
          <a:prstGeom prst="rect">
            <a:avLst/>
          </a:prstGeom>
          <a:noFill/>
          <a:ln w="0">
            <a:noFill/>
          </a:ln>
        </p:spPr>
        <p:txBody>
          <a:bodyPr anchor="t">
            <a:normAutofit/>
          </a:bodyPr>
          <a:lstStyle/>
          <a:p>
            <a:pPr algn="l">
              <a:buClrTx/>
              <a:buSzTx/>
              <a:buFontTx/>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用户可按能力选择难度，适配不同年龄、知识水平和游戏经验，避免过难受挫或过易失去兴趣。</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4800600" y="39338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Selectable difficulty supports different ages and experience levels while preventing frustration or boredom.</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4324350" y="46101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06</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4800600" y="46101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拍照验证与“收集记忆”</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Photo Verification + Memories</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4800600" y="5067300"/>
            <a:ext cx="3048000" cy="514350"/>
          </a:xfrm>
          <a:prstGeom prst="rect">
            <a:avLst/>
          </a:prstGeom>
          <a:noFill/>
          <a:ln w="0">
            <a:noFill/>
          </a:ln>
        </p:spPr>
        <p:txBody>
          <a:bodyPr anchor="t">
            <a:normAutofit/>
          </a:bodyPr>
          <a:lstStyle/>
          <a:p>
            <a:pPr algn="l">
              <a:buClrTx/>
              <a:buSzTx/>
              <a:buFontTx/>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用户到达指定建筑或文物后拍照或合影。验证成功后，系统将这次参观记录为一段“旅行记忆”。</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4800600" y="56102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After photo verification at the target, the system records the visit as a collectible travel memory.</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8086725" y="12573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07</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32" name="矩形 31"/>
          <p:cNvSpPr>
            <a:spLocks noGrp="1"/>
          </p:cNvSpPr>
          <p:nvPr/>
        </p:nvSpPr>
        <p:spPr>
          <a:xfrm>
            <a:off x="8562975" y="12573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文化解读与任务结合</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Culture Unlocked by Tasks</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8562975" y="1714500"/>
            <a:ext cx="3048000" cy="514350"/>
          </a:xfrm>
          <a:prstGeom prst="rect">
            <a:avLst/>
          </a:prstGeom>
          <a:noFill/>
          <a:ln w="0">
            <a:noFill/>
          </a:ln>
        </p:spPr>
        <p:txBody>
          <a:bodyPr anchor="t">
            <a:normAutofit/>
          </a:bodyPr>
          <a:lstStyle/>
          <a:p>
            <a:pPr algn="l">
              <a:buClrTx/>
              <a:buSzTx/>
              <a:buFontTx/>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用户亲自到达地点并完成任务后解锁文物介绍，让文化知识成为探索成果，而不是被动灌输。</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8562975" y="22574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Cultural interpretation unlocks after on-site tasks, turning knowledge into a reward for active exploration.</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35" name="矩形 34"/>
          <p:cNvSpPr>
            <a:spLocks noGrp="1"/>
          </p:cNvSpPr>
          <p:nvPr/>
        </p:nvSpPr>
        <p:spPr>
          <a:xfrm>
            <a:off x="8086725" y="29337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08</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8562975" y="29337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3D模型收藏和游戏奖励</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3D Collection + Rewards</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37" name="矩形 36"/>
          <p:cNvSpPr>
            <a:spLocks noGrp="1"/>
          </p:cNvSpPr>
          <p:nvPr/>
        </p:nvSpPr>
        <p:spPr>
          <a:xfrm>
            <a:off x="8562975" y="3390900"/>
            <a:ext cx="3048000" cy="514350"/>
          </a:xfrm>
          <a:prstGeom prst="rect">
            <a:avLst/>
          </a:prstGeom>
          <a:noFill/>
          <a:ln w="0">
            <a:noFill/>
          </a:ln>
        </p:spPr>
        <p:txBody>
          <a:bodyPr anchor="t">
            <a:normAutofit/>
          </a:bodyPr>
          <a:lstStyle/>
          <a:p>
            <a:pPr algn="l">
              <a:buClrTx/>
              <a:buSzTx/>
              <a:buFontTx/>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完成文物或建筑任务后获得对应的虚拟3D模型。已解锁的模型和历史介绍可随时在个人收藏中查看。</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38" name="矩形 37"/>
          <p:cNvSpPr>
            <a:spLocks noGrp="1"/>
          </p:cNvSpPr>
          <p:nvPr/>
        </p:nvSpPr>
        <p:spPr>
          <a:xfrm>
            <a:off x="8562975" y="39338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Completed missions unlock 3D models and historical information for later viewing in the personal collection.</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
        <p:nvSpPr>
          <p:cNvPr id="39" name="矩形 38"/>
          <p:cNvSpPr>
            <a:spLocks noGrp="1"/>
          </p:cNvSpPr>
          <p:nvPr/>
        </p:nvSpPr>
        <p:spPr>
          <a:xfrm>
            <a:off x="8086725" y="4610100"/>
            <a:ext cx="400050" cy="266700"/>
          </a:xfrm>
          <a:prstGeom prst="rect">
            <a:avLst/>
          </a:prstGeom>
          <a:noFill/>
          <a:ln w="0">
            <a:noFill/>
          </a:ln>
        </p:spPr>
        <p:txBody>
          <a:bodyPr anchor="t">
            <a:normAutofit fontScale="85185"/>
          </a:bodyPr>
          <a:lstStyle/>
          <a:p>
            <a:pPr algn="l">
              <a:buNone/>
              <a:defRPr sz="1350" b="1">
                <a:solidFill>
                  <a:srgbClr val="B64630"/>
                </a:solidFill>
                <a:latin typeface="微软雅黑" panose="020B0503020204020204" charset="-122"/>
                <a:ea typeface="微软雅黑" panose="020B0503020204020204" charset="-122"/>
                <a:cs typeface="微软雅黑" panose="020B0503020204020204" charset="-122"/>
              </a:defRPr>
            </a:pPr>
            <a:r>
              <a:rPr sz="1350" b="1">
                <a:solidFill>
                  <a:srgbClr val="B64630"/>
                </a:solidFill>
                <a:latin typeface="微软雅黑" panose="020B0503020204020204" charset="-122"/>
                <a:ea typeface="微软雅黑" panose="020B0503020204020204" charset="-122"/>
                <a:cs typeface="微软雅黑" panose="020B0503020204020204" charset="-122"/>
              </a:rPr>
              <a:t>09</a:t>
            </a:r>
            <a:endParaRPr sz="1350" b="1">
              <a:solidFill>
                <a:srgbClr val="B64630"/>
              </a:solidFill>
              <a:latin typeface="微软雅黑" panose="020B0503020204020204" charset="-122"/>
              <a:ea typeface="微软雅黑" panose="020B0503020204020204" charset="-122"/>
              <a:cs typeface="微软雅黑" panose="020B0503020204020204" charset="-122"/>
            </a:endParaRPr>
          </a:p>
        </p:txBody>
      </p:sp>
      <p:sp>
        <p:nvSpPr>
          <p:cNvPr id="40" name="矩形 39"/>
          <p:cNvSpPr>
            <a:spLocks noGrp="1"/>
          </p:cNvSpPr>
          <p:nvPr/>
        </p:nvSpPr>
        <p:spPr>
          <a:xfrm>
            <a:off x="8562975" y="4610100"/>
            <a:ext cx="3067050" cy="400050"/>
          </a:xfrm>
          <a:prstGeom prst="rect">
            <a:avLst/>
          </a:prstGeom>
          <a:noFill/>
          <a:ln w="0">
            <a:noFill/>
          </a:ln>
        </p:spPr>
        <p:txBody>
          <a:bodyPr anchor="t">
            <a:normAutofit fontScale="87059"/>
          </a:bodyPr>
          <a:lstStyle/>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主线与支线任务</a:t>
            </a:r>
            <a:endParaRPr sz="1165" b="1">
              <a:solidFill>
                <a:srgbClr val="253532"/>
              </a:solidFill>
              <a:latin typeface="微软雅黑" panose="020B0503020204020204" charset="-122"/>
              <a:ea typeface="微软雅黑" panose="020B0503020204020204" charset="-122"/>
              <a:cs typeface="微软雅黑" panose="020B0503020204020204" charset="-122"/>
            </a:endParaRPr>
          </a:p>
          <a:p>
            <a:pPr algn="l">
              <a:buNone/>
              <a:defRPr sz="1165" b="1">
                <a:solidFill>
                  <a:srgbClr val="253532"/>
                </a:solidFill>
                <a:latin typeface="微软雅黑" panose="020B0503020204020204" charset="-122"/>
                <a:ea typeface="微软雅黑" panose="020B0503020204020204" charset="-122"/>
                <a:cs typeface="微软雅黑" panose="020B0503020204020204" charset="-122"/>
              </a:defRPr>
            </a:pPr>
            <a:r>
              <a:rPr sz="1165" b="1">
                <a:solidFill>
                  <a:srgbClr val="253532"/>
                </a:solidFill>
                <a:latin typeface="微软雅黑" panose="020B0503020204020204" charset="-122"/>
                <a:ea typeface="微软雅黑" panose="020B0503020204020204" charset="-122"/>
                <a:cs typeface="微软雅黑" panose="020B0503020204020204" charset="-122"/>
              </a:rPr>
              <a:t>Main and Optional Side Quests</a:t>
            </a:r>
            <a:endParaRPr sz="1165"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41" name="矩形 40"/>
          <p:cNvSpPr>
            <a:spLocks noGrp="1"/>
          </p:cNvSpPr>
          <p:nvPr/>
        </p:nvSpPr>
        <p:spPr>
          <a:xfrm>
            <a:off x="8562975" y="5067300"/>
            <a:ext cx="3048000" cy="514350"/>
          </a:xfrm>
          <a:prstGeom prst="rect">
            <a:avLst/>
          </a:prstGeom>
          <a:noFill/>
          <a:ln w="0">
            <a:noFill/>
          </a:ln>
        </p:spPr>
        <p:txBody>
          <a:bodyPr anchor="t">
            <a:normAutofit/>
          </a:bodyPr>
          <a:lstStyle/>
          <a:p>
            <a:pPr algn="l">
              <a:buNone/>
              <a:defRPr sz="810" b="0">
                <a:solidFill>
                  <a:srgbClr val="45514E"/>
                </a:solidFill>
                <a:latin typeface="微软雅黑" panose="020B0503020204020204" charset="-122"/>
                <a:ea typeface="微软雅黑" panose="020B0503020204020204" charset="-122"/>
                <a:cs typeface="微软雅黑" panose="020B0503020204020204" charset="-122"/>
              </a:defRPr>
            </a:pPr>
            <a:r>
              <a:rPr sz="1000" b="0">
                <a:solidFill>
                  <a:srgbClr val="45514E"/>
                </a:solidFill>
                <a:latin typeface="微软雅黑" panose="020B0503020204020204" charset="-122"/>
                <a:ea typeface="微软雅黑" panose="020B0503020204020204" charset="-122"/>
                <a:cs typeface="微软雅黑" panose="020B0503020204020204" charset="-122"/>
              </a:rPr>
              <a:t>完成全部指定文物或建筑即完成主线。用户还可探索小型文物、特色地点或美食，且不影响主线进度。</a:t>
            </a:r>
            <a:endParaRPr sz="1000" b="0">
              <a:solidFill>
                <a:srgbClr val="45514E"/>
              </a:solidFill>
              <a:latin typeface="微软雅黑" panose="020B0503020204020204" charset="-122"/>
              <a:ea typeface="微软雅黑" panose="020B0503020204020204" charset="-122"/>
              <a:cs typeface="微软雅黑" panose="020B0503020204020204" charset="-122"/>
            </a:endParaRPr>
          </a:p>
        </p:txBody>
      </p:sp>
      <p:sp>
        <p:nvSpPr>
          <p:cNvPr id="42" name="矩形 41"/>
          <p:cNvSpPr>
            <a:spLocks noGrp="1"/>
          </p:cNvSpPr>
          <p:nvPr/>
        </p:nvSpPr>
        <p:spPr>
          <a:xfrm>
            <a:off x="8562975" y="5610225"/>
            <a:ext cx="3048000" cy="523875"/>
          </a:xfrm>
          <a:prstGeom prst="rect">
            <a:avLst/>
          </a:prstGeom>
          <a:noFill/>
          <a:ln w="0">
            <a:noFill/>
          </a:ln>
        </p:spPr>
        <p:txBody>
          <a:bodyPr anchor="t">
            <a:normAutofit/>
          </a:bodyPr>
          <a:lstStyle/>
          <a:p>
            <a:pPr algn="l">
              <a:buNone/>
              <a:defRPr sz="730" b="0">
                <a:solidFill>
                  <a:srgbClr val="8B644F"/>
                </a:solidFill>
                <a:latin typeface="微软雅黑" panose="020B0503020204020204" charset="-122"/>
                <a:ea typeface="微软雅黑" panose="020B0503020204020204" charset="-122"/>
                <a:cs typeface="微软雅黑" panose="020B0503020204020204" charset="-122"/>
              </a:defRPr>
            </a:pPr>
            <a:r>
              <a:rPr sz="730" b="0">
                <a:solidFill>
                  <a:srgbClr val="8B644F"/>
                </a:solidFill>
                <a:latin typeface="微软雅黑" panose="020B0503020204020204" charset="-122"/>
                <a:ea typeface="微软雅黑" panose="020B0503020204020204" charset="-122"/>
                <a:cs typeface="微软雅黑" panose="020B0503020204020204" charset="-122"/>
              </a:rPr>
              <a:t>The main quest covers required heritage sites. Optional side quests explore smaller artifacts, local places and food.</a:t>
            </a:r>
            <a:endParaRPr sz="730" b="0">
              <a:solidFill>
                <a:srgbClr val="8B644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EEDC"/>
        </a:solidFill>
        <a:effectLst/>
      </p:bgPr>
    </p:bg>
    <p:spTree>
      <p:nvGrpSpPr>
        <p:cNvPr id="1" name=""/>
        <p:cNvGrpSpPr/>
        <p:nvPr/>
      </p:nvGrpSpPr>
      <p:grpSpPr/>
      <p:pic>
        <p:nvPicPr>
          <p:cNvPr id="6" name="图片 5"/>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3476625" y="1104900"/>
            <a:ext cx="5238750" cy="666750"/>
          </a:xfrm>
          <a:prstGeom prst="rect">
            <a:avLst/>
          </a:prstGeom>
          <a:noFill/>
          <a:ln w="0">
            <a:noFill/>
          </a:ln>
        </p:spPr>
        <p:txBody>
          <a:bodyPr anchor="ctr">
            <a:normAutofit/>
          </a:bodyPr>
          <a:lstStyle/>
          <a:p>
            <a:pPr algn="ctr">
              <a:defRPr sz="3600" b="1">
                <a:solidFill>
                  <a:srgbClr val="253532"/>
                </a:solidFill>
                <a:latin typeface="微软雅黑" panose="020B0503020204020204" charset="-122"/>
                <a:ea typeface="微软雅黑" panose="020B0503020204020204" charset="-122"/>
                <a:cs typeface="微软雅黑" panose="020B0503020204020204" charset="-122"/>
              </a:defRPr>
            </a:pPr>
            <a:r>
              <a:rPr sz="3600" b="1">
                <a:solidFill>
                  <a:srgbClr val="253532"/>
                </a:solidFill>
                <a:latin typeface="微软雅黑" panose="020B0503020204020204" charset="-122"/>
                <a:ea typeface="微软雅黑" panose="020B0503020204020204" charset="-122"/>
                <a:cs typeface="微软雅黑" panose="020B0503020204020204" charset="-122"/>
              </a:rPr>
              <a:t>THANK YOU</a:t>
            </a:r>
            <a:endParaRPr sz="3600"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5572125" y="1885950"/>
            <a:ext cx="1047750" cy="57150"/>
          </a:xfrm>
          <a:prstGeom prst="rect">
            <a:avLst/>
          </a:prstGeom>
          <a:solidFill>
            <a:srgbClr val="B64630"/>
          </a:solidFill>
          <a:ln w="0">
            <a:noFill/>
          </a:ln>
        </p:spPr>
      </p:sp>
      <p:sp>
        <p:nvSpPr>
          <p:cNvPr id="4" name="矩形 3"/>
          <p:cNvSpPr>
            <a:spLocks noGrp="1"/>
          </p:cNvSpPr>
          <p:nvPr/>
        </p:nvSpPr>
        <p:spPr>
          <a:xfrm>
            <a:off x="3476625" y="2076450"/>
            <a:ext cx="5238750" cy="619125"/>
          </a:xfrm>
          <a:prstGeom prst="rect">
            <a:avLst/>
          </a:prstGeom>
          <a:noFill/>
          <a:ln w="0">
            <a:noFill/>
          </a:ln>
        </p:spPr>
        <p:txBody>
          <a:bodyPr anchor="ctr">
            <a:normAutofit/>
          </a:bodyPr>
          <a:lstStyle/>
          <a:p>
            <a:pPr algn="ctr">
              <a:defRPr sz="3000" b="1">
                <a:solidFill>
                  <a:srgbClr val="253532"/>
                </a:solidFill>
                <a:latin typeface="微软雅黑" panose="020B0503020204020204" charset="-122"/>
                <a:ea typeface="微软雅黑" panose="020B0503020204020204" charset="-122"/>
                <a:cs typeface="微软雅黑" panose="020B0503020204020204" charset="-122"/>
              </a:defRPr>
            </a:pPr>
            <a:r>
              <a:rPr sz="3000" b="1">
                <a:solidFill>
                  <a:srgbClr val="253532"/>
                </a:solidFill>
                <a:latin typeface="微软雅黑" panose="020B0503020204020204" charset="-122"/>
                <a:ea typeface="微软雅黑" panose="020B0503020204020204" charset="-122"/>
                <a:cs typeface="微软雅黑" panose="020B0503020204020204" charset="-122"/>
              </a:rPr>
              <a:t>谢谢大家</a:t>
            </a:r>
            <a:endParaRPr sz="3000" b="1">
              <a:solidFill>
                <a:srgbClr val="253532"/>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34750" y="400050"/>
            <a:ext cx="342900" cy="190500"/>
          </a:xfrm>
          <a:prstGeom prst="rect">
            <a:avLst/>
          </a:prstGeom>
          <a:noFill/>
          <a:ln w="0">
            <a:noFill/>
          </a:ln>
        </p:spPr>
        <p:txBody>
          <a:bodyPr anchor="ctr">
            <a:normAutofit fontScale="66667"/>
          </a:bodyPr>
          <a:lstStyle/>
          <a:p>
            <a:pPr algn="l">
              <a:defRPr sz="975" b="1">
                <a:solidFill>
                  <a:srgbClr val="B64630"/>
                </a:solidFill>
                <a:latin typeface="微软雅黑" panose="020B0503020204020204" charset="-122"/>
                <a:ea typeface="微软雅黑" panose="020B0503020204020204" charset="-122"/>
                <a:cs typeface="微软雅黑" panose="020B0503020204020204" charset="-122"/>
              </a:defRPr>
            </a:pPr>
            <a:r>
              <a:rPr sz="975" b="1">
                <a:solidFill>
                  <a:srgbClr val="B64630"/>
                </a:solidFill>
                <a:latin typeface="微软雅黑" panose="020B0503020204020204" charset="-122"/>
                <a:ea typeface="微软雅黑" panose="020B0503020204020204" charset="-122"/>
                <a:cs typeface="微软雅黑" panose="020B0503020204020204" charset="-122"/>
              </a:rPr>
              <a:t>12</a:t>
            </a:r>
            <a:endParaRPr sz="975" b="1">
              <a:solidFill>
                <a:srgbClr val="B6463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13715</Words>
  <Application>WPS 演示</Application>
  <PresentationFormat>Converted Presentation</PresentationFormat>
  <Paragraphs>368</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Aptos</vt:lpstr>
      <vt:lpstr>Segoe UI</vt:lpstr>
      <vt:lpstr>Aptos Display</vt:lpstr>
      <vt:lpstr>微软雅黑</vt:lpstr>
      <vt:lpstr>Segoe UI Variable Display</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LYF</cp:lastModifiedBy>
  <cp:revision>1</cp:revision>
  <dcterms:created xsi:type="dcterms:W3CDTF">2026-09-14T15:51:59Z</dcterms:created>
  <dcterms:modified xsi:type="dcterms:W3CDTF">2026-09-14T15:51:59Z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3CE2CE3916DC4387BFA73B5613A36F85_12</vt:lpwstr>
  </property>
  <property fmtid="{D5CDD505-2E9C-101B-9397-08002B2CF9AE}" pid="3" name="KSOProductBuildVer">
    <vt:lpwstr>2052-12.1.0.28505</vt:lpwstr>
  </property>
</Properties>
</file>