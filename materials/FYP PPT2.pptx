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7" name="矩形 26"/>
          <p:cNvSpPr>
            <a:spLocks noGrp="1"/>
          </p:cNvSpPr>
          <p:nvPr/>
        </p:nvSpPr>
        <p:spPr>
          <a:xfrm>
            <a:off x="400050" y="190500"/>
            <a:ext cx="7239000" cy="495300"/>
          </a:xfrm>
          <a:prstGeom prst="rect">
            <a:avLst/>
          </a:prstGeom>
          <a:noFill/>
          <a:ln w="0">
            <a:noFill/>
          </a:ln>
        </p:spPr>
        <p:txBody>
          <a:bodyPr anchor="ctr">
            <a:normAutofit/>
          </a:bodyPr>
          <a:lstStyle/>
          <a:p>
            <a:pPr algn="l">
              <a:buNone/>
              <a:defRPr sz="2550" b="1">
                <a:solidFill>
                  <a:srgbClr val="2E2925"/>
                </a:solidFill>
                <a:latin typeface="微软雅黑" panose="020B0503020204020204" charset="-122"/>
                <a:ea typeface="微软雅黑" panose="020B0503020204020204" charset="-122"/>
                <a:cs typeface="微软雅黑" panose="020B0503020204020204" charset="-122"/>
              </a:defRPr>
            </a:pPr>
            <a:r>
              <a:rPr sz="2550" b="1">
                <a:solidFill>
                  <a:srgbClr val="2E2925"/>
                </a:solidFill>
                <a:latin typeface="微软雅黑" panose="020B0503020204020204" charset="-122"/>
                <a:ea typeface="微软雅黑" panose="020B0503020204020204" charset="-122"/>
                <a:cs typeface="微软雅黑" panose="020B0503020204020204" charset="-122"/>
              </a:rPr>
              <a:t>陕西历史博物馆主线游览路线</a:t>
            </a:r>
            <a:endParaRPr sz="2550" b="1">
              <a:solidFill>
                <a:srgbClr val="2E292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9667875" y="257175"/>
            <a:ext cx="2095500" cy="361950"/>
          </a:xfrm>
          <a:prstGeom prst="rect">
            <a:avLst/>
          </a:prstGeom>
          <a:noFill/>
          <a:ln w="0">
            <a:noFill/>
          </a:ln>
        </p:spPr>
        <p:txBody>
          <a:bodyPr anchor="ctr">
            <a:normAutofit/>
          </a:bodyPr>
          <a:lstStyle/>
          <a:p>
            <a:pPr algn="r">
              <a:buNone/>
              <a:defRPr sz="1500" b="1">
                <a:solidFill>
                  <a:srgbClr val="A93226"/>
                </a:solidFill>
                <a:latin typeface="微软雅黑" panose="020B0503020204020204" charset="-122"/>
                <a:ea typeface="微软雅黑" panose="020B0503020204020204" charset="-122"/>
                <a:cs typeface="微软雅黑" panose="020B0503020204020204" charset="-122"/>
              </a:defRPr>
            </a:pPr>
            <a:r>
              <a:rPr sz="1500" b="1">
                <a:solidFill>
                  <a:srgbClr val="A93226"/>
                </a:solidFill>
                <a:latin typeface="微软雅黑" panose="020B0503020204020204" charset="-122"/>
                <a:ea typeface="微软雅黑" panose="020B0503020204020204" charset="-122"/>
                <a:cs typeface="微软雅黑" panose="020B0503020204020204" charset="-122"/>
              </a:rPr>
              <a:t>1 → 2 → 3 → 4</a:t>
            </a:r>
            <a:endParaRPr sz="1500" b="1">
              <a:solidFill>
                <a:srgbClr val="A93226"/>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400050" y="695325"/>
            <a:ext cx="11391900" cy="28575"/>
          </a:xfrm>
          <a:prstGeom prst="rect">
            <a:avLst/>
          </a:prstGeom>
          <a:solidFill>
            <a:srgbClr val="B68A45"/>
          </a:solidFill>
          <a:ln w="0">
            <a:noFill/>
          </a:ln>
        </p:spPr>
      </p:sp>
      <p:pic>
        <p:nvPicPr>
          <p:cNvPr id="165" name="图片 29"/>
          <p:cNvPicPr>
            <a:picLocks noChangeAspect="1"/>
          </p:cNvPicPr>
          <p:nvPr/>
        </p:nvPicPr>
        <p:blipFill>
          <a:blip r:embed="rId1"/>
          <a:stretch>
            <a:fillRect/>
          </a:stretch>
        </p:blipFill>
        <p:spPr>
          <a:xfrm>
            <a:off x="228600" y="914903"/>
            <a:ext cx="3505200" cy="3628018"/>
          </a:xfrm>
          <a:prstGeom prst="rect">
            <a:avLst/>
          </a:prstGeom>
        </p:spPr>
      </p:pic>
      <p:pic>
        <p:nvPicPr>
          <p:cNvPr id="166" name="图片 30"/>
          <p:cNvPicPr>
            <a:picLocks noChangeAspect="1"/>
          </p:cNvPicPr>
          <p:nvPr/>
        </p:nvPicPr>
        <p:blipFill>
          <a:blip r:embed="rId2"/>
          <a:stretch>
            <a:fillRect/>
          </a:stretch>
        </p:blipFill>
        <p:spPr>
          <a:xfrm>
            <a:off x="4343400" y="916149"/>
            <a:ext cx="3429000" cy="3616002"/>
          </a:xfrm>
          <a:prstGeom prst="rect">
            <a:avLst/>
          </a:prstGeom>
        </p:spPr>
      </p:pic>
      <p:pic>
        <p:nvPicPr>
          <p:cNvPr id="167" name="图片 31"/>
          <p:cNvPicPr>
            <a:picLocks noChangeAspect="1"/>
          </p:cNvPicPr>
          <p:nvPr/>
        </p:nvPicPr>
        <p:blipFill>
          <a:blip r:embed="rId3"/>
          <a:stretch>
            <a:fillRect/>
          </a:stretch>
        </p:blipFill>
        <p:spPr>
          <a:xfrm>
            <a:off x="8439228" y="876300"/>
            <a:ext cx="3352644" cy="3867150"/>
          </a:xfrm>
          <a:prstGeom prst="rect">
            <a:avLst/>
          </a:prstGeom>
        </p:spPr>
      </p:pic>
      <p:sp>
        <p:nvSpPr>
          <p:cNvPr id="7" name="矩形 6"/>
          <p:cNvSpPr>
            <a:spLocks noGrp="1"/>
          </p:cNvSpPr>
          <p:nvPr/>
        </p:nvSpPr>
        <p:spPr>
          <a:xfrm>
            <a:off x="361950" y="742950"/>
            <a:ext cx="1714500" cy="228600"/>
          </a:xfrm>
          <a:prstGeom prst="rect">
            <a:avLst/>
          </a:prstGeom>
          <a:noFill/>
          <a:ln w="0">
            <a:noFill/>
          </a:ln>
        </p:spPr>
        <p:txBody>
          <a:bodyPr anchor="ctr">
            <a:normAutofit fontScale="80000"/>
          </a:bodyPr>
          <a:lstStyle/>
          <a:p>
            <a:pPr algn="l">
              <a:buNone/>
              <a:defRPr sz="1125" b="1">
                <a:solidFill>
                  <a:srgbClr val="7A6A58"/>
                </a:solidFill>
                <a:latin typeface="微软雅黑" panose="020B0503020204020204" charset="-122"/>
                <a:ea typeface="微软雅黑" panose="020B0503020204020204" charset="-122"/>
                <a:cs typeface="微软雅黑" panose="020B0503020204020204" charset="-122"/>
              </a:defRPr>
            </a:pPr>
            <a:r>
              <a:rPr sz="1125" b="1">
                <a:solidFill>
                  <a:srgbClr val="7A6A58"/>
                </a:solidFill>
                <a:latin typeface="微软雅黑" panose="020B0503020204020204" charset="-122"/>
                <a:ea typeface="微软雅黑" panose="020B0503020204020204" charset="-122"/>
                <a:cs typeface="微软雅黑" panose="020B0503020204020204" charset="-122"/>
              </a:rPr>
              <a:t>第一站  ·  2F</a:t>
            </a:r>
            <a:endParaRPr sz="1125" b="1">
              <a:solidFill>
                <a:srgbClr val="7A6A58"/>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4476750" y="742950"/>
            <a:ext cx="2286000" cy="228600"/>
          </a:xfrm>
          <a:prstGeom prst="rect">
            <a:avLst/>
          </a:prstGeom>
          <a:noFill/>
          <a:ln w="0">
            <a:noFill/>
          </a:ln>
        </p:spPr>
        <p:txBody>
          <a:bodyPr anchor="ctr">
            <a:normAutofit fontScale="80000"/>
          </a:bodyPr>
          <a:lstStyle/>
          <a:p>
            <a:pPr algn="l">
              <a:buNone/>
              <a:defRPr sz="1125" b="1">
                <a:solidFill>
                  <a:srgbClr val="7A6A58"/>
                </a:solidFill>
                <a:latin typeface="微软雅黑" panose="020B0503020204020204" charset="-122"/>
                <a:ea typeface="微软雅黑" panose="020B0503020204020204" charset="-122"/>
                <a:cs typeface="微软雅黑" panose="020B0503020204020204" charset="-122"/>
              </a:defRPr>
            </a:pPr>
            <a:r>
              <a:rPr sz="1125" b="1">
                <a:solidFill>
                  <a:srgbClr val="7A6A58"/>
                </a:solidFill>
                <a:latin typeface="微软雅黑" panose="020B0503020204020204" charset="-122"/>
                <a:ea typeface="微软雅黑" panose="020B0503020204020204" charset="-122"/>
                <a:cs typeface="微软雅黑" panose="020B0503020204020204" charset="-122"/>
              </a:rPr>
              <a:t>第二、三站  ·  3F</a:t>
            </a:r>
            <a:endParaRPr sz="1125" b="1">
              <a:solidFill>
                <a:srgbClr val="7A6A58"/>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572500" y="742950"/>
            <a:ext cx="1714500" cy="228600"/>
          </a:xfrm>
          <a:prstGeom prst="rect">
            <a:avLst/>
          </a:prstGeom>
          <a:noFill/>
          <a:ln w="0">
            <a:noFill/>
          </a:ln>
        </p:spPr>
        <p:txBody>
          <a:bodyPr anchor="ctr">
            <a:normAutofit fontScale="80000"/>
          </a:bodyPr>
          <a:lstStyle/>
          <a:p>
            <a:pPr algn="l">
              <a:buNone/>
              <a:defRPr sz="1125" b="1">
                <a:solidFill>
                  <a:srgbClr val="7A6A58"/>
                </a:solidFill>
                <a:latin typeface="微软雅黑" panose="020B0503020204020204" charset="-122"/>
                <a:ea typeface="微软雅黑" panose="020B0503020204020204" charset="-122"/>
                <a:cs typeface="微软雅黑" panose="020B0503020204020204" charset="-122"/>
              </a:defRPr>
            </a:pPr>
            <a:r>
              <a:rPr sz="1125" b="1">
                <a:solidFill>
                  <a:srgbClr val="7A6A58"/>
                </a:solidFill>
                <a:latin typeface="微软雅黑" panose="020B0503020204020204" charset="-122"/>
                <a:ea typeface="微软雅黑" panose="020B0503020204020204" charset="-122"/>
                <a:cs typeface="微软雅黑" panose="020B0503020204020204" charset="-122"/>
              </a:rPr>
              <a:t>终点  ·  1F</a:t>
            </a:r>
            <a:endParaRPr sz="1125" b="1">
              <a:solidFill>
                <a:srgbClr val="7A6A58"/>
              </a:solidFill>
              <a:latin typeface="微软雅黑" panose="020B0503020204020204" charset="-122"/>
              <a:ea typeface="微软雅黑" panose="020B0503020204020204" charset="-122"/>
              <a:cs typeface="微软雅黑" panose="020B0503020204020204" charset="-122"/>
            </a:endParaRPr>
          </a:p>
        </p:txBody>
      </p:sp>
      <p:sp>
        <p:nvSpPr>
          <p:cNvPr id="10" name="椭圆 9"/>
          <p:cNvSpPr>
            <a:spLocks noGrp="1"/>
          </p:cNvSpPr>
          <p:nvPr/>
        </p:nvSpPr>
        <p:spPr>
          <a:xfrm>
            <a:off x="1415415" y="2190750"/>
            <a:ext cx="323850" cy="323850"/>
          </a:xfrm>
          <a:prstGeom prst="ellipse">
            <a:avLst/>
          </a:prstGeom>
          <a:solidFill>
            <a:srgbClr val="A93226"/>
          </a:solidFill>
          <a:ln w="19050">
            <a:solidFill>
              <a:srgbClr val="FFFFFF"/>
            </a:solidFill>
          </a:ln>
        </p:spPr>
        <p:txBody>
          <a:bodyPr anchor="ctr">
            <a:normAutofit fontScale="44275"/>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1</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椭圆 10"/>
          <p:cNvSpPr>
            <a:spLocks noGrp="1"/>
          </p:cNvSpPr>
          <p:nvPr/>
        </p:nvSpPr>
        <p:spPr>
          <a:xfrm>
            <a:off x="5520055" y="2780665"/>
            <a:ext cx="323850" cy="323850"/>
          </a:xfrm>
          <a:prstGeom prst="ellipse">
            <a:avLst/>
          </a:prstGeom>
          <a:solidFill>
            <a:srgbClr val="A93226"/>
          </a:solidFill>
          <a:ln w="19050">
            <a:solidFill>
              <a:srgbClr val="FFFFFF"/>
            </a:solidFill>
          </a:ln>
        </p:spPr>
        <p:txBody>
          <a:bodyPr anchor="ctr">
            <a:normAutofit fontScale="44275"/>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2</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椭圆 11"/>
          <p:cNvSpPr>
            <a:spLocks noGrp="1"/>
          </p:cNvSpPr>
          <p:nvPr/>
        </p:nvSpPr>
        <p:spPr>
          <a:xfrm>
            <a:off x="6219825" y="2047875"/>
            <a:ext cx="323850" cy="323850"/>
          </a:xfrm>
          <a:prstGeom prst="ellipse">
            <a:avLst/>
          </a:prstGeom>
          <a:solidFill>
            <a:srgbClr val="A93226"/>
          </a:solidFill>
          <a:ln w="19050">
            <a:solidFill>
              <a:srgbClr val="FFFFFF"/>
            </a:solidFill>
          </a:ln>
        </p:spPr>
        <p:txBody>
          <a:bodyPr anchor="ctr">
            <a:normAutofit fontScale="44275"/>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3</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 name="椭圆 12"/>
          <p:cNvSpPr>
            <a:spLocks noGrp="1"/>
          </p:cNvSpPr>
          <p:nvPr/>
        </p:nvSpPr>
        <p:spPr>
          <a:xfrm>
            <a:off x="9096375" y="1844675"/>
            <a:ext cx="323850" cy="323850"/>
          </a:xfrm>
          <a:prstGeom prst="ellipse">
            <a:avLst/>
          </a:prstGeom>
          <a:solidFill>
            <a:srgbClr val="A93226"/>
          </a:solidFill>
          <a:ln w="19050">
            <a:solidFill>
              <a:srgbClr val="FFFFFF"/>
            </a:solidFill>
          </a:ln>
        </p:spPr>
        <p:txBody>
          <a:bodyPr anchor="ctr">
            <a:normAutofit fontScale="44275"/>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4</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175" name="直接箭头连接符 39"/>
          <p:cNvCxnSpPr>
            <a:stCxn id="10" idx="6"/>
            <a:endCxn id="11" idx="2"/>
          </p:cNvCxnSpPr>
          <p:nvPr/>
        </p:nvCxnSpPr>
        <p:spPr>
          <a:xfrm>
            <a:off x="1739265" y="2352675"/>
            <a:ext cx="3780790" cy="589915"/>
          </a:xfrm>
          <a:prstGeom prst="straightConnector1">
            <a:avLst/>
          </a:prstGeom>
          <a:ln w="38100">
            <a:solidFill>
              <a:srgbClr val="A93226"/>
            </a:solidFill>
            <a:prstDash val="solid"/>
            <a:tailEnd type="triangle" w="med" len="med"/>
          </a:ln>
        </p:spPr>
      </p:cxnSp>
      <p:cxnSp>
        <p:nvCxnSpPr>
          <p:cNvPr id="176" name="直接箭头连接符 40"/>
          <p:cNvCxnSpPr>
            <a:stCxn id="11" idx="0"/>
            <a:endCxn id="12" idx="4"/>
          </p:cNvCxnSpPr>
          <p:nvPr/>
        </p:nvCxnSpPr>
        <p:spPr>
          <a:xfrm flipV="1">
            <a:off x="5681980" y="2371725"/>
            <a:ext cx="699770" cy="408940"/>
          </a:xfrm>
          <a:prstGeom prst="straightConnector1">
            <a:avLst/>
          </a:prstGeom>
          <a:ln w="38100">
            <a:solidFill>
              <a:srgbClr val="A93226"/>
            </a:solidFill>
            <a:prstDash val="solid"/>
            <a:tailEnd type="triangle" w="med" len="med"/>
          </a:ln>
        </p:spPr>
      </p:cxnSp>
      <p:cxnSp>
        <p:nvCxnSpPr>
          <p:cNvPr id="177" name="直接箭头连接符 41"/>
          <p:cNvCxnSpPr>
            <a:stCxn id="12" idx="6"/>
            <a:endCxn id="13" idx="2"/>
          </p:cNvCxnSpPr>
          <p:nvPr/>
        </p:nvCxnSpPr>
        <p:spPr>
          <a:xfrm flipV="1">
            <a:off x="6543675" y="2006600"/>
            <a:ext cx="2552700" cy="203200"/>
          </a:xfrm>
          <a:prstGeom prst="straightConnector1">
            <a:avLst/>
          </a:prstGeom>
          <a:ln w="38100">
            <a:solidFill>
              <a:srgbClr val="A93226"/>
            </a:solidFill>
            <a:prstDash val="solid"/>
            <a:tailEnd type="triangle" w="med" len="med"/>
          </a:ln>
        </p:spPr>
      </p:cxnSp>
      <p:sp>
        <p:nvSpPr>
          <p:cNvPr id="17" name="圆角矩形 16"/>
          <p:cNvSpPr>
            <a:spLocks noGrp="1"/>
          </p:cNvSpPr>
          <p:nvPr/>
        </p:nvSpPr>
        <p:spPr>
          <a:xfrm>
            <a:off x="495300" y="4829175"/>
            <a:ext cx="3028950" cy="590550"/>
          </a:xfrm>
          <a:prstGeom prst="roundRect">
            <a:avLst>
              <a:gd name="adj" fmla="val 12903"/>
            </a:avLst>
          </a:prstGeom>
          <a:solidFill>
            <a:srgbClr val="FFFDF8"/>
          </a:solidFill>
          <a:ln w="14288">
            <a:solidFill>
              <a:srgbClr val="B68A45"/>
            </a:solidFill>
          </a:ln>
        </p:spPr>
        <p:txBody>
          <a:bodyPr anchor="ctr">
            <a:normAutofit/>
          </a:bodyPr>
          <a:lstStyle/>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第一展厅</a:t>
            </a:r>
            <a:endParaRPr sz="1200" b="1">
              <a:solidFill>
                <a:srgbClr val="2E2925"/>
              </a:solidFill>
              <a:latin typeface="微软雅黑" panose="020B0503020204020204" charset="-122"/>
              <a:ea typeface="微软雅黑" panose="020B0503020204020204" charset="-122"/>
              <a:cs typeface="微软雅黑" panose="020B0503020204020204" charset="-122"/>
            </a:endParaRPr>
          </a:p>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西周“多友”铜鼎</a:t>
            </a:r>
            <a:endParaRPr sz="1200" b="1">
              <a:solidFill>
                <a:srgbClr val="2E2925"/>
              </a:solidFill>
              <a:latin typeface="微软雅黑" panose="020B0503020204020204" charset="-122"/>
              <a:ea typeface="微软雅黑" panose="020B0503020204020204" charset="-122"/>
              <a:cs typeface="微软雅黑" panose="020B0503020204020204" charset="-122"/>
            </a:endParaRPr>
          </a:p>
        </p:txBody>
      </p:sp>
      <p:cxnSp>
        <p:nvCxnSpPr>
          <p:cNvPr id="179" name="直接箭头连接符 43"/>
          <p:cNvCxnSpPr>
            <a:stCxn id="17" idx="0"/>
            <a:endCxn id="10" idx="4"/>
          </p:cNvCxnSpPr>
          <p:nvPr/>
        </p:nvCxnSpPr>
        <p:spPr>
          <a:xfrm flipH="1" flipV="1">
            <a:off x="1577340" y="2514600"/>
            <a:ext cx="432435" cy="2314575"/>
          </a:xfrm>
          <a:prstGeom prst="straightConnector1">
            <a:avLst/>
          </a:prstGeom>
          <a:ln w="19050">
            <a:solidFill>
              <a:srgbClr val="B68A45"/>
            </a:solidFill>
            <a:prstDash val="solid"/>
            <a:tailEnd type="arrow" w="sm" len="sm"/>
          </a:ln>
        </p:spPr>
      </p:cxnSp>
      <p:sp>
        <p:nvSpPr>
          <p:cNvPr id="19" name="圆角矩形 18"/>
          <p:cNvSpPr>
            <a:spLocks noGrp="1"/>
          </p:cNvSpPr>
          <p:nvPr/>
        </p:nvSpPr>
        <p:spPr>
          <a:xfrm>
            <a:off x="4133850" y="4857750"/>
            <a:ext cx="1847850" cy="952500"/>
          </a:xfrm>
          <a:prstGeom prst="roundRect">
            <a:avLst>
              <a:gd name="adj" fmla="val 8000"/>
            </a:avLst>
          </a:prstGeom>
          <a:solidFill>
            <a:srgbClr val="FFFDF8"/>
          </a:solidFill>
          <a:ln w="14288">
            <a:solidFill>
              <a:srgbClr val="B68A45"/>
            </a:solidFill>
          </a:ln>
        </p:spPr>
        <p:txBody>
          <a:bodyPr anchor="ctr">
            <a:normAutofit/>
          </a:bodyPr>
          <a:lstStyle/>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第二展厅</a:t>
            </a:r>
            <a:endParaRPr sz="1200" b="1">
              <a:solidFill>
                <a:srgbClr val="2E2925"/>
              </a:solidFill>
              <a:latin typeface="微软雅黑" panose="020B0503020204020204" charset="-122"/>
              <a:ea typeface="微软雅黑" panose="020B0503020204020204" charset="-122"/>
              <a:cs typeface="微软雅黑" panose="020B0503020204020204" charset="-122"/>
            </a:endParaRPr>
          </a:p>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西魏独孤信多面体</a:t>
            </a:r>
            <a:endParaRPr sz="1200" b="1">
              <a:solidFill>
                <a:srgbClr val="2E2925"/>
              </a:solidFill>
              <a:latin typeface="微软雅黑" panose="020B0503020204020204" charset="-122"/>
              <a:ea typeface="微软雅黑" panose="020B0503020204020204" charset="-122"/>
              <a:cs typeface="微软雅黑" panose="020B0503020204020204" charset="-122"/>
            </a:endParaRPr>
          </a:p>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煤精组印</a:t>
            </a:r>
            <a:endParaRPr sz="1200" b="1">
              <a:solidFill>
                <a:srgbClr val="2E2925"/>
              </a:solidFill>
              <a:latin typeface="微软雅黑" panose="020B0503020204020204" charset="-122"/>
              <a:ea typeface="微软雅黑" panose="020B0503020204020204" charset="-122"/>
              <a:cs typeface="微软雅黑" panose="020B0503020204020204" charset="-122"/>
            </a:endParaRPr>
          </a:p>
        </p:txBody>
      </p:sp>
      <p:cxnSp>
        <p:nvCxnSpPr>
          <p:cNvPr id="181" name="直接箭头连接符 45"/>
          <p:cNvCxnSpPr>
            <a:stCxn id="19" idx="0"/>
            <a:endCxn id="11" idx="4"/>
          </p:cNvCxnSpPr>
          <p:nvPr/>
        </p:nvCxnSpPr>
        <p:spPr>
          <a:xfrm flipV="1">
            <a:off x="5057775" y="3104515"/>
            <a:ext cx="624205" cy="1753235"/>
          </a:xfrm>
          <a:prstGeom prst="straightConnector1">
            <a:avLst/>
          </a:prstGeom>
          <a:ln w="19050">
            <a:solidFill>
              <a:srgbClr val="B68A45"/>
            </a:solidFill>
            <a:prstDash val="solid"/>
            <a:tailEnd type="arrow" w="sm" len="sm"/>
          </a:ln>
        </p:spPr>
      </p:cxnSp>
      <p:sp>
        <p:nvSpPr>
          <p:cNvPr id="21" name="圆角矩形 20"/>
          <p:cNvSpPr>
            <a:spLocks noGrp="1"/>
          </p:cNvSpPr>
          <p:nvPr/>
        </p:nvSpPr>
        <p:spPr>
          <a:xfrm>
            <a:off x="6115050" y="4857750"/>
            <a:ext cx="1847850" cy="952500"/>
          </a:xfrm>
          <a:prstGeom prst="roundRect">
            <a:avLst>
              <a:gd name="adj" fmla="val 8000"/>
            </a:avLst>
          </a:prstGeom>
          <a:solidFill>
            <a:srgbClr val="FFFDF8"/>
          </a:solidFill>
          <a:ln w="14288">
            <a:solidFill>
              <a:srgbClr val="B68A45"/>
            </a:solidFill>
          </a:ln>
        </p:spPr>
        <p:txBody>
          <a:bodyPr anchor="ctr">
            <a:normAutofit/>
          </a:bodyPr>
          <a:lstStyle/>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第三展厅</a:t>
            </a:r>
            <a:endParaRPr sz="1200" b="1">
              <a:solidFill>
                <a:srgbClr val="2E2925"/>
              </a:solidFill>
              <a:latin typeface="微软雅黑" panose="020B0503020204020204" charset="-122"/>
              <a:ea typeface="微软雅黑" panose="020B0503020204020204" charset="-122"/>
              <a:cs typeface="微软雅黑" panose="020B0503020204020204" charset="-122"/>
            </a:endParaRPr>
          </a:p>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唐三彩载乐骆驼俑</a:t>
            </a:r>
            <a:endParaRPr sz="1200" b="1">
              <a:solidFill>
                <a:srgbClr val="2E2925"/>
              </a:solidFill>
              <a:latin typeface="微软雅黑" panose="020B0503020204020204" charset="-122"/>
              <a:ea typeface="微软雅黑" panose="020B0503020204020204" charset="-122"/>
              <a:cs typeface="微软雅黑" panose="020B0503020204020204" charset="-122"/>
            </a:endParaRPr>
          </a:p>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五代青釉提梁倒灌壶</a:t>
            </a:r>
            <a:endParaRPr sz="1200" b="1">
              <a:solidFill>
                <a:srgbClr val="2E2925"/>
              </a:solidFill>
              <a:latin typeface="微软雅黑" panose="020B0503020204020204" charset="-122"/>
              <a:ea typeface="微软雅黑" panose="020B0503020204020204" charset="-122"/>
              <a:cs typeface="微软雅黑" panose="020B0503020204020204" charset="-122"/>
            </a:endParaRPr>
          </a:p>
        </p:txBody>
      </p:sp>
      <p:cxnSp>
        <p:nvCxnSpPr>
          <p:cNvPr id="183" name="直接箭头连接符 47"/>
          <p:cNvCxnSpPr>
            <a:stCxn id="21" idx="0"/>
            <a:endCxn id="12" idx="4"/>
          </p:cNvCxnSpPr>
          <p:nvPr/>
        </p:nvCxnSpPr>
        <p:spPr>
          <a:xfrm flipH="1" flipV="1">
            <a:off x="6381750" y="2371725"/>
            <a:ext cx="657225" cy="2486025"/>
          </a:xfrm>
          <a:prstGeom prst="straightConnector1">
            <a:avLst/>
          </a:prstGeom>
          <a:ln w="19050">
            <a:solidFill>
              <a:srgbClr val="B68A45"/>
            </a:solidFill>
            <a:prstDash val="solid"/>
            <a:tailEnd type="arrow" w="sm" len="sm"/>
          </a:ln>
        </p:spPr>
      </p:cxnSp>
      <p:sp>
        <p:nvSpPr>
          <p:cNvPr id="23" name="圆角矩形 22"/>
          <p:cNvSpPr>
            <a:spLocks noGrp="1"/>
          </p:cNvSpPr>
          <p:nvPr/>
        </p:nvSpPr>
        <p:spPr>
          <a:xfrm>
            <a:off x="8572500" y="4972050"/>
            <a:ext cx="3067050" cy="600075"/>
          </a:xfrm>
          <a:prstGeom prst="roundRect">
            <a:avLst>
              <a:gd name="adj" fmla="val 12698"/>
            </a:avLst>
          </a:prstGeom>
          <a:solidFill>
            <a:srgbClr val="FFFDF8"/>
          </a:solidFill>
          <a:ln w="14288">
            <a:solidFill>
              <a:srgbClr val="B68A45"/>
            </a:solidFill>
          </a:ln>
        </p:spPr>
        <p:txBody>
          <a:bodyPr anchor="ctr">
            <a:normAutofit/>
          </a:bodyPr>
          <a:lstStyle/>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第四展厅</a:t>
            </a:r>
            <a:endParaRPr sz="1200" b="1">
              <a:solidFill>
                <a:srgbClr val="2E2925"/>
              </a:solidFill>
              <a:latin typeface="微软雅黑" panose="020B0503020204020204" charset="-122"/>
              <a:ea typeface="微软雅黑" panose="020B0503020204020204" charset="-122"/>
              <a:cs typeface="微软雅黑" panose="020B0503020204020204" charset="-122"/>
            </a:endParaRPr>
          </a:p>
          <a:p>
            <a:pPr algn="ctr">
              <a:buNone/>
              <a:defRPr sz="1200" b="1">
                <a:solidFill>
                  <a:srgbClr val="2E2925"/>
                </a:solidFill>
                <a:latin typeface="微软雅黑" panose="020B0503020204020204" charset="-122"/>
                <a:ea typeface="微软雅黑" panose="020B0503020204020204" charset="-122"/>
                <a:cs typeface="微软雅黑" panose="020B0503020204020204" charset="-122"/>
              </a:defRPr>
            </a:pPr>
            <a:r>
              <a:rPr sz="1200" b="1">
                <a:solidFill>
                  <a:srgbClr val="2E2925"/>
                </a:solidFill>
                <a:latin typeface="微软雅黑" panose="020B0503020204020204" charset="-122"/>
                <a:ea typeface="微软雅黑" panose="020B0503020204020204" charset="-122"/>
                <a:cs typeface="微软雅黑" panose="020B0503020204020204" charset="-122"/>
              </a:rPr>
              <a:t>唐镶金兽首玛瑙杯</a:t>
            </a:r>
            <a:endParaRPr sz="1200" b="1">
              <a:solidFill>
                <a:srgbClr val="2E2925"/>
              </a:solidFill>
              <a:latin typeface="微软雅黑" panose="020B0503020204020204" charset="-122"/>
              <a:ea typeface="微软雅黑" panose="020B0503020204020204" charset="-122"/>
              <a:cs typeface="微软雅黑" panose="020B0503020204020204" charset="-122"/>
            </a:endParaRPr>
          </a:p>
        </p:txBody>
      </p:sp>
      <p:cxnSp>
        <p:nvCxnSpPr>
          <p:cNvPr id="185" name="直接箭头连接符 49"/>
          <p:cNvCxnSpPr>
            <a:stCxn id="23" idx="0"/>
            <a:endCxn id="13" idx="4"/>
          </p:cNvCxnSpPr>
          <p:nvPr/>
        </p:nvCxnSpPr>
        <p:spPr>
          <a:xfrm flipH="1" flipV="1">
            <a:off x="9258300" y="2168525"/>
            <a:ext cx="847725" cy="2803525"/>
          </a:xfrm>
          <a:prstGeom prst="straightConnector1">
            <a:avLst/>
          </a:prstGeom>
          <a:ln w="19050">
            <a:solidFill>
              <a:srgbClr val="B68A45"/>
            </a:solidFill>
            <a:prstDash val="solid"/>
            <a:tailEnd type="arrow" w="sm" len="sm"/>
          </a:ln>
        </p:spPr>
      </p:cxnSp>
      <p:sp>
        <p:nvSpPr>
          <p:cNvPr id="25" name="矩形 24"/>
          <p:cNvSpPr>
            <a:spLocks noGrp="1"/>
          </p:cNvSpPr>
          <p:nvPr/>
        </p:nvSpPr>
        <p:spPr>
          <a:xfrm>
            <a:off x="400050" y="6248400"/>
            <a:ext cx="2857500" cy="304800"/>
          </a:xfrm>
          <a:prstGeom prst="rect">
            <a:avLst/>
          </a:prstGeom>
          <a:noFill/>
          <a:ln w="0">
            <a:noFill/>
          </a:ln>
        </p:spPr>
        <p:txBody>
          <a:bodyPr anchor="ctr">
            <a:normAutofit/>
          </a:bodyPr>
          <a:lstStyle/>
          <a:p>
            <a:pPr algn="l">
              <a:buNone/>
              <a:defRPr sz="1125" b="0">
                <a:solidFill>
                  <a:srgbClr val="7A6A58"/>
                </a:solidFill>
                <a:latin typeface="微软雅黑" panose="020B0503020204020204" charset="-122"/>
                <a:ea typeface="微软雅黑" panose="020B0503020204020204" charset="-122"/>
                <a:cs typeface="微软雅黑" panose="020B0503020204020204" charset="-122"/>
              </a:defRPr>
            </a:pPr>
            <a:endParaRPr sz="1125" b="0">
              <a:solidFill>
                <a:srgbClr val="7A6A5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0" name="矩形 99"/>
          <p:cNvSpPr>
            <a:spLocks noGrp="1"/>
          </p:cNvSpPr>
          <p:nvPr/>
        </p:nvSpPr>
        <p:spPr>
          <a:xfrm>
            <a:off x="266700" y="171450"/>
            <a:ext cx="6191250" cy="476250"/>
          </a:xfrm>
          <a:prstGeom prst="rect">
            <a:avLst/>
          </a:prstGeom>
          <a:noFill/>
          <a:ln w="0">
            <a:noFill/>
          </a:ln>
        </p:spPr>
        <p:txBody>
          <a:bodyPr anchor="ctr">
            <a:normAutofit/>
          </a:bodyPr>
          <a:lstStyle/>
          <a:p>
            <a:pPr algn="l">
              <a:buNone/>
              <a:defRPr sz="2400" b="1">
                <a:solidFill>
                  <a:srgbClr val="24292E"/>
                </a:solidFill>
                <a:latin typeface="微软雅黑" panose="020B0503020204020204" charset="-122"/>
                <a:ea typeface="微软雅黑" panose="020B0503020204020204" charset="-122"/>
                <a:cs typeface="微软雅黑" panose="020B0503020204020204" charset="-122"/>
              </a:defRPr>
            </a:pPr>
            <a:r>
              <a:rPr sz="2400" b="1">
                <a:solidFill>
                  <a:srgbClr val="24292E"/>
                </a:solidFill>
                <a:latin typeface="微软雅黑" panose="020B0503020204020204" charset="-122"/>
                <a:ea typeface="微软雅黑" panose="020B0503020204020204" charset="-122"/>
                <a:cs typeface="微软雅黑" panose="020B0503020204020204" charset="-122"/>
              </a:rPr>
              <a:t>用户使用程序流程图</a:t>
            </a:r>
            <a:endParaRPr sz="24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7867650" y="247650"/>
            <a:ext cx="4000500" cy="323850"/>
          </a:xfrm>
          <a:prstGeom prst="rect">
            <a:avLst/>
          </a:prstGeom>
          <a:noFill/>
          <a:ln w="0">
            <a:noFill/>
          </a:ln>
        </p:spPr>
        <p:txBody>
          <a:bodyPr anchor="ctr">
            <a:normAutofit/>
          </a:bodyPr>
          <a:lstStyle/>
          <a:p>
            <a:pPr algn="r">
              <a:buNone/>
              <a:defRPr sz="1200" b="0">
                <a:solidFill>
                  <a:srgbClr val="58646A"/>
                </a:solidFill>
                <a:latin typeface="微软雅黑" panose="020B0503020204020204" charset="-122"/>
                <a:ea typeface="微软雅黑" panose="020B0503020204020204" charset="-122"/>
                <a:cs typeface="微软雅黑" panose="020B0503020204020204" charset="-122"/>
              </a:defRPr>
            </a:pPr>
            <a:endParaRPr sz="12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90500" y="781050"/>
            <a:ext cx="723900" cy="495300"/>
          </a:xfrm>
          <a:prstGeom prst="rect">
            <a:avLst/>
          </a:prstGeom>
          <a:solidFill>
            <a:srgbClr val="B8D4E6"/>
          </a:solidFill>
          <a:ln w="0">
            <a:noFill/>
          </a:ln>
        </p:spPr>
        <p:txBody>
          <a:bodyPr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阶段</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90500" y="1352550"/>
            <a:ext cx="723900" cy="4953000"/>
          </a:xfrm>
          <a:prstGeom prst="rect">
            <a:avLst/>
          </a:prstGeom>
          <a:solidFill>
            <a:srgbClr val="B8D4E6"/>
          </a:solidFill>
          <a:ln w="0">
            <a:noFill/>
          </a:ln>
        </p:spPr>
        <p:txBody>
          <a:bodyPr anchor="ctr">
            <a:normAutofit/>
          </a:bodyPr>
          <a:lstStyle/>
          <a:p>
            <a:pPr algn="ctr">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latin typeface="微软雅黑" panose="020B0503020204020204" charset="-122"/>
                <a:ea typeface="微软雅黑" panose="020B0503020204020204" charset="-122"/>
                <a:cs typeface="微软雅黑" panose="020B0503020204020204" charset="-122"/>
              </a:rPr>
              <a:t>用户</a:t>
            </a:r>
            <a:endParaRPr sz="1575" b="1">
              <a:solidFill>
                <a:srgbClr val="FFFFFF"/>
              </a:solidFill>
              <a:latin typeface="微软雅黑" panose="020B0503020204020204" charset="-122"/>
              <a:ea typeface="微软雅黑" panose="020B0503020204020204" charset="-122"/>
              <a:cs typeface="微软雅黑" panose="020B0503020204020204" charset="-122"/>
            </a:endParaRPr>
          </a:p>
          <a:p>
            <a:pPr algn="ctr">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latin typeface="微软雅黑" panose="020B0503020204020204" charset="-122"/>
                <a:ea typeface="微软雅黑" panose="020B0503020204020204" charset="-122"/>
                <a:cs typeface="微软雅黑" panose="020B0503020204020204" charset="-122"/>
              </a:rPr>
              <a:t>操作</a:t>
            </a:r>
            <a:endParaRPr sz="15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燕尾形 4"/>
          <p:cNvSpPr>
            <a:spLocks noGrp="1"/>
          </p:cNvSpPr>
          <p:nvPr/>
        </p:nvSpPr>
        <p:spPr>
          <a:xfrm>
            <a:off x="1028700" y="781050"/>
            <a:ext cx="1524000" cy="495300"/>
          </a:xfrm>
          <a:prstGeom prst="chevron">
            <a:avLst/>
          </a:prstGeom>
          <a:solidFill>
            <a:srgbClr val="CDE7E4"/>
          </a:solidFill>
          <a:ln w="9525">
            <a:solidFill>
              <a:srgbClr val="FFFFFF"/>
            </a:solidFill>
          </a:ln>
        </p:spPr>
        <p:txBody>
          <a:bodyPr anchor="ctr">
            <a:normAutofit/>
          </a:bodyPr>
          <a:lstStyle/>
          <a:p>
            <a:pPr algn="ctr">
              <a:buNone/>
              <a:defRPr sz="1200" b="1">
                <a:solidFill>
                  <a:srgbClr val="24292E"/>
                </a:solidFill>
                <a:latin typeface="微软雅黑" panose="020B0503020204020204" charset="-122"/>
                <a:ea typeface="微软雅黑" panose="020B0503020204020204" charset="-122"/>
                <a:cs typeface="微软雅黑" panose="020B0503020204020204" charset="-122"/>
              </a:defRPr>
            </a:pPr>
            <a:r>
              <a:rPr sz="1200" b="1">
                <a:solidFill>
                  <a:srgbClr val="24292E"/>
                </a:solidFill>
                <a:latin typeface="微软雅黑" panose="020B0503020204020204" charset="-122"/>
                <a:ea typeface="微软雅黑" panose="020B0503020204020204" charset="-122"/>
                <a:cs typeface="微软雅黑" panose="020B0503020204020204" charset="-122"/>
              </a:rPr>
              <a:t>使用前</a:t>
            </a:r>
            <a:endParaRPr sz="12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6" name="燕尾形 5"/>
          <p:cNvSpPr>
            <a:spLocks noGrp="1"/>
          </p:cNvSpPr>
          <p:nvPr/>
        </p:nvSpPr>
        <p:spPr>
          <a:xfrm>
            <a:off x="2667000" y="781050"/>
            <a:ext cx="2438400" cy="495300"/>
          </a:xfrm>
          <a:prstGeom prst="chevron">
            <a:avLst/>
          </a:prstGeom>
          <a:solidFill>
            <a:srgbClr val="A8DAD5"/>
          </a:solidFill>
          <a:ln w="9525">
            <a:solidFill>
              <a:srgbClr val="FFFFFF"/>
            </a:solidFill>
          </a:ln>
        </p:spPr>
        <p:txBody>
          <a:bodyPr anchor="ctr">
            <a:normAutofit/>
          </a:bodyPr>
          <a:lstStyle/>
          <a:p>
            <a:pPr algn="ctr">
              <a:buNone/>
              <a:defRPr sz="1200" b="1">
                <a:solidFill>
                  <a:srgbClr val="24292E"/>
                </a:solidFill>
                <a:latin typeface="微软雅黑" panose="020B0503020204020204" charset="-122"/>
                <a:ea typeface="微软雅黑" panose="020B0503020204020204" charset="-122"/>
                <a:cs typeface="微软雅黑" panose="020B0503020204020204" charset="-122"/>
              </a:defRPr>
            </a:pPr>
            <a:r>
              <a:rPr sz="1200" b="1">
                <a:solidFill>
                  <a:srgbClr val="24292E"/>
                </a:solidFill>
                <a:latin typeface="微软雅黑" panose="020B0503020204020204" charset="-122"/>
                <a:ea typeface="微软雅黑" panose="020B0503020204020204" charset="-122"/>
                <a:cs typeface="微软雅黑" panose="020B0503020204020204" charset="-122"/>
              </a:rPr>
              <a:t>剧情启动</a:t>
            </a:r>
            <a:endParaRPr sz="12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7" name="燕尾形 6"/>
          <p:cNvSpPr>
            <a:spLocks noGrp="1"/>
          </p:cNvSpPr>
          <p:nvPr/>
        </p:nvSpPr>
        <p:spPr>
          <a:xfrm>
            <a:off x="5219700" y="781050"/>
            <a:ext cx="2343150" cy="495300"/>
          </a:xfrm>
          <a:prstGeom prst="chevron">
            <a:avLst/>
          </a:prstGeom>
          <a:solidFill>
            <a:srgbClr val="8FD0CB"/>
          </a:solidFill>
          <a:ln w="9525">
            <a:solidFill>
              <a:srgbClr val="FFFFFF"/>
            </a:solidFill>
          </a:ln>
        </p:spPr>
        <p:txBody>
          <a:bodyPr anchor="ctr">
            <a:normAutofit/>
          </a:bodyPr>
          <a:lstStyle/>
          <a:p>
            <a:pPr algn="ctr">
              <a:buNone/>
              <a:defRPr sz="1200" b="1">
                <a:solidFill>
                  <a:srgbClr val="24292E"/>
                </a:solidFill>
                <a:latin typeface="微软雅黑" panose="020B0503020204020204" charset="-122"/>
                <a:ea typeface="微软雅黑" panose="020B0503020204020204" charset="-122"/>
                <a:cs typeface="微软雅黑" panose="020B0503020204020204" charset="-122"/>
              </a:defRPr>
            </a:pPr>
            <a:r>
              <a:rPr sz="1200" b="1">
                <a:solidFill>
                  <a:srgbClr val="24292E"/>
                </a:solidFill>
                <a:latin typeface="微软雅黑" panose="020B0503020204020204" charset="-122"/>
                <a:ea typeface="微软雅黑" panose="020B0503020204020204" charset="-122"/>
                <a:cs typeface="微软雅黑" panose="020B0503020204020204" charset="-122"/>
              </a:rPr>
              <a:t>第一展厅探索</a:t>
            </a:r>
            <a:endParaRPr sz="12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8" name="燕尾形 7"/>
          <p:cNvSpPr>
            <a:spLocks noGrp="1"/>
          </p:cNvSpPr>
          <p:nvPr/>
        </p:nvSpPr>
        <p:spPr>
          <a:xfrm>
            <a:off x="7677150" y="781050"/>
            <a:ext cx="2857500" cy="495300"/>
          </a:xfrm>
          <a:prstGeom prst="chevron">
            <a:avLst/>
          </a:prstGeom>
          <a:solidFill>
            <a:srgbClr val="79C6C1"/>
          </a:solidFill>
          <a:ln w="9525">
            <a:solidFill>
              <a:srgbClr val="FFFFFF"/>
            </a:solidFill>
          </a:ln>
        </p:spPr>
        <p:txBody>
          <a:bodyPr anchor="ctr">
            <a:normAutofit/>
          </a:bodyPr>
          <a:lstStyle/>
          <a:p>
            <a:pPr algn="ctr">
              <a:buNone/>
              <a:defRPr sz="1200" b="1">
                <a:solidFill>
                  <a:srgbClr val="24292E"/>
                </a:solidFill>
                <a:latin typeface="微软雅黑" panose="020B0503020204020204" charset="-122"/>
                <a:ea typeface="微软雅黑" panose="020B0503020204020204" charset="-122"/>
                <a:cs typeface="微软雅黑" panose="020B0503020204020204" charset="-122"/>
              </a:defRPr>
            </a:pPr>
            <a:r>
              <a:rPr sz="1200" b="1">
                <a:solidFill>
                  <a:srgbClr val="24292E"/>
                </a:solidFill>
                <a:latin typeface="微软雅黑" panose="020B0503020204020204" charset="-122"/>
                <a:ea typeface="微软雅黑" panose="020B0503020204020204" charset="-122"/>
                <a:cs typeface="微软雅黑" panose="020B0503020204020204" charset="-122"/>
              </a:rPr>
              <a:t>后续展厅主线</a:t>
            </a:r>
            <a:endParaRPr sz="12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9" name="燕尾形 8"/>
          <p:cNvSpPr>
            <a:spLocks noGrp="1"/>
          </p:cNvSpPr>
          <p:nvPr/>
        </p:nvSpPr>
        <p:spPr>
          <a:xfrm>
            <a:off x="10648950" y="781050"/>
            <a:ext cx="1314450" cy="495300"/>
          </a:xfrm>
          <a:prstGeom prst="chevron">
            <a:avLst/>
          </a:prstGeom>
          <a:solidFill>
            <a:srgbClr val="CDE7E4"/>
          </a:solidFill>
          <a:ln w="9525">
            <a:solidFill>
              <a:srgbClr val="FFFFFF"/>
            </a:solidFill>
          </a:ln>
        </p:spPr>
        <p:txBody>
          <a:bodyPr anchor="ctr">
            <a:normAutofit/>
          </a:bodyPr>
          <a:lstStyle/>
          <a:p>
            <a:pPr algn="ctr">
              <a:buNone/>
              <a:defRPr sz="1200" b="1">
                <a:solidFill>
                  <a:srgbClr val="24292E"/>
                </a:solidFill>
                <a:latin typeface="微软雅黑" panose="020B0503020204020204" charset="-122"/>
                <a:ea typeface="微软雅黑" panose="020B0503020204020204" charset="-122"/>
                <a:cs typeface="微软雅黑" panose="020B0503020204020204" charset="-122"/>
              </a:defRPr>
            </a:pPr>
            <a:r>
              <a:rPr sz="1200" b="1">
                <a:solidFill>
                  <a:srgbClr val="24292E"/>
                </a:solidFill>
                <a:latin typeface="微软雅黑" panose="020B0503020204020204" charset="-122"/>
                <a:ea typeface="微软雅黑" panose="020B0503020204020204" charset="-122"/>
                <a:cs typeface="微软雅黑" panose="020B0503020204020204" charset="-122"/>
              </a:rPr>
              <a:t>完成</a:t>
            </a:r>
            <a:endParaRPr sz="12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1143000" y="1419225"/>
            <a:ext cx="10572750" cy="0"/>
          </a:xfrm>
          <a:prstGeom prst="line">
            <a:avLst/>
          </a:prstGeom>
          <a:noFill/>
          <a:ln w="19050">
            <a:solidFill>
              <a:srgbClr val="596267"/>
            </a:solidFill>
          </a:ln>
        </p:spPr>
      </p:sp>
      <p:sp>
        <p:nvSpPr>
          <p:cNvPr id="11" name="圆角矩形 10"/>
          <p:cNvSpPr>
            <a:spLocks noGrp="1"/>
          </p:cNvSpPr>
          <p:nvPr/>
        </p:nvSpPr>
        <p:spPr>
          <a:xfrm>
            <a:off x="1104900" y="1619250"/>
            <a:ext cx="1371600" cy="590550"/>
          </a:xfrm>
          <a:prstGeom prst="roundRect">
            <a:avLst>
              <a:gd name="adj" fmla="val 12903"/>
            </a:avLst>
          </a:prstGeom>
          <a:solidFill>
            <a:srgbClr val="FFFFFF"/>
          </a:solidFill>
          <a:ln w="14288">
            <a:solidFill>
              <a:srgbClr val="6FC4BE"/>
            </a:solidFill>
          </a:ln>
        </p:spPr>
      </p:sp>
      <p:sp>
        <p:nvSpPr>
          <p:cNvPr id="12" name="椭圆 11"/>
          <p:cNvSpPr>
            <a:spLocks noGrp="1"/>
          </p:cNvSpPr>
          <p:nvPr/>
        </p:nvSpPr>
        <p:spPr>
          <a:xfrm>
            <a:off x="1181100" y="1695450"/>
            <a:ext cx="285750" cy="266700"/>
          </a:xfrm>
          <a:prstGeom prst="ellipse">
            <a:avLst/>
          </a:prstGeom>
          <a:solidFill>
            <a:srgbClr val="287F7B"/>
          </a:solidFill>
          <a:ln w="9525">
            <a:solidFill>
              <a:srgbClr val="FFFFFF"/>
            </a:solidFill>
          </a:ln>
        </p:spPr>
      </p:sp>
      <p:sp>
        <p:nvSpPr>
          <p:cNvPr id="13" name="矩形 12"/>
          <p:cNvSpPr>
            <a:spLocks noGrp="1"/>
          </p:cNvSpPr>
          <p:nvPr/>
        </p:nvSpPr>
        <p:spPr>
          <a:xfrm>
            <a:off x="1190625" y="172402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1</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504950" y="1685925"/>
            <a:ext cx="8953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打开程序</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04900" y="2552700"/>
            <a:ext cx="1371600" cy="876300"/>
          </a:xfrm>
          <a:prstGeom prst="roundRect">
            <a:avLst>
              <a:gd name="adj" fmla="val 8696"/>
            </a:avLst>
          </a:prstGeom>
          <a:solidFill>
            <a:srgbClr val="FFFFFF"/>
          </a:solidFill>
          <a:ln w="14288">
            <a:solidFill>
              <a:srgbClr val="6FC4BE"/>
            </a:solidFill>
          </a:ln>
        </p:spPr>
      </p:sp>
      <p:sp>
        <p:nvSpPr>
          <p:cNvPr id="16" name="椭圆 15"/>
          <p:cNvSpPr>
            <a:spLocks noGrp="1"/>
          </p:cNvSpPr>
          <p:nvPr/>
        </p:nvSpPr>
        <p:spPr>
          <a:xfrm>
            <a:off x="1181100" y="2628900"/>
            <a:ext cx="285750" cy="266700"/>
          </a:xfrm>
          <a:prstGeom prst="ellipse">
            <a:avLst/>
          </a:prstGeom>
          <a:solidFill>
            <a:srgbClr val="287F7B"/>
          </a:solidFill>
          <a:ln w="9525">
            <a:solidFill>
              <a:srgbClr val="FFFFFF"/>
            </a:solidFill>
          </a:ln>
        </p:spPr>
      </p:sp>
      <p:sp>
        <p:nvSpPr>
          <p:cNvPr id="17" name="矩形 16"/>
          <p:cNvSpPr>
            <a:spLocks noGrp="1"/>
          </p:cNvSpPr>
          <p:nvPr/>
        </p:nvSpPr>
        <p:spPr>
          <a:xfrm>
            <a:off x="1190625" y="265747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2</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504950" y="2619375"/>
            <a:ext cx="8953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设置游览</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219200" y="2933700"/>
            <a:ext cx="1143000" cy="419100"/>
          </a:xfrm>
          <a:prstGeom prst="rect">
            <a:avLst/>
          </a:prstGeom>
          <a:noFill/>
          <a:ln w="0">
            <a:noFill/>
          </a:ln>
        </p:spPr>
        <p:txBody>
          <a:bodyPr anchor="t">
            <a:normAutofit/>
          </a:bodyPr>
          <a:lstStyle/>
          <a:p>
            <a:pPr algn="l">
              <a:buNone/>
              <a:defRPr sz="865"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选择</a:t>
            </a: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难度等级</a:t>
            </a:r>
            <a:r>
              <a:rPr sz="1000" b="0">
                <a:solidFill>
                  <a:srgbClr val="58646A"/>
                </a:solidFill>
                <a:latin typeface="微软雅黑" panose="020B0503020204020204" charset="-122"/>
                <a:ea typeface="微软雅黑" panose="020B0503020204020204" charset="-122"/>
                <a:cs typeface="微软雅黑" panose="020B0503020204020204" charset="-122"/>
              </a:rPr>
              <a:t>、设置名称</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2781300" y="1409700"/>
            <a:ext cx="2209800" cy="1066800"/>
          </a:xfrm>
          <a:prstGeom prst="roundRect">
            <a:avLst>
              <a:gd name="adj" fmla="val 7143"/>
            </a:avLst>
          </a:prstGeom>
          <a:solidFill>
            <a:srgbClr val="FFFFFF"/>
          </a:solidFill>
          <a:ln w="14288">
            <a:solidFill>
              <a:srgbClr val="6FC4BE"/>
            </a:solidFill>
          </a:ln>
        </p:spPr>
      </p:sp>
      <p:sp>
        <p:nvSpPr>
          <p:cNvPr id="21" name="椭圆 20"/>
          <p:cNvSpPr>
            <a:spLocks noGrp="1"/>
          </p:cNvSpPr>
          <p:nvPr/>
        </p:nvSpPr>
        <p:spPr>
          <a:xfrm>
            <a:off x="2857500" y="1485900"/>
            <a:ext cx="285750" cy="266700"/>
          </a:xfrm>
          <a:prstGeom prst="ellipse">
            <a:avLst/>
          </a:prstGeom>
          <a:solidFill>
            <a:srgbClr val="287F7B"/>
          </a:solidFill>
          <a:ln w="9525">
            <a:solidFill>
              <a:srgbClr val="FFFFFF"/>
            </a:solidFill>
          </a:ln>
        </p:spPr>
      </p:sp>
      <p:sp>
        <p:nvSpPr>
          <p:cNvPr id="22" name="矩形 21"/>
          <p:cNvSpPr>
            <a:spLocks noGrp="1"/>
          </p:cNvSpPr>
          <p:nvPr/>
        </p:nvSpPr>
        <p:spPr>
          <a:xfrm>
            <a:off x="2867025" y="151447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3</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3181350" y="1476375"/>
            <a:ext cx="17335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展开剧情</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2895600" y="1790700"/>
            <a:ext cx="1981200" cy="609600"/>
          </a:xfrm>
          <a:prstGeom prst="rect">
            <a:avLst/>
          </a:prstGeom>
          <a:noFill/>
          <a:ln w="0">
            <a:noFill/>
          </a:ln>
        </p:spPr>
        <p:txBody>
          <a:bodyPr anchor="t">
            <a:normAutofit/>
          </a:bodyPr>
          <a:lstStyle/>
          <a:p>
            <a:pPr algn="l">
              <a:buClrTx/>
              <a:buSzTx/>
              <a:buFontTx/>
              <a:buNone/>
              <a:defRPr sz="865"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以第四展馆的</a:t>
            </a: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唐镶金兽首玛瑙杯</a:t>
            </a:r>
            <a:r>
              <a:rPr sz="1000" b="0">
                <a:solidFill>
                  <a:srgbClr val="58646A"/>
                </a:solidFill>
                <a:latin typeface="微软雅黑" panose="020B0503020204020204" charset="-122"/>
                <a:ea typeface="微软雅黑" panose="020B0503020204020204" charset="-122"/>
                <a:cs typeface="微软雅黑" panose="020B0503020204020204" charset="-122"/>
              </a:rPr>
              <a:t>作为剧情引导。玛瑙杯失忆，用户寻找线索帮助它找回记忆。</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25" name="圆角矩形 24"/>
          <p:cNvSpPr>
            <a:spLocks noGrp="1"/>
          </p:cNvSpPr>
          <p:nvPr/>
        </p:nvSpPr>
        <p:spPr>
          <a:xfrm>
            <a:off x="2781300" y="2628900"/>
            <a:ext cx="2209800" cy="838200"/>
          </a:xfrm>
          <a:prstGeom prst="roundRect">
            <a:avLst>
              <a:gd name="adj" fmla="val 9091"/>
            </a:avLst>
          </a:prstGeom>
          <a:solidFill>
            <a:srgbClr val="FFFFFF"/>
          </a:solidFill>
          <a:ln w="14288">
            <a:solidFill>
              <a:srgbClr val="6FC4BE"/>
            </a:solidFill>
          </a:ln>
        </p:spPr>
      </p:sp>
      <p:sp>
        <p:nvSpPr>
          <p:cNvPr id="26" name="椭圆 25"/>
          <p:cNvSpPr>
            <a:spLocks noGrp="1"/>
          </p:cNvSpPr>
          <p:nvPr/>
        </p:nvSpPr>
        <p:spPr>
          <a:xfrm>
            <a:off x="2857500" y="2705100"/>
            <a:ext cx="285750" cy="266700"/>
          </a:xfrm>
          <a:prstGeom prst="ellipse">
            <a:avLst/>
          </a:prstGeom>
          <a:solidFill>
            <a:srgbClr val="287F7B"/>
          </a:solidFill>
          <a:ln w="9525">
            <a:solidFill>
              <a:srgbClr val="FFFFFF"/>
            </a:solidFill>
          </a:ln>
        </p:spPr>
      </p:sp>
      <p:sp>
        <p:nvSpPr>
          <p:cNvPr id="27" name="矩形 26"/>
          <p:cNvSpPr>
            <a:spLocks noGrp="1"/>
          </p:cNvSpPr>
          <p:nvPr/>
        </p:nvSpPr>
        <p:spPr>
          <a:xfrm>
            <a:off x="2867025" y="273367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4</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3181350" y="2695575"/>
            <a:ext cx="17335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第一展厅</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2895600" y="3009900"/>
            <a:ext cx="1981200" cy="381000"/>
          </a:xfrm>
          <a:prstGeom prst="rect">
            <a:avLst/>
          </a:prstGeom>
          <a:noFill/>
          <a:ln w="0">
            <a:noFill/>
          </a:ln>
        </p:spPr>
        <p:txBody>
          <a:bodyPr anchor="t">
            <a:normAutofit/>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a:highlight>
                  <a:srgbClr val="FFFF00"/>
                </a:highlight>
              </a:rPr>
              <a:t>史前、周和秦。</a:t>
            </a:r>
            <a:endParaRPr sz="79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30" name="圆角矩形 29"/>
          <p:cNvSpPr>
            <a:spLocks noGrp="1"/>
          </p:cNvSpPr>
          <p:nvPr/>
        </p:nvSpPr>
        <p:spPr>
          <a:xfrm>
            <a:off x="2781300" y="3619500"/>
            <a:ext cx="2209800" cy="1657350"/>
          </a:xfrm>
          <a:prstGeom prst="roundRect">
            <a:avLst>
              <a:gd name="adj" fmla="val 4598"/>
            </a:avLst>
          </a:prstGeom>
          <a:solidFill>
            <a:srgbClr val="FFFFFF"/>
          </a:solidFill>
          <a:ln w="14288">
            <a:solidFill>
              <a:srgbClr val="6FC4BE"/>
            </a:solidFill>
          </a:ln>
        </p:spPr>
      </p:sp>
      <p:sp>
        <p:nvSpPr>
          <p:cNvPr id="31" name="椭圆 30"/>
          <p:cNvSpPr>
            <a:spLocks noGrp="1"/>
          </p:cNvSpPr>
          <p:nvPr/>
        </p:nvSpPr>
        <p:spPr>
          <a:xfrm>
            <a:off x="2857500" y="3695700"/>
            <a:ext cx="285750" cy="266700"/>
          </a:xfrm>
          <a:prstGeom prst="ellipse">
            <a:avLst/>
          </a:prstGeom>
          <a:solidFill>
            <a:srgbClr val="287F7B"/>
          </a:solidFill>
          <a:ln w="9525">
            <a:solidFill>
              <a:srgbClr val="FFFFFF"/>
            </a:solidFill>
          </a:ln>
        </p:spPr>
      </p:sp>
      <p:sp>
        <p:nvSpPr>
          <p:cNvPr id="32" name="矩形 31"/>
          <p:cNvSpPr>
            <a:spLocks noGrp="1"/>
          </p:cNvSpPr>
          <p:nvPr/>
        </p:nvSpPr>
        <p:spPr>
          <a:xfrm>
            <a:off x="2867025" y="372427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5</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3181350" y="3686175"/>
            <a:ext cx="17335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剧情中先设置谜题</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2895600" y="4000500"/>
            <a:ext cx="1981200" cy="1200150"/>
          </a:xfrm>
          <a:prstGeom prst="rect">
            <a:avLst/>
          </a:prstGeom>
          <a:noFill/>
          <a:ln w="0">
            <a:noFill/>
          </a:ln>
        </p:spPr>
        <p:txBody>
          <a:bodyPr anchor="t">
            <a:normAutofit/>
          </a:bodyPr>
          <a:lstStyle/>
          <a:p>
            <a:pPr algn="l">
              <a:buNone/>
              <a:defRPr sz="75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困难版本：我曾见证一场西周晚期的战争；我不是兵器，而是一件记录战争的青铜礼器。</a:t>
            </a:r>
            <a:endParaRPr sz="1000" b="0">
              <a:solidFill>
                <a:srgbClr val="58646A"/>
              </a:solidFill>
              <a:latin typeface="微软雅黑" panose="020B0503020204020204" charset="-122"/>
              <a:ea typeface="微软雅黑" panose="020B0503020204020204" charset="-122"/>
              <a:cs typeface="微软雅黑" panose="020B0503020204020204" charset="-122"/>
            </a:endParaRPr>
          </a:p>
          <a:p>
            <a:pPr algn="l">
              <a:buNone/>
              <a:defRPr sz="75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简单版本：我内壁藏有铭文；一位将军曾率军反击猃狁。</a:t>
            </a:r>
            <a:endParaRPr sz="1000" b="0">
              <a:solidFill>
                <a:srgbClr val="58646A"/>
              </a:solidFill>
              <a:latin typeface="微软雅黑" panose="020B0503020204020204" charset="-122"/>
              <a:ea typeface="微软雅黑" panose="020B0503020204020204" charset="-122"/>
              <a:cs typeface="微软雅黑" panose="020B0503020204020204" charset="-122"/>
            </a:endParaRPr>
          </a:p>
          <a:p>
            <a:pPr algn="l">
              <a:buNone/>
              <a:defRPr sz="750" b="0">
                <a:solidFill>
                  <a:srgbClr val="58646A"/>
                </a:solidFill>
                <a:latin typeface="微软雅黑" panose="020B0503020204020204" charset="-122"/>
                <a:ea typeface="微软雅黑" panose="020B0503020204020204" charset="-122"/>
                <a:cs typeface="微软雅黑" panose="020B0503020204020204" charset="-122"/>
              </a:defRPr>
            </a:pP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35" name="圆角矩形 34"/>
          <p:cNvSpPr>
            <a:spLocks noGrp="1"/>
          </p:cNvSpPr>
          <p:nvPr/>
        </p:nvSpPr>
        <p:spPr>
          <a:xfrm>
            <a:off x="2781300" y="5429250"/>
            <a:ext cx="2209800" cy="876300"/>
          </a:xfrm>
          <a:prstGeom prst="roundRect">
            <a:avLst>
              <a:gd name="adj" fmla="val 11111"/>
            </a:avLst>
          </a:prstGeom>
          <a:solidFill>
            <a:srgbClr val="FFFFFF"/>
          </a:solidFill>
          <a:ln w="14288">
            <a:solidFill>
              <a:srgbClr val="6FC4BE"/>
            </a:solidFill>
          </a:ln>
        </p:spPr>
      </p:sp>
      <p:sp>
        <p:nvSpPr>
          <p:cNvPr id="36" name="椭圆 35"/>
          <p:cNvSpPr>
            <a:spLocks noGrp="1"/>
          </p:cNvSpPr>
          <p:nvPr/>
        </p:nvSpPr>
        <p:spPr>
          <a:xfrm>
            <a:off x="2857500" y="5505450"/>
            <a:ext cx="285750" cy="266700"/>
          </a:xfrm>
          <a:prstGeom prst="ellipse">
            <a:avLst/>
          </a:prstGeom>
          <a:solidFill>
            <a:srgbClr val="287F7B"/>
          </a:solidFill>
          <a:ln w="9525">
            <a:solidFill>
              <a:srgbClr val="FFFFFF"/>
            </a:solidFill>
          </a:ln>
        </p:spPr>
      </p:sp>
      <p:sp>
        <p:nvSpPr>
          <p:cNvPr id="37" name="矩形 36"/>
          <p:cNvSpPr>
            <a:spLocks noGrp="1"/>
          </p:cNvSpPr>
          <p:nvPr/>
        </p:nvSpPr>
        <p:spPr>
          <a:xfrm>
            <a:off x="2867025" y="553402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6</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矩形 37"/>
          <p:cNvSpPr>
            <a:spLocks noGrp="1"/>
          </p:cNvSpPr>
          <p:nvPr/>
        </p:nvSpPr>
        <p:spPr>
          <a:xfrm>
            <a:off x="3181350" y="5495925"/>
            <a:ext cx="17335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解开谜题</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39" name="矩形 38"/>
          <p:cNvSpPr>
            <a:spLocks noGrp="1"/>
          </p:cNvSpPr>
          <p:nvPr/>
        </p:nvSpPr>
        <p:spPr>
          <a:xfrm>
            <a:off x="2895600" y="5810250"/>
            <a:ext cx="1981200" cy="457835"/>
          </a:xfrm>
          <a:prstGeom prst="rect">
            <a:avLst/>
          </a:prstGeom>
          <a:noFill/>
          <a:ln w="0">
            <a:noFill/>
          </a:ln>
        </p:spPr>
        <p:txBody>
          <a:bodyPr anchor="t">
            <a:normAutofit fontScale="70000"/>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555" b="0">
                <a:solidFill>
                  <a:srgbClr val="58646A"/>
                </a:solidFill>
                <a:latin typeface="微软雅黑" panose="020B0503020204020204" charset="-122"/>
                <a:ea typeface="微软雅黑" panose="020B0503020204020204" charset="-122"/>
                <a:cs typeface="微软雅黑" panose="020B0503020204020204" charset="-122"/>
              </a:rPr>
              <a:t>获得下一目的地：第一展厅的</a:t>
            </a:r>
            <a:r>
              <a:rPr sz="1555"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“多友”鼎。</a:t>
            </a:r>
            <a:endParaRPr sz="1555" b="0">
              <a:solidFill>
                <a:srgbClr val="58646A"/>
              </a:solidFill>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40" name="圆角矩形 39"/>
          <p:cNvSpPr>
            <a:spLocks noGrp="1"/>
          </p:cNvSpPr>
          <p:nvPr/>
        </p:nvSpPr>
        <p:spPr>
          <a:xfrm>
            <a:off x="5334000" y="1409700"/>
            <a:ext cx="2114550" cy="914400"/>
          </a:xfrm>
          <a:prstGeom prst="roundRect">
            <a:avLst>
              <a:gd name="adj" fmla="val 8333"/>
            </a:avLst>
          </a:prstGeom>
          <a:solidFill>
            <a:srgbClr val="FFFFFF"/>
          </a:solidFill>
          <a:ln w="14288">
            <a:solidFill>
              <a:srgbClr val="6FC4BE"/>
            </a:solidFill>
          </a:ln>
        </p:spPr>
      </p:sp>
      <p:sp>
        <p:nvSpPr>
          <p:cNvPr id="41" name="椭圆 40"/>
          <p:cNvSpPr>
            <a:spLocks noGrp="1"/>
          </p:cNvSpPr>
          <p:nvPr/>
        </p:nvSpPr>
        <p:spPr>
          <a:xfrm>
            <a:off x="5410200" y="1485900"/>
            <a:ext cx="285750" cy="266700"/>
          </a:xfrm>
          <a:prstGeom prst="ellipse">
            <a:avLst/>
          </a:prstGeom>
          <a:solidFill>
            <a:srgbClr val="287F7B"/>
          </a:solidFill>
          <a:ln w="9525">
            <a:solidFill>
              <a:srgbClr val="FFFFFF"/>
            </a:solidFill>
          </a:ln>
        </p:spPr>
      </p:sp>
      <p:sp>
        <p:nvSpPr>
          <p:cNvPr id="42" name="矩形 41"/>
          <p:cNvSpPr>
            <a:spLocks noGrp="1"/>
          </p:cNvSpPr>
          <p:nvPr/>
        </p:nvSpPr>
        <p:spPr>
          <a:xfrm>
            <a:off x="5419725" y="151447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7</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3" name="矩形 42"/>
          <p:cNvSpPr>
            <a:spLocks noGrp="1"/>
          </p:cNvSpPr>
          <p:nvPr/>
        </p:nvSpPr>
        <p:spPr>
          <a:xfrm>
            <a:off x="5734050" y="1476375"/>
            <a:ext cx="163830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前往多友鼎</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44" name="矩形 43"/>
          <p:cNvSpPr>
            <a:spLocks noGrp="1"/>
          </p:cNvSpPr>
          <p:nvPr/>
        </p:nvSpPr>
        <p:spPr>
          <a:xfrm>
            <a:off x="5448300" y="1790700"/>
            <a:ext cx="1885950" cy="457200"/>
          </a:xfrm>
          <a:prstGeom prst="rect">
            <a:avLst/>
          </a:prstGeom>
          <a:noFill/>
          <a:ln w="0">
            <a:noFill/>
          </a:ln>
        </p:spPr>
        <p:txBody>
          <a:bodyPr anchor="t">
            <a:noAutofit/>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前往第一展厅，与多友鼎合影留念，确认用户已经抵达第一个文物地点。</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45" name="圆角矩形 44"/>
          <p:cNvSpPr>
            <a:spLocks noGrp="1"/>
          </p:cNvSpPr>
          <p:nvPr/>
        </p:nvSpPr>
        <p:spPr>
          <a:xfrm>
            <a:off x="5334000" y="2476500"/>
            <a:ext cx="2114550" cy="1066800"/>
          </a:xfrm>
          <a:prstGeom prst="roundRect">
            <a:avLst>
              <a:gd name="adj" fmla="val 7143"/>
            </a:avLst>
          </a:prstGeom>
          <a:solidFill>
            <a:srgbClr val="FFFFFF"/>
          </a:solidFill>
          <a:ln w="14288">
            <a:solidFill>
              <a:srgbClr val="6FC4BE"/>
            </a:solidFill>
          </a:ln>
        </p:spPr>
      </p:sp>
      <p:sp>
        <p:nvSpPr>
          <p:cNvPr id="46" name="椭圆 45"/>
          <p:cNvSpPr>
            <a:spLocks noGrp="1"/>
          </p:cNvSpPr>
          <p:nvPr/>
        </p:nvSpPr>
        <p:spPr>
          <a:xfrm>
            <a:off x="5410200" y="2552700"/>
            <a:ext cx="285750" cy="266700"/>
          </a:xfrm>
          <a:prstGeom prst="ellipse">
            <a:avLst/>
          </a:prstGeom>
          <a:solidFill>
            <a:srgbClr val="287F7B"/>
          </a:solidFill>
          <a:ln w="9525">
            <a:solidFill>
              <a:srgbClr val="FFFFFF"/>
            </a:solidFill>
          </a:ln>
        </p:spPr>
      </p:sp>
      <p:sp>
        <p:nvSpPr>
          <p:cNvPr id="47" name="矩形 46"/>
          <p:cNvSpPr>
            <a:spLocks noGrp="1"/>
          </p:cNvSpPr>
          <p:nvPr/>
        </p:nvSpPr>
        <p:spPr>
          <a:xfrm>
            <a:off x="5419725" y="258127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8</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8" name="矩形 47"/>
          <p:cNvSpPr>
            <a:spLocks noGrp="1"/>
          </p:cNvSpPr>
          <p:nvPr/>
        </p:nvSpPr>
        <p:spPr>
          <a:xfrm>
            <a:off x="5734050" y="2543175"/>
            <a:ext cx="163830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highlight>
                  <a:srgbClr val="FFFF00"/>
                </a:highlight>
                <a:latin typeface="微软雅黑" panose="020B0503020204020204" charset="-122"/>
                <a:ea typeface="微软雅黑" panose="020B0503020204020204" charset="-122"/>
                <a:cs typeface="微软雅黑" panose="020B0503020204020204" charset="-122"/>
              </a:rPr>
              <a:t>3D文物互动解谜</a:t>
            </a:r>
            <a:endParaRPr sz="1050" b="1">
              <a:solidFill>
                <a:srgbClr val="24292E"/>
              </a:solidFill>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49" name="矩形 48"/>
          <p:cNvSpPr>
            <a:spLocks noGrp="1"/>
          </p:cNvSpPr>
          <p:nvPr/>
        </p:nvSpPr>
        <p:spPr>
          <a:xfrm>
            <a:off x="5448300" y="2857500"/>
            <a:ext cx="1885950" cy="609600"/>
          </a:xfrm>
          <a:prstGeom prst="rect">
            <a:avLst/>
          </a:prstGeom>
          <a:noFill/>
          <a:ln w="0">
            <a:noFill/>
          </a:ln>
        </p:spPr>
        <p:txBody>
          <a:bodyPr anchor="t">
            <a:normAutofit fontScale="90000" lnSpcReduction="10000"/>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例：鼎三足形似何种动物（牛蹄足）</a:t>
            </a:r>
            <a:endParaRPr sz="1000" b="0">
              <a:solidFill>
                <a:srgbClr val="58646A"/>
              </a:solidFill>
              <a:latin typeface="微软雅黑" panose="020B0503020204020204" charset="-122"/>
              <a:ea typeface="微软雅黑" panose="020B0503020204020204" charset="-122"/>
              <a:cs typeface="微软雅黑" panose="020B0503020204020204" charset="-122"/>
            </a:endParaRPr>
          </a:p>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鼎内铭文共有几行、几字（22行279字）</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50" name="圆角矩形 49"/>
          <p:cNvSpPr>
            <a:spLocks noGrp="1"/>
          </p:cNvSpPr>
          <p:nvPr/>
        </p:nvSpPr>
        <p:spPr>
          <a:xfrm>
            <a:off x="5334000" y="3695700"/>
            <a:ext cx="2114550" cy="914400"/>
          </a:xfrm>
          <a:prstGeom prst="roundRect">
            <a:avLst>
              <a:gd name="adj" fmla="val 8333"/>
            </a:avLst>
          </a:prstGeom>
          <a:solidFill>
            <a:srgbClr val="FFFFFF"/>
          </a:solidFill>
          <a:ln w="14288">
            <a:solidFill>
              <a:srgbClr val="6FC4BE"/>
            </a:solidFill>
          </a:ln>
        </p:spPr>
      </p:sp>
      <p:sp>
        <p:nvSpPr>
          <p:cNvPr id="51" name="椭圆 50"/>
          <p:cNvSpPr>
            <a:spLocks noGrp="1"/>
          </p:cNvSpPr>
          <p:nvPr/>
        </p:nvSpPr>
        <p:spPr>
          <a:xfrm>
            <a:off x="5410200" y="3771900"/>
            <a:ext cx="285750" cy="266700"/>
          </a:xfrm>
          <a:prstGeom prst="ellipse">
            <a:avLst/>
          </a:prstGeom>
          <a:solidFill>
            <a:srgbClr val="287F7B"/>
          </a:solidFill>
          <a:ln w="9525">
            <a:solidFill>
              <a:srgbClr val="FFFFFF"/>
            </a:solidFill>
          </a:ln>
        </p:spPr>
      </p:sp>
      <p:sp>
        <p:nvSpPr>
          <p:cNvPr id="52" name="矩形 51"/>
          <p:cNvSpPr>
            <a:spLocks noGrp="1"/>
          </p:cNvSpPr>
          <p:nvPr/>
        </p:nvSpPr>
        <p:spPr>
          <a:xfrm>
            <a:off x="5419725" y="3800475"/>
            <a:ext cx="266700" cy="180975"/>
          </a:xfrm>
          <a:prstGeom prst="rect">
            <a:avLst/>
          </a:prstGeom>
          <a:noFill/>
          <a:ln w="0">
            <a:noFill/>
          </a:ln>
        </p:spPr>
        <p:txBody>
          <a:bodyPr anchor="ctr">
            <a:normAutofit fontScale="9208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9</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3" name="矩形 52"/>
          <p:cNvSpPr>
            <a:spLocks noGrp="1"/>
          </p:cNvSpPr>
          <p:nvPr/>
        </p:nvSpPr>
        <p:spPr>
          <a:xfrm>
            <a:off x="5734050" y="3762375"/>
            <a:ext cx="163830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完成并收集文物</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54" name="矩形 53"/>
          <p:cNvSpPr>
            <a:spLocks noGrp="1"/>
          </p:cNvSpPr>
          <p:nvPr/>
        </p:nvSpPr>
        <p:spPr>
          <a:xfrm>
            <a:off x="5448300" y="4076700"/>
            <a:ext cx="1885950" cy="457200"/>
          </a:xfrm>
          <a:prstGeom prst="rect">
            <a:avLst/>
          </a:prstGeom>
          <a:noFill/>
          <a:ln w="0">
            <a:noFill/>
          </a:ln>
        </p:spPr>
        <p:txBody>
          <a:bodyPr anchor="t">
            <a:normAutofit fontScale="90000" lnSpcReduction="20000"/>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收集文物3D模型，查看完整史实背景介绍，并保存至收藏展柜展示+有关</a:t>
            </a:r>
            <a:r>
              <a:rPr sz="1000"/>
              <a:t>唐镶金兽首玛瑙的线索</a:t>
            </a:r>
            <a:endParaRPr sz="1000"/>
          </a:p>
        </p:txBody>
      </p:sp>
      <p:sp>
        <p:nvSpPr>
          <p:cNvPr id="55" name="圆角矩形 54"/>
          <p:cNvSpPr>
            <a:spLocks noGrp="1"/>
          </p:cNvSpPr>
          <p:nvPr/>
        </p:nvSpPr>
        <p:spPr>
          <a:xfrm>
            <a:off x="5334000" y="4762500"/>
            <a:ext cx="2114550" cy="1257300"/>
          </a:xfrm>
          <a:prstGeom prst="roundRect">
            <a:avLst>
              <a:gd name="adj" fmla="val 6061"/>
            </a:avLst>
          </a:prstGeom>
          <a:solidFill>
            <a:srgbClr val="F1FAF9"/>
          </a:solidFill>
          <a:ln w="9525">
            <a:solidFill>
              <a:srgbClr val="6FC4BE"/>
            </a:solidFill>
            <a:prstDash val="dash"/>
          </a:ln>
        </p:spPr>
        <p:txBody>
          <a:bodyPr anchor="ctr">
            <a:normAutofit/>
          </a:bodyPr>
          <a:lstStyle/>
          <a:p>
            <a:pPr algn="l">
              <a:buClrTx/>
              <a:buSzTx/>
              <a:buFontTx/>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分支：</a:t>
            </a: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语音互动功能</a:t>
            </a:r>
            <a:endParaRPr sz="1000" b="0">
              <a:solidFill>
                <a:srgbClr val="58646A"/>
              </a:solidFill>
              <a:latin typeface="微软雅黑" panose="020B0503020204020204" charset="-122"/>
              <a:ea typeface="微软雅黑" panose="020B0503020204020204" charset="-122"/>
              <a:cs typeface="微软雅黑" panose="020B0503020204020204" charset="-122"/>
            </a:endParaRPr>
          </a:p>
          <a:p>
            <a:pPr algn="l">
              <a:buClrTx/>
              <a:buSzTx/>
              <a:buFontTx/>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史实介绍无法针对用户疑点单独解答，对于用户成功收集到的文物增设对话功能，用户可与其对话等到其背后史实问题的一对一解答</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56" name="圆角矩形 55"/>
          <p:cNvSpPr>
            <a:spLocks noGrp="1"/>
          </p:cNvSpPr>
          <p:nvPr/>
        </p:nvSpPr>
        <p:spPr>
          <a:xfrm>
            <a:off x="7791450" y="1409700"/>
            <a:ext cx="2628900" cy="971550"/>
          </a:xfrm>
          <a:prstGeom prst="roundRect">
            <a:avLst>
              <a:gd name="adj" fmla="val 7843"/>
            </a:avLst>
          </a:prstGeom>
          <a:solidFill>
            <a:srgbClr val="FFFFFF"/>
          </a:solidFill>
          <a:ln w="14288">
            <a:solidFill>
              <a:srgbClr val="6FC4BE"/>
            </a:solidFill>
          </a:ln>
        </p:spPr>
      </p:sp>
      <p:sp>
        <p:nvSpPr>
          <p:cNvPr id="57" name="椭圆 56"/>
          <p:cNvSpPr>
            <a:spLocks noGrp="1"/>
          </p:cNvSpPr>
          <p:nvPr/>
        </p:nvSpPr>
        <p:spPr>
          <a:xfrm>
            <a:off x="7867650" y="1485900"/>
            <a:ext cx="285750" cy="266700"/>
          </a:xfrm>
          <a:prstGeom prst="ellipse">
            <a:avLst/>
          </a:prstGeom>
          <a:solidFill>
            <a:srgbClr val="287F7B"/>
          </a:solidFill>
          <a:ln w="9525">
            <a:solidFill>
              <a:srgbClr val="FFFFFF"/>
            </a:solidFill>
          </a:ln>
        </p:spPr>
      </p:sp>
      <p:sp>
        <p:nvSpPr>
          <p:cNvPr id="58" name="矩形 57"/>
          <p:cNvSpPr>
            <a:spLocks noGrp="1"/>
          </p:cNvSpPr>
          <p:nvPr/>
        </p:nvSpPr>
        <p:spPr>
          <a:xfrm>
            <a:off x="7877175" y="1514475"/>
            <a:ext cx="266700" cy="180975"/>
          </a:xfrm>
          <a:prstGeom prst="rect">
            <a:avLst/>
          </a:prstGeom>
          <a:noFill/>
          <a:ln w="0">
            <a:noFill/>
          </a:ln>
        </p:spPr>
        <p:txBody>
          <a:bodyPr anchor="ctr">
            <a:normAutofit fontScale="8410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10</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9" name="矩形 58"/>
          <p:cNvSpPr>
            <a:spLocks noGrp="1"/>
          </p:cNvSpPr>
          <p:nvPr/>
        </p:nvSpPr>
        <p:spPr>
          <a:xfrm>
            <a:off x="8191500" y="1476375"/>
            <a:ext cx="21526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再次进入剧情</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60" name="矩形 59"/>
          <p:cNvSpPr>
            <a:spLocks noGrp="1"/>
          </p:cNvSpPr>
          <p:nvPr/>
        </p:nvSpPr>
        <p:spPr>
          <a:xfrm>
            <a:off x="7905750" y="1790700"/>
            <a:ext cx="2400300" cy="514350"/>
          </a:xfrm>
          <a:prstGeom prst="rect">
            <a:avLst/>
          </a:prstGeom>
          <a:noFill/>
          <a:ln w="0">
            <a:noFill/>
          </a:ln>
        </p:spPr>
        <p:txBody>
          <a:bodyPr anchor="t">
            <a:normAutofit fontScale="90000" lnSpcReduction="10000"/>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解谜推动下一件文物：</a:t>
            </a: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第二展厅</a:t>
            </a:r>
            <a:r>
              <a:rPr sz="1000" b="0">
                <a:solidFill>
                  <a:srgbClr val="58646A"/>
                </a:solidFill>
                <a:latin typeface="微软雅黑" panose="020B0503020204020204" charset="-122"/>
                <a:ea typeface="微软雅黑" panose="020B0503020204020204" charset="-122"/>
                <a:cs typeface="微软雅黑" panose="020B0503020204020204" charset="-122"/>
              </a:rPr>
              <a:t>的</a:t>
            </a: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西魏独孤信多面体煤精组印</a:t>
            </a:r>
            <a:r>
              <a:rPr sz="79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a:t>
            </a:r>
            <a:endParaRPr sz="790" b="0">
              <a:solidFill>
                <a:srgbClr val="58646A"/>
              </a:solidFill>
              <a:latin typeface="微软雅黑" panose="020B0503020204020204" charset="-122"/>
              <a:ea typeface="微软雅黑" panose="020B0503020204020204" charset="-122"/>
              <a:cs typeface="微软雅黑" panose="020B0503020204020204" charset="-122"/>
            </a:endParaRPr>
          </a:p>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790" b="0">
                <a:solidFill>
                  <a:srgbClr val="58646A"/>
                </a:solidFill>
                <a:latin typeface="微软雅黑" panose="020B0503020204020204" charset="-122"/>
                <a:ea typeface="微软雅黑" panose="020B0503020204020204" charset="-122"/>
                <a:cs typeface="微软雅黑" panose="020B0503020204020204" charset="-122"/>
              </a:rPr>
              <a:t>                                                  </a:t>
            </a:r>
            <a:r>
              <a:rPr sz="111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汉、魏晋南北朝</a:t>
            </a:r>
            <a:endParaRPr sz="111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61" name="圆角矩形 60"/>
          <p:cNvSpPr>
            <a:spLocks noGrp="1"/>
          </p:cNvSpPr>
          <p:nvPr/>
        </p:nvSpPr>
        <p:spPr>
          <a:xfrm>
            <a:off x="7791450" y="2533650"/>
            <a:ext cx="2628900" cy="647700"/>
          </a:xfrm>
          <a:prstGeom prst="roundRect">
            <a:avLst>
              <a:gd name="adj" fmla="val 11765"/>
            </a:avLst>
          </a:prstGeom>
          <a:solidFill>
            <a:srgbClr val="FFFFFF"/>
          </a:solidFill>
          <a:ln w="14288">
            <a:solidFill>
              <a:srgbClr val="6FC4BE"/>
            </a:solidFill>
          </a:ln>
        </p:spPr>
      </p:sp>
      <p:sp>
        <p:nvSpPr>
          <p:cNvPr id="62" name="椭圆 61"/>
          <p:cNvSpPr>
            <a:spLocks noGrp="1"/>
          </p:cNvSpPr>
          <p:nvPr/>
        </p:nvSpPr>
        <p:spPr>
          <a:xfrm>
            <a:off x="7867650" y="2609850"/>
            <a:ext cx="285750" cy="266700"/>
          </a:xfrm>
          <a:prstGeom prst="ellipse">
            <a:avLst/>
          </a:prstGeom>
          <a:solidFill>
            <a:srgbClr val="287F7B"/>
          </a:solidFill>
          <a:ln w="9525">
            <a:solidFill>
              <a:srgbClr val="FFFFFF"/>
            </a:solidFill>
          </a:ln>
        </p:spPr>
      </p:sp>
      <p:sp>
        <p:nvSpPr>
          <p:cNvPr id="63" name="矩形 62"/>
          <p:cNvSpPr>
            <a:spLocks noGrp="1"/>
          </p:cNvSpPr>
          <p:nvPr/>
        </p:nvSpPr>
        <p:spPr>
          <a:xfrm>
            <a:off x="7877175" y="2638425"/>
            <a:ext cx="266700" cy="180975"/>
          </a:xfrm>
          <a:prstGeom prst="rect">
            <a:avLst/>
          </a:prstGeom>
          <a:noFill/>
          <a:ln w="0">
            <a:noFill/>
          </a:ln>
        </p:spPr>
        <p:txBody>
          <a:bodyPr anchor="ctr">
            <a:normAutofit fontScale="8410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11</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4" name="矩形 63"/>
          <p:cNvSpPr>
            <a:spLocks noGrp="1"/>
          </p:cNvSpPr>
          <p:nvPr/>
        </p:nvSpPr>
        <p:spPr>
          <a:xfrm>
            <a:off x="8191500" y="2600325"/>
            <a:ext cx="21526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3D互动＋收集</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65" name="矩形 64"/>
          <p:cNvSpPr>
            <a:spLocks noGrp="1"/>
          </p:cNvSpPr>
          <p:nvPr/>
        </p:nvSpPr>
        <p:spPr>
          <a:xfrm>
            <a:off x="7905750" y="2914650"/>
            <a:ext cx="2400300" cy="190500"/>
          </a:xfrm>
          <a:prstGeom prst="rect">
            <a:avLst/>
          </a:prstGeom>
          <a:noFill/>
          <a:ln w="0">
            <a:noFill/>
          </a:ln>
        </p:spPr>
        <p:txBody>
          <a:bodyPr anchor="t">
            <a:noAutofit/>
          </a:bodyPr>
          <a:lstStyle/>
          <a:p>
            <a:pPr algn="l">
              <a:buNone/>
              <a:defRPr sz="865"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介绍＋线索</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66" name="圆角矩形 65"/>
          <p:cNvSpPr>
            <a:spLocks noGrp="1"/>
          </p:cNvSpPr>
          <p:nvPr/>
        </p:nvSpPr>
        <p:spPr>
          <a:xfrm>
            <a:off x="7791450" y="3333750"/>
            <a:ext cx="2628900" cy="647700"/>
          </a:xfrm>
          <a:prstGeom prst="roundRect">
            <a:avLst>
              <a:gd name="adj" fmla="val 11765"/>
            </a:avLst>
          </a:prstGeom>
          <a:solidFill>
            <a:srgbClr val="FFFFFF"/>
          </a:solidFill>
          <a:ln w="14288">
            <a:solidFill>
              <a:srgbClr val="6FC4BE"/>
            </a:solidFill>
          </a:ln>
        </p:spPr>
      </p:sp>
      <p:sp>
        <p:nvSpPr>
          <p:cNvPr id="67" name="椭圆 66"/>
          <p:cNvSpPr>
            <a:spLocks noGrp="1"/>
          </p:cNvSpPr>
          <p:nvPr/>
        </p:nvSpPr>
        <p:spPr>
          <a:xfrm>
            <a:off x="7867650" y="3409950"/>
            <a:ext cx="285750" cy="266700"/>
          </a:xfrm>
          <a:prstGeom prst="ellipse">
            <a:avLst/>
          </a:prstGeom>
          <a:solidFill>
            <a:srgbClr val="287F7B"/>
          </a:solidFill>
          <a:ln w="9525">
            <a:solidFill>
              <a:srgbClr val="FFFFFF"/>
            </a:solidFill>
          </a:ln>
        </p:spPr>
      </p:sp>
      <p:sp>
        <p:nvSpPr>
          <p:cNvPr id="68" name="矩形 67"/>
          <p:cNvSpPr>
            <a:spLocks noGrp="1"/>
          </p:cNvSpPr>
          <p:nvPr/>
        </p:nvSpPr>
        <p:spPr>
          <a:xfrm>
            <a:off x="7877175" y="3438525"/>
            <a:ext cx="266700" cy="180975"/>
          </a:xfrm>
          <a:prstGeom prst="rect">
            <a:avLst/>
          </a:prstGeom>
          <a:noFill/>
          <a:ln w="0">
            <a:noFill/>
          </a:ln>
        </p:spPr>
        <p:txBody>
          <a:bodyPr anchor="ctr">
            <a:normAutofit fontScale="8410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12</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9" name="矩形 68"/>
          <p:cNvSpPr>
            <a:spLocks noGrp="1"/>
          </p:cNvSpPr>
          <p:nvPr/>
        </p:nvSpPr>
        <p:spPr>
          <a:xfrm>
            <a:off x="8191500" y="3400425"/>
            <a:ext cx="21526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highlight>
                  <a:srgbClr val="FFFF00"/>
                </a:highlight>
                <a:latin typeface="微软雅黑" panose="020B0503020204020204" charset="-122"/>
                <a:ea typeface="微软雅黑" panose="020B0503020204020204" charset="-122"/>
                <a:cs typeface="微软雅黑" panose="020B0503020204020204" charset="-122"/>
              </a:rPr>
              <a:t>第三展厅</a:t>
            </a:r>
            <a:r>
              <a:rPr sz="1050" b="1">
                <a:solidFill>
                  <a:srgbClr val="24292E"/>
                </a:solidFill>
                <a:highlight>
                  <a:srgbClr val="FFFF00"/>
                </a:highlight>
                <a:latin typeface="微软雅黑" panose="020B0503020204020204" charset="-122"/>
                <a:ea typeface="微软雅黑" panose="020B0503020204020204" charset="-122"/>
                <a:cs typeface="微软雅黑" panose="020B0503020204020204" charset="-122"/>
              </a:rPr>
              <a:t> </a:t>
            </a:r>
            <a:r>
              <a:rPr sz="1050" b="1">
                <a:solidFill>
                  <a:srgbClr val="24292E"/>
                </a:solidFill>
                <a:latin typeface="微软雅黑" panose="020B0503020204020204" charset="-122"/>
                <a:ea typeface="微软雅黑" panose="020B0503020204020204" charset="-122"/>
                <a:cs typeface="微软雅黑" panose="020B0503020204020204" charset="-122"/>
              </a:rPr>
              <a:t>           </a:t>
            </a:r>
            <a:r>
              <a:rPr sz="1050" b="0">
                <a:solidFill>
                  <a:srgbClr val="24292E"/>
                </a:solidFill>
                <a:highlight>
                  <a:srgbClr val="FFFF00"/>
                </a:highlight>
                <a:latin typeface="微软雅黑" panose="020B0503020204020204" charset="-122"/>
                <a:ea typeface="微软雅黑" panose="020B0503020204020204" charset="-122"/>
                <a:cs typeface="微软雅黑" panose="020B0503020204020204" charset="-122"/>
              </a:rPr>
              <a:t>隋唐及唐以后</a:t>
            </a:r>
            <a:r>
              <a:rPr sz="1050" b="1">
                <a:solidFill>
                  <a:srgbClr val="24292E"/>
                </a:solidFill>
                <a:highlight>
                  <a:srgbClr val="FFFF00"/>
                </a:highlight>
                <a:latin typeface="微软雅黑" panose="020B0503020204020204" charset="-122"/>
                <a:ea typeface="微软雅黑" panose="020B0503020204020204" charset="-122"/>
                <a:cs typeface="微软雅黑" panose="020B0503020204020204" charset="-122"/>
              </a:rPr>
              <a:t> </a:t>
            </a:r>
            <a:endParaRPr sz="1050" b="1">
              <a:solidFill>
                <a:srgbClr val="24292E"/>
              </a:solidFill>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70" name="矩形 69"/>
          <p:cNvSpPr>
            <a:spLocks noGrp="1"/>
          </p:cNvSpPr>
          <p:nvPr/>
        </p:nvSpPr>
        <p:spPr>
          <a:xfrm>
            <a:off x="7905750" y="3714750"/>
            <a:ext cx="2400300" cy="190500"/>
          </a:xfrm>
          <a:prstGeom prst="rect">
            <a:avLst/>
          </a:prstGeom>
          <a:noFill/>
          <a:ln w="0">
            <a:noFill/>
          </a:ln>
        </p:spPr>
        <p:txBody>
          <a:bodyPr anchor="t">
            <a:noAutofit/>
          </a:bodyPr>
          <a:lstStyle/>
          <a:p>
            <a:pPr algn="l">
              <a:buNone/>
              <a:defRPr sz="865"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唐三彩载乐骆驼俑</a:t>
            </a:r>
            <a:endPar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71" name="圆角矩形 70"/>
          <p:cNvSpPr>
            <a:spLocks noGrp="1"/>
          </p:cNvSpPr>
          <p:nvPr/>
        </p:nvSpPr>
        <p:spPr>
          <a:xfrm>
            <a:off x="7791450" y="4133850"/>
            <a:ext cx="2628900" cy="647700"/>
          </a:xfrm>
          <a:prstGeom prst="roundRect">
            <a:avLst>
              <a:gd name="adj" fmla="val 11765"/>
            </a:avLst>
          </a:prstGeom>
          <a:solidFill>
            <a:srgbClr val="FFFFFF"/>
          </a:solidFill>
          <a:ln w="14288">
            <a:solidFill>
              <a:srgbClr val="6FC4BE"/>
            </a:solidFill>
          </a:ln>
        </p:spPr>
      </p:sp>
      <p:sp>
        <p:nvSpPr>
          <p:cNvPr id="72" name="椭圆 71"/>
          <p:cNvSpPr>
            <a:spLocks noGrp="1"/>
          </p:cNvSpPr>
          <p:nvPr/>
        </p:nvSpPr>
        <p:spPr>
          <a:xfrm>
            <a:off x="7867650" y="4210050"/>
            <a:ext cx="285750" cy="266700"/>
          </a:xfrm>
          <a:prstGeom prst="ellipse">
            <a:avLst/>
          </a:prstGeom>
          <a:solidFill>
            <a:srgbClr val="287F7B"/>
          </a:solidFill>
          <a:ln w="9525">
            <a:solidFill>
              <a:srgbClr val="FFFFFF"/>
            </a:solidFill>
          </a:ln>
        </p:spPr>
      </p:sp>
      <p:sp>
        <p:nvSpPr>
          <p:cNvPr id="73" name="矩形 72"/>
          <p:cNvSpPr>
            <a:spLocks noGrp="1"/>
          </p:cNvSpPr>
          <p:nvPr/>
        </p:nvSpPr>
        <p:spPr>
          <a:xfrm>
            <a:off x="7877175" y="4238625"/>
            <a:ext cx="266700" cy="180975"/>
          </a:xfrm>
          <a:prstGeom prst="rect">
            <a:avLst/>
          </a:prstGeom>
          <a:noFill/>
          <a:ln w="0">
            <a:noFill/>
          </a:ln>
        </p:spPr>
        <p:txBody>
          <a:bodyPr anchor="ctr">
            <a:normAutofit fontScale="8410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13</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4" name="矩形 73"/>
          <p:cNvSpPr>
            <a:spLocks noGrp="1"/>
          </p:cNvSpPr>
          <p:nvPr/>
        </p:nvSpPr>
        <p:spPr>
          <a:xfrm>
            <a:off x="8191500" y="4200525"/>
            <a:ext cx="21526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第三展厅</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75" name="矩形 74"/>
          <p:cNvSpPr>
            <a:spLocks noGrp="1"/>
          </p:cNvSpPr>
          <p:nvPr/>
        </p:nvSpPr>
        <p:spPr>
          <a:xfrm>
            <a:off x="7905750" y="4514850"/>
            <a:ext cx="2400300" cy="190500"/>
          </a:xfrm>
          <a:prstGeom prst="rect">
            <a:avLst/>
          </a:prstGeom>
          <a:noFill/>
          <a:ln w="0">
            <a:noFill/>
          </a:ln>
        </p:spPr>
        <p:txBody>
          <a:bodyPr anchor="t">
            <a:noAutofit/>
          </a:bodyPr>
          <a:lstStyle/>
          <a:p>
            <a:pPr algn="l">
              <a:buNone/>
              <a:defRPr sz="865"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五代青釉提梁倒灌壶</a:t>
            </a:r>
            <a:endPar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76" name="圆角矩形 75"/>
          <p:cNvSpPr>
            <a:spLocks noGrp="1"/>
          </p:cNvSpPr>
          <p:nvPr/>
        </p:nvSpPr>
        <p:spPr>
          <a:xfrm>
            <a:off x="7791450" y="4933950"/>
            <a:ext cx="2628900" cy="800100"/>
          </a:xfrm>
          <a:prstGeom prst="roundRect">
            <a:avLst>
              <a:gd name="adj" fmla="val 9524"/>
            </a:avLst>
          </a:prstGeom>
          <a:solidFill>
            <a:srgbClr val="FFFFFF"/>
          </a:solidFill>
          <a:ln w="14288">
            <a:solidFill>
              <a:srgbClr val="6FC4BE"/>
            </a:solidFill>
          </a:ln>
        </p:spPr>
      </p:sp>
      <p:sp>
        <p:nvSpPr>
          <p:cNvPr id="77" name="椭圆 76"/>
          <p:cNvSpPr>
            <a:spLocks noGrp="1"/>
          </p:cNvSpPr>
          <p:nvPr/>
        </p:nvSpPr>
        <p:spPr>
          <a:xfrm>
            <a:off x="7867650" y="5010150"/>
            <a:ext cx="285750" cy="266700"/>
          </a:xfrm>
          <a:prstGeom prst="ellipse">
            <a:avLst/>
          </a:prstGeom>
          <a:solidFill>
            <a:srgbClr val="287F7B"/>
          </a:solidFill>
          <a:ln w="9525">
            <a:solidFill>
              <a:srgbClr val="FFFFFF"/>
            </a:solidFill>
          </a:ln>
        </p:spPr>
      </p:sp>
      <p:sp>
        <p:nvSpPr>
          <p:cNvPr id="78" name="矩形 77"/>
          <p:cNvSpPr>
            <a:spLocks noGrp="1"/>
          </p:cNvSpPr>
          <p:nvPr/>
        </p:nvSpPr>
        <p:spPr>
          <a:xfrm>
            <a:off x="7877175" y="5038725"/>
            <a:ext cx="266700" cy="180975"/>
          </a:xfrm>
          <a:prstGeom prst="rect">
            <a:avLst/>
          </a:prstGeom>
          <a:noFill/>
          <a:ln w="0">
            <a:noFill/>
          </a:ln>
        </p:spPr>
        <p:txBody>
          <a:bodyPr anchor="ctr">
            <a:normAutofit fontScale="8410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14</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9" name="矩形 78"/>
          <p:cNvSpPr>
            <a:spLocks noGrp="1"/>
          </p:cNvSpPr>
          <p:nvPr/>
        </p:nvSpPr>
        <p:spPr>
          <a:xfrm>
            <a:off x="8191500" y="5000625"/>
            <a:ext cx="2152650" cy="295275"/>
          </a:xfrm>
          <a:prstGeom prst="rect">
            <a:avLst/>
          </a:prstGeom>
          <a:noFill/>
          <a:ln w="0">
            <a:noFill/>
          </a:ln>
        </p:spPr>
        <p:txBody>
          <a:bodyPr anchor="ctr">
            <a:normAutofit/>
          </a:bodyPr>
          <a:lstStyle/>
          <a:p>
            <a:pPr algn="l">
              <a:buNone/>
              <a:defRPr sz="1050" b="1">
                <a:solidFill>
                  <a:srgbClr val="24292E"/>
                </a:solidFill>
                <a:latin typeface="微软雅黑" panose="020B0503020204020204" charset="-122"/>
                <a:ea typeface="微软雅黑" panose="020B0503020204020204" charset="-122"/>
                <a:cs typeface="微软雅黑" panose="020B0503020204020204" charset="-122"/>
              </a:defRPr>
            </a:pPr>
            <a:r>
              <a:rPr sz="1050" b="1">
                <a:solidFill>
                  <a:srgbClr val="24292E"/>
                </a:solidFill>
                <a:latin typeface="微软雅黑" panose="020B0503020204020204" charset="-122"/>
                <a:ea typeface="微软雅黑" panose="020B0503020204020204" charset="-122"/>
                <a:cs typeface="微软雅黑" panose="020B0503020204020204" charset="-122"/>
              </a:rPr>
              <a:t>线索组合</a:t>
            </a:r>
            <a:endParaRPr sz="10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80" name="矩形 79"/>
          <p:cNvSpPr>
            <a:spLocks noGrp="1"/>
          </p:cNvSpPr>
          <p:nvPr/>
        </p:nvSpPr>
        <p:spPr>
          <a:xfrm>
            <a:off x="7905750" y="5314950"/>
            <a:ext cx="2400300" cy="342900"/>
          </a:xfrm>
          <a:prstGeom prst="rect">
            <a:avLst/>
          </a:prstGeom>
          <a:noFill/>
          <a:ln w="0">
            <a:noFill/>
          </a:ln>
        </p:spPr>
        <p:txBody>
          <a:bodyPr anchor="t">
            <a:noAutofit/>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线索组合，推出用户需去</a:t>
            </a:r>
            <a:r>
              <a:rPr sz="1000" b="0">
                <a:solidFill>
                  <a:srgbClr val="58646A"/>
                </a:solidFill>
                <a:highlight>
                  <a:srgbClr val="FFFF00"/>
                </a:highlight>
                <a:latin typeface="微软雅黑" panose="020B0503020204020204" charset="-122"/>
                <a:ea typeface="微软雅黑" panose="020B0503020204020204" charset="-122"/>
                <a:cs typeface="微软雅黑" panose="020B0503020204020204" charset="-122"/>
              </a:rPr>
              <a:t>第四展厅</a:t>
            </a:r>
            <a:r>
              <a:rPr sz="1000" b="0">
                <a:solidFill>
                  <a:srgbClr val="58646A"/>
                </a:solidFill>
                <a:latin typeface="微软雅黑" panose="020B0503020204020204" charset="-122"/>
                <a:ea typeface="微软雅黑" panose="020B0503020204020204" charset="-122"/>
                <a:cs typeface="微软雅黑" panose="020B0503020204020204" charset="-122"/>
              </a:rPr>
              <a:t>，寻找唐镶金兽首玛瑙杯。</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sp>
        <p:nvSpPr>
          <p:cNvPr id="81" name="圆角矩形 80"/>
          <p:cNvSpPr>
            <a:spLocks noGrp="1"/>
          </p:cNvSpPr>
          <p:nvPr/>
        </p:nvSpPr>
        <p:spPr>
          <a:xfrm>
            <a:off x="10725150" y="2571750"/>
            <a:ext cx="1162050" cy="1714500"/>
          </a:xfrm>
          <a:prstGeom prst="roundRect">
            <a:avLst>
              <a:gd name="adj" fmla="val 6557"/>
            </a:avLst>
          </a:prstGeom>
          <a:solidFill>
            <a:srgbClr val="F1FAF9"/>
          </a:solidFill>
          <a:ln w="14288">
            <a:solidFill>
              <a:srgbClr val="287F7B"/>
            </a:solidFill>
          </a:ln>
        </p:spPr>
      </p:sp>
      <p:sp>
        <p:nvSpPr>
          <p:cNvPr id="82" name="椭圆 81"/>
          <p:cNvSpPr>
            <a:spLocks noGrp="1"/>
          </p:cNvSpPr>
          <p:nvPr/>
        </p:nvSpPr>
        <p:spPr>
          <a:xfrm>
            <a:off x="10801350" y="2647950"/>
            <a:ext cx="285750" cy="266700"/>
          </a:xfrm>
          <a:prstGeom prst="ellipse">
            <a:avLst/>
          </a:prstGeom>
          <a:solidFill>
            <a:srgbClr val="287F7B"/>
          </a:solidFill>
          <a:ln w="9525">
            <a:solidFill>
              <a:srgbClr val="FFFFFF"/>
            </a:solidFill>
          </a:ln>
        </p:spPr>
      </p:sp>
      <p:sp>
        <p:nvSpPr>
          <p:cNvPr id="83" name="矩形 82"/>
          <p:cNvSpPr>
            <a:spLocks noGrp="1"/>
          </p:cNvSpPr>
          <p:nvPr/>
        </p:nvSpPr>
        <p:spPr>
          <a:xfrm>
            <a:off x="10810875" y="2676525"/>
            <a:ext cx="266700" cy="180975"/>
          </a:xfrm>
          <a:prstGeom prst="rect">
            <a:avLst/>
          </a:prstGeom>
          <a:noFill/>
          <a:ln w="0">
            <a:noFill/>
          </a:ln>
        </p:spPr>
        <p:txBody>
          <a:bodyPr anchor="ctr">
            <a:normAutofit fontScale="84105"/>
          </a:bodyPr>
          <a:lstStyle/>
          <a:p>
            <a:pPr algn="ctr">
              <a:buNone/>
              <a:defRPr sz="640" b="1">
                <a:solidFill>
                  <a:srgbClr val="FFFFFF"/>
                </a:solidFill>
                <a:latin typeface="微软雅黑" panose="020B0503020204020204" charset="-122"/>
                <a:ea typeface="微软雅黑" panose="020B0503020204020204" charset="-122"/>
                <a:cs typeface="微软雅黑" panose="020B0503020204020204" charset="-122"/>
              </a:defRPr>
            </a:pPr>
            <a:r>
              <a:rPr sz="640" b="1">
                <a:solidFill>
                  <a:srgbClr val="FFFFFF"/>
                </a:solidFill>
                <a:latin typeface="微软雅黑" panose="020B0503020204020204" charset="-122"/>
                <a:ea typeface="微软雅黑" panose="020B0503020204020204" charset="-122"/>
                <a:cs typeface="微软雅黑" panose="020B0503020204020204" charset="-122"/>
              </a:rPr>
              <a:t>15</a:t>
            </a:r>
            <a:endParaRPr sz="6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4" name="矩形 83"/>
          <p:cNvSpPr>
            <a:spLocks noGrp="1"/>
          </p:cNvSpPr>
          <p:nvPr/>
        </p:nvSpPr>
        <p:spPr>
          <a:xfrm>
            <a:off x="11125200" y="2638425"/>
            <a:ext cx="685800" cy="295275"/>
          </a:xfrm>
          <a:prstGeom prst="rect">
            <a:avLst/>
          </a:prstGeom>
          <a:noFill/>
          <a:ln w="0">
            <a:noFill/>
          </a:ln>
        </p:spPr>
        <p:txBody>
          <a:bodyPr anchor="ctr">
            <a:normAutofit fontScale="71295"/>
          </a:bodyPr>
          <a:lstStyle/>
          <a:p>
            <a:pPr algn="l">
              <a:buNone/>
              <a:defRPr sz="940" b="1">
                <a:solidFill>
                  <a:srgbClr val="24292E"/>
                </a:solidFill>
                <a:latin typeface="微软雅黑" panose="020B0503020204020204" charset="-122"/>
                <a:ea typeface="微软雅黑" panose="020B0503020204020204" charset="-122"/>
                <a:cs typeface="微软雅黑" panose="020B0503020204020204" charset="-122"/>
              </a:defRPr>
            </a:pPr>
            <a:r>
              <a:rPr sz="940" b="1">
                <a:solidFill>
                  <a:srgbClr val="24292E"/>
                </a:solidFill>
                <a:latin typeface="微软雅黑" panose="020B0503020204020204" charset="-122"/>
                <a:ea typeface="微软雅黑" panose="020B0503020204020204" charset="-122"/>
                <a:cs typeface="微软雅黑" panose="020B0503020204020204" charset="-122"/>
              </a:rPr>
              <a:t>3D互动＋收集介绍</a:t>
            </a:r>
            <a:endParaRPr sz="94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85" name="矩形 84"/>
          <p:cNvSpPr>
            <a:spLocks noGrp="1"/>
          </p:cNvSpPr>
          <p:nvPr/>
        </p:nvSpPr>
        <p:spPr>
          <a:xfrm>
            <a:off x="10839450" y="2952750"/>
            <a:ext cx="933450" cy="1257300"/>
          </a:xfrm>
          <a:prstGeom prst="rect">
            <a:avLst/>
          </a:prstGeom>
          <a:noFill/>
          <a:ln w="0">
            <a:noFill/>
          </a:ln>
        </p:spPr>
        <p:txBody>
          <a:bodyPr anchor="t">
            <a:normAutofit lnSpcReduction="20000"/>
          </a:bodyPr>
          <a:lstStyle/>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帮助玛瑙杯寻回记忆，解开身世，完成剧情。</a:t>
            </a:r>
            <a:endParaRPr sz="1000" b="0">
              <a:solidFill>
                <a:srgbClr val="58646A"/>
              </a:solidFill>
              <a:latin typeface="微软雅黑" panose="020B0503020204020204" charset="-122"/>
              <a:ea typeface="微软雅黑" panose="020B0503020204020204" charset="-122"/>
              <a:cs typeface="微软雅黑" panose="020B0503020204020204" charset="-122"/>
            </a:endParaRPr>
          </a:p>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endParaRPr sz="1000" b="0">
              <a:solidFill>
                <a:srgbClr val="58646A"/>
              </a:solidFill>
              <a:latin typeface="微软雅黑" panose="020B0503020204020204" charset="-122"/>
              <a:ea typeface="微软雅黑" panose="020B0503020204020204" charset="-122"/>
              <a:cs typeface="微软雅黑" panose="020B0503020204020204" charset="-122"/>
            </a:endParaRPr>
          </a:p>
          <a:p>
            <a:pPr algn="l">
              <a:buNone/>
              <a:defRPr sz="790" b="0">
                <a:solidFill>
                  <a:srgbClr val="58646A"/>
                </a:solidFill>
                <a:latin typeface="微软雅黑" panose="020B0503020204020204" charset="-122"/>
                <a:ea typeface="微软雅黑" panose="020B0503020204020204" charset="-122"/>
                <a:cs typeface="微软雅黑" panose="020B0503020204020204" charset="-122"/>
              </a:defRPr>
            </a:pPr>
            <a:r>
              <a:rPr sz="1000" b="0">
                <a:solidFill>
                  <a:srgbClr val="58646A"/>
                </a:solidFill>
                <a:latin typeface="微软雅黑" panose="020B0503020204020204" charset="-122"/>
                <a:ea typeface="微软雅黑" panose="020B0503020204020204" charset="-122"/>
                <a:cs typeface="微软雅黑" panose="020B0503020204020204" charset="-122"/>
              </a:rPr>
              <a:t>游览结束，主要</a:t>
            </a:r>
            <a:r>
              <a:rPr sz="1000" b="0">
                <a:solidFill>
                  <a:srgbClr val="58646A"/>
                </a:solidFill>
                <a:latin typeface="微软雅黑" panose="020B0503020204020204" charset="-122"/>
                <a:ea typeface="微软雅黑" panose="020B0503020204020204" charset="-122"/>
                <a:cs typeface="微软雅黑" panose="020B0503020204020204" charset="-122"/>
              </a:rPr>
              <a:t>4</a:t>
            </a:r>
            <a:r>
              <a:rPr sz="1000" b="0">
                <a:solidFill>
                  <a:srgbClr val="58646A"/>
                </a:solidFill>
                <a:latin typeface="微软雅黑" panose="020B0503020204020204" charset="-122"/>
                <a:ea typeface="微软雅黑" panose="020B0503020204020204" charset="-122"/>
                <a:cs typeface="微软雅黑" panose="020B0503020204020204" charset="-122"/>
              </a:rPr>
              <a:t>个展厅参观</a:t>
            </a:r>
            <a:r>
              <a:rPr sz="1000" b="0">
                <a:solidFill>
                  <a:srgbClr val="58646A"/>
                </a:solidFill>
                <a:latin typeface="微软雅黑" panose="020B0503020204020204" charset="-122"/>
                <a:ea typeface="微软雅黑" panose="020B0503020204020204" charset="-122"/>
                <a:cs typeface="微软雅黑" panose="020B0503020204020204" charset="-122"/>
              </a:rPr>
              <a:t>完成</a:t>
            </a:r>
            <a:endParaRPr sz="1000" b="0">
              <a:solidFill>
                <a:srgbClr val="58646A"/>
              </a:solidFill>
              <a:latin typeface="微软雅黑" panose="020B0503020204020204" charset="-122"/>
              <a:ea typeface="微软雅黑" panose="020B0503020204020204" charset="-122"/>
              <a:cs typeface="微软雅黑" panose="020B0503020204020204" charset="-122"/>
            </a:endParaRPr>
          </a:p>
        </p:txBody>
      </p:sp>
      <p:cxnSp>
        <p:nvCxnSpPr>
          <p:cNvPr id="581" name="直接箭头连接符 184"/>
          <p:cNvCxnSpPr>
            <a:stCxn id="11" idx="2"/>
            <a:endCxn id="15" idx="0"/>
          </p:cNvCxnSpPr>
          <p:nvPr/>
        </p:nvCxnSpPr>
        <p:spPr>
          <a:xfrm>
            <a:off x="1790700" y="2209800"/>
            <a:ext cx="0" cy="342900"/>
          </a:xfrm>
          <a:prstGeom prst="straightConnector1">
            <a:avLst/>
          </a:prstGeom>
          <a:ln w="17145">
            <a:solidFill>
              <a:srgbClr val="596267"/>
            </a:solidFill>
            <a:prstDash val="solid"/>
            <a:tailEnd type="triangle" w="sm" len="sm"/>
          </a:ln>
        </p:spPr>
      </p:cxnSp>
      <p:cxnSp>
        <p:nvCxnSpPr>
          <p:cNvPr id="582" name="直接箭头连接符 185"/>
          <p:cNvCxnSpPr>
            <a:stCxn id="15" idx="3"/>
            <a:endCxn id="20" idx="1"/>
          </p:cNvCxnSpPr>
          <p:nvPr/>
        </p:nvCxnSpPr>
        <p:spPr>
          <a:xfrm flipV="1">
            <a:off x="2476500" y="1943100"/>
            <a:ext cx="304800" cy="1047750"/>
          </a:xfrm>
          <a:prstGeom prst="straightConnector1">
            <a:avLst/>
          </a:prstGeom>
          <a:ln w="17145">
            <a:solidFill>
              <a:srgbClr val="596267"/>
            </a:solidFill>
            <a:prstDash val="solid"/>
            <a:tailEnd type="triangle" w="sm" len="sm"/>
          </a:ln>
        </p:spPr>
      </p:cxnSp>
      <p:cxnSp>
        <p:nvCxnSpPr>
          <p:cNvPr id="583" name="直接箭头连接符 186"/>
          <p:cNvCxnSpPr>
            <a:stCxn id="20" idx="2"/>
            <a:endCxn id="25" idx="0"/>
          </p:cNvCxnSpPr>
          <p:nvPr/>
        </p:nvCxnSpPr>
        <p:spPr>
          <a:xfrm>
            <a:off x="3886200" y="2476500"/>
            <a:ext cx="0" cy="152400"/>
          </a:xfrm>
          <a:prstGeom prst="straightConnector1">
            <a:avLst/>
          </a:prstGeom>
          <a:ln w="17145">
            <a:solidFill>
              <a:srgbClr val="596267"/>
            </a:solidFill>
            <a:prstDash val="solid"/>
            <a:tailEnd type="triangle" w="sm" len="sm"/>
          </a:ln>
        </p:spPr>
      </p:cxnSp>
      <p:cxnSp>
        <p:nvCxnSpPr>
          <p:cNvPr id="584" name="直接箭头连接符 187"/>
          <p:cNvCxnSpPr>
            <a:stCxn id="25" idx="2"/>
            <a:endCxn id="30" idx="0"/>
          </p:cNvCxnSpPr>
          <p:nvPr/>
        </p:nvCxnSpPr>
        <p:spPr>
          <a:xfrm>
            <a:off x="3886200" y="3467100"/>
            <a:ext cx="0" cy="152400"/>
          </a:xfrm>
          <a:prstGeom prst="straightConnector1">
            <a:avLst/>
          </a:prstGeom>
          <a:ln w="17145">
            <a:solidFill>
              <a:srgbClr val="596267"/>
            </a:solidFill>
            <a:prstDash val="solid"/>
            <a:tailEnd type="triangle" w="sm" len="sm"/>
          </a:ln>
        </p:spPr>
      </p:cxnSp>
      <p:cxnSp>
        <p:nvCxnSpPr>
          <p:cNvPr id="585" name="直接箭头连接符 188"/>
          <p:cNvCxnSpPr>
            <a:stCxn id="30" idx="2"/>
            <a:endCxn id="35" idx="0"/>
          </p:cNvCxnSpPr>
          <p:nvPr/>
        </p:nvCxnSpPr>
        <p:spPr>
          <a:xfrm>
            <a:off x="3886200" y="5276850"/>
            <a:ext cx="0" cy="152400"/>
          </a:xfrm>
          <a:prstGeom prst="straightConnector1">
            <a:avLst/>
          </a:prstGeom>
          <a:ln w="17145">
            <a:solidFill>
              <a:srgbClr val="596267"/>
            </a:solidFill>
            <a:prstDash val="solid"/>
            <a:tailEnd type="triangle" w="sm" len="sm"/>
          </a:ln>
        </p:spPr>
      </p:cxnSp>
      <p:cxnSp>
        <p:nvCxnSpPr>
          <p:cNvPr id="586" name="直接箭头连接符 189"/>
          <p:cNvCxnSpPr>
            <a:stCxn id="35" idx="3"/>
            <a:endCxn id="40" idx="1"/>
          </p:cNvCxnSpPr>
          <p:nvPr/>
        </p:nvCxnSpPr>
        <p:spPr>
          <a:xfrm flipV="1">
            <a:off x="4991100" y="1866900"/>
            <a:ext cx="342900" cy="4000500"/>
          </a:xfrm>
          <a:prstGeom prst="straightConnector1">
            <a:avLst/>
          </a:prstGeom>
          <a:ln w="17145">
            <a:solidFill>
              <a:srgbClr val="596267"/>
            </a:solidFill>
            <a:prstDash val="solid"/>
            <a:tailEnd type="triangle" w="sm" len="sm"/>
          </a:ln>
        </p:spPr>
      </p:cxnSp>
      <p:cxnSp>
        <p:nvCxnSpPr>
          <p:cNvPr id="587" name="直接箭头连接符 190"/>
          <p:cNvCxnSpPr>
            <a:stCxn id="40" idx="2"/>
            <a:endCxn id="45" idx="0"/>
          </p:cNvCxnSpPr>
          <p:nvPr/>
        </p:nvCxnSpPr>
        <p:spPr>
          <a:xfrm>
            <a:off x="6391275" y="2324100"/>
            <a:ext cx="0" cy="152400"/>
          </a:xfrm>
          <a:prstGeom prst="straightConnector1">
            <a:avLst/>
          </a:prstGeom>
          <a:ln w="17145">
            <a:solidFill>
              <a:srgbClr val="596267"/>
            </a:solidFill>
            <a:prstDash val="solid"/>
            <a:tailEnd type="triangle" w="sm" len="sm"/>
          </a:ln>
        </p:spPr>
      </p:cxnSp>
      <p:cxnSp>
        <p:nvCxnSpPr>
          <p:cNvPr id="588" name="直接箭头连接符 191"/>
          <p:cNvCxnSpPr>
            <a:stCxn id="45" idx="2"/>
            <a:endCxn id="50" idx="0"/>
          </p:cNvCxnSpPr>
          <p:nvPr/>
        </p:nvCxnSpPr>
        <p:spPr>
          <a:xfrm>
            <a:off x="6391275" y="3543300"/>
            <a:ext cx="0" cy="152400"/>
          </a:xfrm>
          <a:prstGeom prst="straightConnector1">
            <a:avLst/>
          </a:prstGeom>
          <a:ln w="17145">
            <a:solidFill>
              <a:srgbClr val="596267"/>
            </a:solidFill>
            <a:prstDash val="solid"/>
            <a:tailEnd type="triangle" w="sm" len="sm"/>
          </a:ln>
        </p:spPr>
      </p:cxnSp>
      <p:cxnSp>
        <p:nvCxnSpPr>
          <p:cNvPr id="589" name="直接箭头连接符 192"/>
          <p:cNvCxnSpPr>
            <a:stCxn id="50" idx="3"/>
            <a:endCxn id="56" idx="1"/>
          </p:cNvCxnSpPr>
          <p:nvPr/>
        </p:nvCxnSpPr>
        <p:spPr>
          <a:xfrm flipV="1">
            <a:off x="7448550" y="1895475"/>
            <a:ext cx="342900" cy="2257425"/>
          </a:xfrm>
          <a:prstGeom prst="straightConnector1">
            <a:avLst/>
          </a:prstGeom>
          <a:ln w="17145">
            <a:solidFill>
              <a:srgbClr val="596267"/>
            </a:solidFill>
            <a:prstDash val="solid"/>
            <a:tailEnd type="triangle" w="sm" len="sm"/>
          </a:ln>
        </p:spPr>
      </p:cxnSp>
      <p:cxnSp>
        <p:nvCxnSpPr>
          <p:cNvPr id="590" name="直接箭头连接符 193"/>
          <p:cNvCxnSpPr>
            <a:stCxn id="56" idx="2"/>
            <a:endCxn id="61" idx="0"/>
          </p:cNvCxnSpPr>
          <p:nvPr/>
        </p:nvCxnSpPr>
        <p:spPr>
          <a:xfrm>
            <a:off x="9105900" y="2381250"/>
            <a:ext cx="0" cy="152400"/>
          </a:xfrm>
          <a:prstGeom prst="straightConnector1">
            <a:avLst/>
          </a:prstGeom>
          <a:ln w="17145">
            <a:solidFill>
              <a:srgbClr val="596267"/>
            </a:solidFill>
            <a:prstDash val="solid"/>
            <a:tailEnd type="triangle" w="sm" len="sm"/>
          </a:ln>
        </p:spPr>
      </p:cxnSp>
      <p:cxnSp>
        <p:nvCxnSpPr>
          <p:cNvPr id="591" name="直接箭头连接符 194"/>
          <p:cNvCxnSpPr>
            <a:stCxn id="61" idx="2"/>
            <a:endCxn id="66" idx="0"/>
          </p:cNvCxnSpPr>
          <p:nvPr/>
        </p:nvCxnSpPr>
        <p:spPr>
          <a:xfrm>
            <a:off x="9105900" y="3181350"/>
            <a:ext cx="0" cy="152400"/>
          </a:xfrm>
          <a:prstGeom prst="straightConnector1">
            <a:avLst/>
          </a:prstGeom>
          <a:ln w="17145">
            <a:solidFill>
              <a:srgbClr val="596267"/>
            </a:solidFill>
            <a:prstDash val="solid"/>
            <a:tailEnd type="triangle" w="sm" len="sm"/>
          </a:ln>
        </p:spPr>
      </p:cxnSp>
      <p:cxnSp>
        <p:nvCxnSpPr>
          <p:cNvPr id="592" name="直接箭头连接符 195"/>
          <p:cNvCxnSpPr>
            <a:stCxn id="66" idx="2"/>
            <a:endCxn id="71" idx="0"/>
          </p:cNvCxnSpPr>
          <p:nvPr/>
        </p:nvCxnSpPr>
        <p:spPr>
          <a:xfrm>
            <a:off x="9105900" y="3981450"/>
            <a:ext cx="0" cy="152400"/>
          </a:xfrm>
          <a:prstGeom prst="straightConnector1">
            <a:avLst/>
          </a:prstGeom>
          <a:ln w="17145">
            <a:solidFill>
              <a:srgbClr val="596267"/>
            </a:solidFill>
            <a:prstDash val="solid"/>
            <a:tailEnd type="triangle" w="sm" len="sm"/>
          </a:ln>
        </p:spPr>
      </p:cxnSp>
      <p:cxnSp>
        <p:nvCxnSpPr>
          <p:cNvPr id="593" name="直接箭头连接符 196"/>
          <p:cNvCxnSpPr>
            <a:stCxn id="71" idx="2"/>
            <a:endCxn id="76" idx="0"/>
          </p:cNvCxnSpPr>
          <p:nvPr/>
        </p:nvCxnSpPr>
        <p:spPr>
          <a:xfrm>
            <a:off x="9105900" y="4781550"/>
            <a:ext cx="0" cy="152400"/>
          </a:xfrm>
          <a:prstGeom prst="straightConnector1">
            <a:avLst/>
          </a:prstGeom>
          <a:ln w="17145">
            <a:solidFill>
              <a:srgbClr val="596267"/>
            </a:solidFill>
            <a:prstDash val="solid"/>
            <a:tailEnd type="triangle" w="sm" len="sm"/>
          </a:ln>
        </p:spPr>
      </p:cxnSp>
      <p:cxnSp>
        <p:nvCxnSpPr>
          <p:cNvPr id="594" name="直接箭头连接符 197"/>
          <p:cNvCxnSpPr>
            <a:stCxn id="76" idx="3"/>
            <a:endCxn id="81" idx="1"/>
          </p:cNvCxnSpPr>
          <p:nvPr/>
        </p:nvCxnSpPr>
        <p:spPr>
          <a:xfrm flipV="1">
            <a:off x="10420350" y="3429000"/>
            <a:ext cx="304800" cy="1905000"/>
          </a:xfrm>
          <a:prstGeom prst="straightConnector1">
            <a:avLst/>
          </a:prstGeom>
          <a:ln w="17145">
            <a:solidFill>
              <a:srgbClr val="596267"/>
            </a:solidFill>
            <a:prstDash val="solid"/>
            <a:tailEnd type="triangle" w="sm" len="sm"/>
          </a:ln>
        </p:spPr>
      </p:cxnSp>
      <p:sp>
        <p:nvSpPr>
          <p:cNvPr id="87" name="文本框 86"/>
          <p:cNvSpPr>
            <a:spLocks noGrp="1"/>
          </p:cNvSpPr>
          <p:nvPr/>
        </p:nvSpPr>
        <p:spPr>
          <a:xfrm>
            <a:off x="1188720" y="4476750"/>
            <a:ext cx="1019175" cy="829945"/>
          </a:xfrm>
          <a:prstGeom prst="rect">
            <a:avLst/>
          </a:prstGeom>
          <a:noFill/>
        </p:spPr>
        <p:txBody>
          <a:bodyPr wrap="square">
            <a:spAutoFit/>
          </a:bodyPr>
          <a:lstStyle/>
          <a:p>
            <a:r>
              <a:rPr sz="1200" b="1"/>
              <a:t>展厅按照</a:t>
            </a:r>
            <a:r>
              <a:rPr sz="1200" b="1">
                <a:highlight>
                  <a:srgbClr val="FFFF00"/>
                </a:highlight>
              </a:rPr>
              <a:t>历史发展</a:t>
            </a:r>
            <a:r>
              <a:rPr sz="1200" b="1"/>
              <a:t>顺序，引导用户进行游览</a:t>
            </a:r>
            <a:endParaRPr sz="12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381000" y="228600"/>
            <a:ext cx="5715000" cy="514350"/>
          </a:xfrm>
          <a:prstGeom prst="rect">
            <a:avLst/>
          </a:prstGeom>
          <a:noFill/>
          <a:ln w="0">
            <a:noFill/>
          </a:ln>
        </p:spPr>
        <p:txBody>
          <a:bodyPr anchor="ctr">
            <a:normAutofit/>
          </a:bodyPr>
          <a:lstStyle/>
          <a:p>
            <a:pPr algn="l">
              <a:buNone/>
              <a:defRPr sz="2400" b="1">
                <a:solidFill>
                  <a:srgbClr val="24292E"/>
                </a:solidFill>
                <a:latin typeface="微软雅黑" panose="020B0503020204020204" charset="-122"/>
                <a:ea typeface="微软雅黑" panose="020B0503020204020204" charset="-122"/>
                <a:cs typeface="微软雅黑" panose="020B0503020204020204" charset="-122"/>
              </a:defRPr>
            </a:pPr>
            <a:r>
              <a:rPr sz="2400" b="1">
                <a:solidFill>
                  <a:srgbClr val="24292E"/>
                </a:solidFill>
                <a:latin typeface="微软雅黑" panose="020B0503020204020204" charset="-122"/>
                <a:ea typeface="微软雅黑" panose="020B0503020204020204" charset="-122"/>
                <a:cs typeface="微软雅黑" panose="020B0503020204020204" charset="-122"/>
              </a:rPr>
              <a:t>涉及的</a:t>
            </a:r>
            <a:r>
              <a:rPr sz="2400" b="1">
                <a:solidFill>
                  <a:srgbClr val="24292E"/>
                </a:solidFill>
                <a:latin typeface="微软雅黑" panose="020B0503020204020204" charset="-122"/>
                <a:ea typeface="微软雅黑" panose="020B0503020204020204" charset="-122"/>
                <a:cs typeface="微软雅黑" panose="020B0503020204020204" charset="-122"/>
              </a:rPr>
              <a:t>技术</a:t>
            </a:r>
            <a:r>
              <a:rPr sz="2400" b="1">
                <a:solidFill>
                  <a:srgbClr val="24292E"/>
                </a:solidFill>
                <a:latin typeface="微软雅黑" panose="020B0503020204020204" charset="-122"/>
                <a:ea typeface="微软雅黑" panose="020B0503020204020204" charset="-122"/>
                <a:cs typeface="微软雅黑" panose="020B0503020204020204" charset="-122"/>
              </a:rPr>
              <a:t>功能</a:t>
            </a:r>
            <a:endParaRPr sz="24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381000" y="866775"/>
            <a:ext cx="11487150" cy="0"/>
          </a:xfrm>
          <a:prstGeom prst="line">
            <a:avLst/>
          </a:prstGeom>
          <a:noFill/>
          <a:ln w="19050">
            <a:solidFill>
              <a:srgbClr val="596267"/>
            </a:solidFill>
          </a:ln>
        </p:spPr>
      </p:sp>
      <p:sp>
        <p:nvSpPr>
          <p:cNvPr id="4" name="圆角矩形 3"/>
          <p:cNvSpPr>
            <a:spLocks noGrp="1"/>
          </p:cNvSpPr>
          <p:nvPr/>
        </p:nvSpPr>
        <p:spPr>
          <a:xfrm>
            <a:off x="574040" y="2060575"/>
            <a:ext cx="5276850" cy="3246120"/>
          </a:xfrm>
          <a:prstGeom prst="roundRect">
            <a:avLst>
              <a:gd name="adj" fmla="val 1674"/>
            </a:avLst>
          </a:prstGeom>
          <a:solidFill>
            <a:srgbClr val="FFFFFF"/>
          </a:solidFill>
          <a:ln w="19050">
            <a:solidFill>
              <a:srgbClr val="69C3BD"/>
            </a:solidFill>
          </a:ln>
        </p:spPr>
        <p:txBody>
          <a:bodyPr/>
          <a:lstStyle/>
          <a:p/>
        </p:txBody>
      </p:sp>
      <p:sp>
        <p:nvSpPr>
          <p:cNvPr id="5" name="圆角矩形 4"/>
          <p:cNvSpPr>
            <a:spLocks noGrp="1"/>
          </p:cNvSpPr>
          <p:nvPr/>
        </p:nvSpPr>
        <p:spPr>
          <a:xfrm>
            <a:off x="6384290" y="2060575"/>
            <a:ext cx="5276850" cy="3246120"/>
          </a:xfrm>
          <a:prstGeom prst="roundRect">
            <a:avLst>
              <a:gd name="adj" fmla="val 1674"/>
            </a:avLst>
          </a:prstGeom>
          <a:solidFill>
            <a:srgbClr val="FFFFFF"/>
          </a:solidFill>
          <a:ln w="19050">
            <a:solidFill>
              <a:srgbClr val="69C3BD"/>
            </a:solidFill>
          </a:ln>
        </p:spPr>
        <p:txBody>
          <a:bodyPr/>
          <a:lstStyle/>
          <a:p/>
        </p:txBody>
      </p:sp>
      <p:sp>
        <p:nvSpPr>
          <p:cNvPr id="6" name="椭圆 5"/>
          <p:cNvSpPr>
            <a:spLocks noGrp="1"/>
          </p:cNvSpPr>
          <p:nvPr/>
        </p:nvSpPr>
        <p:spPr>
          <a:xfrm>
            <a:off x="802640" y="2241550"/>
            <a:ext cx="685800" cy="476250"/>
          </a:xfrm>
          <a:prstGeom prst="ellipse">
            <a:avLst/>
          </a:prstGeom>
          <a:solidFill>
            <a:srgbClr val="287F7B"/>
          </a:solidFill>
          <a:ln w="0">
            <a:noFill/>
          </a:ln>
        </p:spPr>
        <p:txBody>
          <a:bodyPr anchor="ctr">
            <a:normAutofit fontScale="71543"/>
          </a:bodyPr>
          <a:lstStyle/>
          <a:p>
            <a:pPr algn="ctr">
              <a:buNone/>
              <a:defRPr sz="2250" b="1">
                <a:solidFill>
                  <a:srgbClr val="FFFFFF"/>
                </a:solidFill>
                <a:latin typeface="微软雅黑" panose="020B0503020204020204" charset="-122"/>
                <a:ea typeface="微软雅黑" panose="020B0503020204020204" charset="-122"/>
                <a:cs typeface="微软雅黑" panose="020B0503020204020204" charset="-122"/>
              </a:defRPr>
            </a:pPr>
            <a:r>
              <a:rPr sz="2250" b="1">
                <a:solidFill>
                  <a:srgbClr val="FFFFFF"/>
                </a:solidFill>
                <a:latin typeface="微软雅黑" panose="020B0503020204020204" charset="-122"/>
                <a:ea typeface="微软雅黑" panose="020B0503020204020204" charset="-122"/>
                <a:cs typeface="微软雅黑" panose="020B0503020204020204" charset="-122"/>
              </a:rPr>
              <a:t>01</a:t>
            </a:r>
            <a:endParaRPr sz="2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678940" y="2232025"/>
            <a:ext cx="3857625" cy="495300"/>
          </a:xfrm>
          <a:prstGeom prst="rect">
            <a:avLst/>
          </a:prstGeom>
          <a:noFill/>
          <a:ln w="0">
            <a:noFill/>
          </a:ln>
        </p:spPr>
        <p:txBody>
          <a:bodyPr anchor="ctr">
            <a:normAutofit/>
          </a:bodyPr>
          <a:lstStyle/>
          <a:p>
            <a:pPr algn="l">
              <a:buNone/>
              <a:defRPr sz="1725" b="1">
                <a:solidFill>
                  <a:srgbClr val="24292E"/>
                </a:solidFill>
                <a:latin typeface="微软雅黑" panose="020B0503020204020204" charset="-122"/>
                <a:ea typeface="微软雅黑" panose="020B0503020204020204" charset="-122"/>
                <a:cs typeface="微软雅黑" panose="020B0503020204020204" charset="-122"/>
              </a:defRPr>
            </a:pPr>
            <a:r>
              <a:rPr sz="1725" b="1">
                <a:solidFill>
                  <a:srgbClr val="24292E"/>
                </a:solidFill>
                <a:latin typeface="微软雅黑" panose="020B0503020204020204" charset="-122"/>
                <a:ea typeface="微软雅黑" panose="020B0503020204020204" charset="-122"/>
                <a:cs typeface="微软雅黑" panose="020B0503020204020204" charset="-122"/>
              </a:rPr>
              <a:t>文物3D虚拟模型与互动</a:t>
            </a:r>
            <a:endParaRPr sz="172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050290" y="3251200"/>
            <a:ext cx="2019300" cy="666750"/>
          </a:xfrm>
          <a:prstGeom prst="roundRect">
            <a:avLst>
              <a:gd name="adj" fmla="val 11429"/>
            </a:avLst>
          </a:prstGeom>
          <a:solidFill>
            <a:srgbClr val="EAF6F5"/>
          </a:solidFill>
          <a:ln w="11430">
            <a:solidFill>
              <a:srgbClr val="69C3BD"/>
            </a:solidFill>
          </a:ln>
        </p:spPr>
        <p:txBody>
          <a:bodyPr anchor="ctr">
            <a:normAutofit/>
          </a:bodyPr>
          <a:lstStyle/>
          <a:p>
            <a:pPr algn="ctr">
              <a:buNone/>
              <a:defRPr sz="1275" b="1">
                <a:solidFill>
                  <a:srgbClr val="24292E"/>
                </a:solidFill>
                <a:latin typeface="微软雅黑" panose="020B0503020204020204" charset="-122"/>
                <a:ea typeface="微软雅黑" panose="020B0503020204020204" charset="-122"/>
                <a:cs typeface="微软雅黑" panose="020B0503020204020204" charset="-122"/>
              </a:defRPr>
            </a:pPr>
            <a:r>
              <a:rPr sz="1275" b="1">
                <a:solidFill>
                  <a:srgbClr val="24292E"/>
                </a:solidFill>
                <a:latin typeface="微软雅黑" panose="020B0503020204020204" charset="-122"/>
                <a:ea typeface="微软雅黑" panose="020B0503020204020204" charset="-122"/>
                <a:cs typeface="微软雅黑" panose="020B0503020204020204" charset="-122"/>
              </a:rPr>
              <a:t>建立文物的3D虚拟模型</a:t>
            </a:r>
            <a:endParaRPr sz="12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3355340" y="3251200"/>
            <a:ext cx="2019300" cy="666750"/>
          </a:xfrm>
          <a:prstGeom prst="roundRect">
            <a:avLst>
              <a:gd name="adj" fmla="val 11429"/>
            </a:avLst>
          </a:prstGeom>
          <a:solidFill>
            <a:srgbClr val="EAF6F5"/>
          </a:solidFill>
          <a:ln w="11430">
            <a:solidFill>
              <a:srgbClr val="69C3BD"/>
            </a:solidFill>
          </a:ln>
        </p:spPr>
        <p:txBody>
          <a:bodyPr anchor="ctr">
            <a:normAutofit/>
          </a:bodyPr>
          <a:lstStyle/>
          <a:p>
            <a:pPr algn="ctr">
              <a:buNone/>
              <a:defRPr sz="1275" b="1">
                <a:solidFill>
                  <a:srgbClr val="24292E"/>
                </a:solidFill>
                <a:latin typeface="微软雅黑" panose="020B0503020204020204" charset="-122"/>
                <a:ea typeface="微软雅黑" panose="020B0503020204020204" charset="-122"/>
                <a:cs typeface="微软雅黑" panose="020B0503020204020204" charset="-122"/>
              </a:defRPr>
            </a:pPr>
            <a:r>
              <a:rPr sz="1275" b="1">
                <a:solidFill>
                  <a:srgbClr val="24292E"/>
                </a:solidFill>
                <a:latin typeface="微软雅黑" panose="020B0503020204020204" charset="-122"/>
                <a:ea typeface="微软雅黑" panose="020B0503020204020204" charset="-122"/>
                <a:cs typeface="微软雅黑" panose="020B0503020204020204" charset="-122"/>
              </a:rPr>
              <a:t>旋转、缩放并观察细节</a:t>
            </a:r>
            <a:endParaRPr sz="12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3069590" y="3584575"/>
            <a:ext cx="285750" cy="0"/>
          </a:xfrm>
          <a:prstGeom prst="line">
            <a:avLst/>
          </a:prstGeom>
          <a:noFill/>
          <a:ln w="23813">
            <a:solidFill>
              <a:srgbClr val="287F7B"/>
            </a:solidFill>
          </a:ln>
        </p:spPr>
      </p:sp>
      <p:sp>
        <p:nvSpPr>
          <p:cNvPr id="12" name="矩形 11"/>
          <p:cNvSpPr>
            <a:spLocks noGrp="1"/>
          </p:cNvSpPr>
          <p:nvPr/>
        </p:nvSpPr>
        <p:spPr>
          <a:xfrm>
            <a:off x="3107690" y="3394075"/>
            <a:ext cx="228600" cy="361950"/>
          </a:xfrm>
          <a:prstGeom prst="rect">
            <a:avLst/>
          </a:prstGeom>
          <a:noFill/>
          <a:ln w="0">
            <a:noFill/>
          </a:ln>
        </p:spPr>
        <p:txBody>
          <a:bodyPr anchor="ctr">
            <a:normAutofit fontScale="42902"/>
          </a:bodyPr>
          <a:lstStyle/>
          <a:p>
            <a:pPr algn="ctr">
              <a:buNone/>
              <a:defRPr sz="2250" b="1">
                <a:solidFill>
                  <a:srgbClr val="287F7B"/>
                </a:solidFill>
                <a:latin typeface="微软雅黑" panose="020B0503020204020204" charset="-122"/>
                <a:ea typeface="微软雅黑" panose="020B0503020204020204" charset="-122"/>
                <a:cs typeface="微软雅黑" panose="020B0503020204020204" charset="-122"/>
              </a:defRPr>
            </a:pPr>
            <a:r>
              <a:rPr sz="2250" b="1">
                <a:solidFill>
                  <a:srgbClr val="287F7B"/>
                </a:solidFill>
                <a:latin typeface="微软雅黑" panose="020B0503020204020204" charset="-122"/>
                <a:ea typeface="微软雅黑" panose="020B0503020204020204" charset="-122"/>
                <a:cs typeface="微软雅黑" panose="020B0503020204020204" charset="-122"/>
              </a:rPr>
              <a:t>›</a:t>
            </a:r>
            <a:endParaRPr sz="2250" b="1">
              <a:solidFill>
                <a:srgbClr val="287F7B"/>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050290" y="4194175"/>
            <a:ext cx="2019300" cy="666750"/>
          </a:xfrm>
          <a:prstGeom prst="roundRect">
            <a:avLst>
              <a:gd name="adj" fmla="val 11429"/>
            </a:avLst>
          </a:prstGeom>
          <a:solidFill>
            <a:srgbClr val="EAF6F5"/>
          </a:solidFill>
          <a:ln w="11430">
            <a:solidFill>
              <a:srgbClr val="69C3BD"/>
            </a:solidFill>
          </a:ln>
        </p:spPr>
        <p:txBody>
          <a:bodyPr anchor="ctr">
            <a:normAutofit/>
          </a:bodyPr>
          <a:lstStyle/>
          <a:p>
            <a:pPr algn="ctr">
              <a:buNone/>
              <a:defRPr sz="1275" b="1">
                <a:solidFill>
                  <a:srgbClr val="24292E"/>
                </a:solidFill>
                <a:latin typeface="微软雅黑" panose="020B0503020204020204" charset="-122"/>
                <a:ea typeface="微软雅黑" panose="020B0503020204020204" charset="-122"/>
                <a:cs typeface="微软雅黑" panose="020B0503020204020204" charset="-122"/>
              </a:defRPr>
            </a:pPr>
            <a:r>
              <a:rPr sz="1275" b="1">
                <a:solidFill>
                  <a:srgbClr val="24292E"/>
                </a:solidFill>
                <a:latin typeface="微软雅黑" panose="020B0503020204020204" charset="-122"/>
                <a:ea typeface="微软雅黑" panose="020B0503020204020204" charset="-122"/>
                <a:cs typeface="微软雅黑" panose="020B0503020204020204" charset="-122"/>
              </a:rPr>
              <a:t>模型用于解谜与线索验证</a:t>
            </a:r>
            <a:endParaRPr sz="12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3355340" y="4194175"/>
            <a:ext cx="2019300" cy="666750"/>
          </a:xfrm>
          <a:prstGeom prst="roundRect">
            <a:avLst>
              <a:gd name="adj" fmla="val 11429"/>
            </a:avLst>
          </a:prstGeom>
          <a:solidFill>
            <a:srgbClr val="EAF6F5"/>
          </a:solidFill>
          <a:ln w="11430">
            <a:solidFill>
              <a:srgbClr val="69C3BD"/>
            </a:solidFill>
          </a:ln>
        </p:spPr>
        <p:txBody>
          <a:bodyPr anchor="ctr">
            <a:normAutofit/>
          </a:bodyPr>
          <a:lstStyle/>
          <a:p>
            <a:pPr algn="ctr">
              <a:buNone/>
              <a:defRPr sz="1275" b="1">
                <a:solidFill>
                  <a:srgbClr val="24292E"/>
                </a:solidFill>
                <a:latin typeface="微软雅黑" panose="020B0503020204020204" charset="-122"/>
                <a:ea typeface="微软雅黑" panose="020B0503020204020204" charset="-122"/>
                <a:cs typeface="微软雅黑" panose="020B0503020204020204" charset="-122"/>
              </a:defRPr>
            </a:pPr>
            <a:r>
              <a:rPr sz="1275" b="1">
                <a:solidFill>
                  <a:srgbClr val="24292E"/>
                </a:solidFill>
                <a:latin typeface="微软雅黑" panose="020B0503020204020204" charset="-122"/>
                <a:ea typeface="微软雅黑" panose="020B0503020204020204" charset="-122"/>
                <a:cs typeface="微软雅黑" panose="020B0503020204020204" charset="-122"/>
              </a:rPr>
              <a:t>完成任务后收集模型</a:t>
            </a:r>
            <a:endParaRPr sz="12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3069590" y="4527550"/>
            <a:ext cx="285750" cy="0"/>
          </a:xfrm>
          <a:prstGeom prst="line">
            <a:avLst/>
          </a:prstGeom>
          <a:noFill/>
          <a:ln w="23813">
            <a:solidFill>
              <a:srgbClr val="287F7B"/>
            </a:solidFill>
          </a:ln>
        </p:spPr>
      </p:sp>
      <p:sp>
        <p:nvSpPr>
          <p:cNvPr id="16" name="矩形 15"/>
          <p:cNvSpPr>
            <a:spLocks noGrp="1"/>
          </p:cNvSpPr>
          <p:nvPr/>
        </p:nvSpPr>
        <p:spPr>
          <a:xfrm>
            <a:off x="3107690" y="4337050"/>
            <a:ext cx="228600" cy="361950"/>
          </a:xfrm>
          <a:prstGeom prst="rect">
            <a:avLst/>
          </a:prstGeom>
          <a:noFill/>
          <a:ln w="0">
            <a:noFill/>
          </a:ln>
        </p:spPr>
        <p:txBody>
          <a:bodyPr anchor="ctr">
            <a:normAutofit fontScale="42902"/>
          </a:bodyPr>
          <a:lstStyle/>
          <a:p>
            <a:pPr algn="ctr">
              <a:buNone/>
              <a:defRPr sz="2250" b="1">
                <a:solidFill>
                  <a:srgbClr val="287F7B"/>
                </a:solidFill>
                <a:latin typeface="微软雅黑" panose="020B0503020204020204" charset="-122"/>
                <a:ea typeface="微软雅黑" panose="020B0503020204020204" charset="-122"/>
                <a:cs typeface="微软雅黑" panose="020B0503020204020204" charset="-122"/>
              </a:defRPr>
            </a:pPr>
            <a:r>
              <a:rPr sz="2250" b="1">
                <a:solidFill>
                  <a:srgbClr val="287F7B"/>
                </a:solidFill>
                <a:latin typeface="微软雅黑" panose="020B0503020204020204" charset="-122"/>
                <a:ea typeface="微软雅黑" panose="020B0503020204020204" charset="-122"/>
                <a:cs typeface="微软雅黑" panose="020B0503020204020204" charset="-122"/>
              </a:rPr>
              <a:t>›</a:t>
            </a:r>
            <a:endParaRPr sz="2250" b="1">
              <a:solidFill>
                <a:srgbClr val="287F7B"/>
              </a:solidFill>
              <a:latin typeface="微软雅黑" panose="020B0503020204020204" charset="-122"/>
              <a:ea typeface="微软雅黑" panose="020B0503020204020204" charset="-122"/>
              <a:cs typeface="微软雅黑" panose="020B0503020204020204" charset="-122"/>
            </a:endParaRPr>
          </a:p>
        </p:txBody>
      </p:sp>
      <p:sp>
        <p:nvSpPr>
          <p:cNvPr id="18" name="椭圆 17"/>
          <p:cNvSpPr>
            <a:spLocks noGrp="1"/>
          </p:cNvSpPr>
          <p:nvPr/>
        </p:nvSpPr>
        <p:spPr>
          <a:xfrm>
            <a:off x="6612890" y="2241550"/>
            <a:ext cx="685800" cy="476250"/>
          </a:xfrm>
          <a:prstGeom prst="ellipse">
            <a:avLst/>
          </a:prstGeom>
          <a:solidFill>
            <a:srgbClr val="287F7B"/>
          </a:solidFill>
          <a:ln w="0">
            <a:noFill/>
          </a:ln>
        </p:spPr>
        <p:txBody>
          <a:bodyPr anchor="ctr">
            <a:normAutofit fontScale="71543"/>
          </a:bodyPr>
          <a:lstStyle/>
          <a:p>
            <a:pPr algn="ctr">
              <a:buNone/>
              <a:defRPr sz="2250" b="1">
                <a:solidFill>
                  <a:srgbClr val="FFFFFF"/>
                </a:solidFill>
                <a:latin typeface="微软雅黑" panose="020B0503020204020204" charset="-122"/>
                <a:ea typeface="微软雅黑" panose="020B0503020204020204" charset="-122"/>
                <a:cs typeface="微软雅黑" panose="020B0503020204020204" charset="-122"/>
              </a:defRPr>
            </a:pPr>
            <a:r>
              <a:rPr sz="2250" b="1">
                <a:solidFill>
                  <a:srgbClr val="FFFFFF"/>
                </a:solidFill>
                <a:latin typeface="微软雅黑" panose="020B0503020204020204" charset="-122"/>
                <a:ea typeface="微软雅黑" panose="020B0503020204020204" charset="-122"/>
                <a:cs typeface="微软雅黑" panose="020B0503020204020204" charset="-122"/>
              </a:rPr>
              <a:t>02</a:t>
            </a:r>
            <a:endParaRPr sz="2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7489190" y="2232025"/>
            <a:ext cx="3857625" cy="495300"/>
          </a:xfrm>
          <a:prstGeom prst="rect">
            <a:avLst/>
          </a:prstGeom>
          <a:noFill/>
          <a:ln w="0">
            <a:noFill/>
          </a:ln>
        </p:spPr>
        <p:txBody>
          <a:bodyPr anchor="ctr">
            <a:normAutofit/>
          </a:bodyPr>
          <a:lstStyle/>
          <a:p>
            <a:pPr algn="l">
              <a:buNone/>
              <a:defRPr sz="1725" b="1">
                <a:solidFill>
                  <a:srgbClr val="24292E"/>
                </a:solidFill>
                <a:latin typeface="微软雅黑" panose="020B0503020204020204" charset="-122"/>
                <a:ea typeface="微软雅黑" panose="020B0503020204020204" charset="-122"/>
                <a:cs typeface="微软雅黑" panose="020B0503020204020204" charset="-122"/>
              </a:defRPr>
            </a:pPr>
            <a:r>
              <a:rPr sz="1725" b="1">
                <a:solidFill>
                  <a:srgbClr val="24292E"/>
                </a:solidFill>
                <a:latin typeface="微软雅黑" panose="020B0503020204020204" charset="-122"/>
                <a:ea typeface="微软雅黑" panose="020B0503020204020204" charset="-122"/>
                <a:cs typeface="微软雅黑" panose="020B0503020204020204" charset="-122"/>
              </a:rPr>
              <a:t>实时语音互动解答</a:t>
            </a:r>
            <a:endParaRPr sz="172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1" name="圆角矩形 20"/>
          <p:cNvSpPr>
            <a:spLocks noGrp="1"/>
          </p:cNvSpPr>
          <p:nvPr/>
        </p:nvSpPr>
        <p:spPr>
          <a:xfrm>
            <a:off x="6860540" y="3270250"/>
            <a:ext cx="1924050" cy="628650"/>
          </a:xfrm>
          <a:prstGeom prst="roundRect">
            <a:avLst>
              <a:gd name="adj" fmla="val 12121"/>
            </a:avLst>
          </a:prstGeom>
          <a:solidFill>
            <a:srgbClr val="B8D4E6"/>
          </a:solidFill>
          <a:ln w="11430">
            <a:solidFill>
              <a:srgbClr val="8AB4CE"/>
            </a:solidFill>
          </a:ln>
        </p:spPr>
        <p:txBody>
          <a:bodyPr anchor="ctr">
            <a:normAutofit/>
          </a:bodyPr>
          <a:lstStyle/>
          <a:p>
            <a:pPr algn="ctr">
              <a:buNone/>
              <a:defRPr sz="1350" b="1">
                <a:solidFill>
                  <a:srgbClr val="24292E"/>
                </a:solidFill>
                <a:latin typeface="微软雅黑" panose="020B0503020204020204" charset="-122"/>
                <a:ea typeface="微软雅黑" panose="020B0503020204020204" charset="-122"/>
                <a:cs typeface="微软雅黑" panose="020B0503020204020204" charset="-122"/>
              </a:defRPr>
            </a:pPr>
            <a:r>
              <a:rPr sz="1350" b="1">
                <a:solidFill>
                  <a:srgbClr val="24292E"/>
                </a:solidFill>
                <a:latin typeface="微软雅黑" panose="020B0503020204020204" charset="-122"/>
                <a:ea typeface="微软雅黑" panose="020B0503020204020204" charset="-122"/>
                <a:cs typeface="微软雅黑" panose="020B0503020204020204" charset="-122"/>
              </a:rPr>
              <a:t>用户语音提问</a:t>
            </a:r>
            <a:endParaRPr sz="13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9260840" y="3270250"/>
            <a:ext cx="1924050" cy="628650"/>
          </a:xfrm>
          <a:prstGeom prst="roundRect">
            <a:avLst>
              <a:gd name="adj" fmla="val 12121"/>
            </a:avLst>
          </a:prstGeom>
          <a:solidFill>
            <a:srgbClr val="EAF6F5"/>
          </a:solidFill>
          <a:ln w="11430">
            <a:solidFill>
              <a:srgbClr val="69C3BD"/>
            </a:solidFill>
          </a:ln>
        </p:spPr>
        <p:txBody>
          <a:bodyPr anchor="ctr">
            <a:normAutofit/>
          </a:bodyPr>
          <a:lstStyle/>
          <a:p>
            <a:pPr algn="ctr">
              <a:buNone/>
              <a:defRPr sz="1350" b="1">
                <a:solidFill>
                  <a:srgbClr val="24292E"/>
                </a:solidFill>
                <a:latin typeface="微软雅黑" panose="020B0503020204020204" charset="-122"/>
                <a:ea typeface="微软雅黑" panose="020B0503020204020204" charset="-122"/>
                <a:cs typeface="微软雅黑" panose="020B0503020204020204" charset="-122"/>
              </a:defRPr>
            </a:pPr>
            <a:r>
              <a:rPr sz="1350" b="1">
                <a:solidFill>
                  <a:srgbClr val="24292E"/>
                </a:solidFill>
                <a:latin typeface="微软雅黑" panose="020B0503020204020204" charset="-122"/>
                <a:ea typeface="微软雅黑" panose="020B0503020204020204" charset="-122"/>
                <a:cs typeface="微软雅黑" panose="020B0503020204020204" charset="-122"/>
              </a:rPr>
              <a:t>系统识别问题</a:t>
            </a:r>
            <a:endParaRPr sz="13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3" name="直接连接符 22"/>
          <p:cNvSpPr>
            <a:spLocks noGrp="1"/>
          </p:cNvSpPr>
          <p:nvPr/>
        </p:nvSpPr>
        <p:spPr>
          <a:xfrm>
            <a:off x="8784590" y="3584575"/>
            <a:ext cx="476250" cy="0"/>
          </a:xfrm>
          <a:prstGeom prst="line">
            <a:avLst/>
          </a:prstGeom>
          <a:noFill/>
          <a:ln w="23813">
            <a:solidFill>
              <a:srgbClr val="287F7B"/>
            </a:solidFill>
          </a:ln>
        </p:spPr>
      </p:sp>
      <p:sp>
        <p:nvSpPr>
          <p:cNvPr id="24" name="矩形 23"/>
          <p:cNvSpPr>
            <a:spLocks noGrp="1"/>
          </p:cNvSpPr>
          <p:nvPr/>
        </p:nvSpPr>
        <p:spPr>
          <a:xfrm>
            <a:off x="8936990" y="3394075"/>
            <a:ext cx="228600" cy="361950"/>
          </a:xfrm>
          <a:prstGeom prst="rect">
            <a:avLst/>
          </a:prstGeom>
          <a:noFill/>
          <a:ln w="0">
            <a:noFill/>
          </a:ln>
        </p:spPr>
        <p:txBody>
          <a:bodyPr anchor="ctr">
            <a:normAutofit fontScale="42902"/>
          </a:bodyPr>
          <a:lstStyle/>
          <a:p>
            <a:pPr algn="ctr">
              <a:buNone/>
              <a:defRPr sz="2250" b="1">
                <a:solidFill>
                  <a:srgbClr val="287F7B"/>
                </a:solidFill>
                <a:latin typeface="微软雅黑" panose="020B0503020204020204" charset="-122"/>
                <a:ea typeface="微软雅黑" panose="020B0503020204020204" charset="-122"/>
                <a:cs typeface="微软雅黑" panose="020B0503020204020204" charset="-122"/>
              </a:defRPr>
            </a:pPr>
            <a:r>
              <a:rPr sz="2250" b="1">
                <a:solidFill>
                  <a:srgbClr val="287F7B"/>
                </a:solidFill>
                <a:latin typeface="微软雅黑" panose="020B0503020204020204" charset="-122"/>
                <a:ea typeface="微软雅黑" panose="020B0503020204020204" charset="-122"/>
                <a:cs typeface="微软雅黑" panose="020B0503020204020204" charset="-122"/>
              </a:rPr>
              <a:t>›</a:t>
            </a:r>
            <a:endParaRPr sz="2250" b="1">
              <a:solidFill>
                <a:srgbClr val="287F7B"/>
              </a:solidFill>
              <a:latin typeface="微软雅黑" panose="020B0503020204020204" charset="-122"/>
              <a:ea typeface="微软雅黑" panose="020B0503020204020204" charset="-122"/>
              <a:cs typeface="微软雅黑" panose="020B0503020204020204" charset="-122"/>
            </a:endParaRPr>
          </a:p>
        </p:txBody>
      </p:sp>
      <p:sp>
        <p:nvSpPr>
          <p:cNvPr id="25" name="圆角矩形 24"/>
          <p:cNvSpPr>
            <a:spLocks noGrp="1"/>
          </p:cNvSpPr>
          <p:nvPr/>
        </p:nvSpPr>
        <p:spPr>
          <a:xfrm>
            <a:off x="6860540" y="4232275"/>
            <a:ext cx="4324350" cy="685800"/>
          </a:xfrm>
          <a:prstGeom prst="roundRect">
            <a:avLst>
              <a:gd name="adj" fmla="val 11111"/>
            </a:avLst>
          </a:prstGeom>
          <a:solidFill>
            <a:srgbClr val="EAF6F5"/>
          </a:solidFill>
          <a:ln w="11430">
            <a:solidFill>
              <a:srgbClr val="69C3BD"/>
            </a:solidFill>
          </a:ln>
        </p:spPr>
        <p:txBody>
          <a:bodyPr anchor="ctr">
            <a:normAutofit/>
          </a:bodyPr>
          <a:lstStyle/>
          <a:p>
            <a:pPr algn="ctr">
              <a:buNone/>
              <a:defRPr sz="1350" b="1">
                <a:solidFill>
                  <a:srgbClr val="24292E"/>
                </a:solidFill>
                <a:latin typeface="微软雅黑" panose="020B0503020204020204" charset="-122"/>
                <a:ea typeface="微软雅黑" panose="020B0503020204020204" charset="-122"/>
                <a:cs typeface="微软雅黑" panose="020B0503020204020204" charset="-122"/>
              </a:defRPr>
            </a:pPr>
            <a:r>
              <a:rPr sz="1350" b="1">
                <a:solidFill>
                  <a:srgbClr val="24292E"/>
                </a:solidFill>
                <a:latin typeface="微软雅黑" panose="020B0503020204020204" charset="-122"/>
                <a:ea typeface="微软雅黑" panose="020B0503020204020204" charset="-122"/>
                <a:cs typeface="微软雅黑" panose="020B0503020204020204" charset="-122"/>
              </a:rPr>
              <a:t>结合</a:t>
            </a:r>
            <a:r>
              <a:rPr sz="1350" b="1">
                <a:solidFill>
                  <a:srgbClr val="24292E"/>
                </a:solidFill>
                <a:latin typeface="微软雅黑" panose="020B0503020204020204" charset="-122"/>
                <a:ea typeface="微软雅黑" panose="020B0503020204020204" charset="-122"/>
                <a:cs typeface="微软雅黑" panose="020B0503020204020204" charset="-122"/>
              </a:rPr>
              <a:t>文物史实回答（语音与文字双</a:t>
            </a:r>
            <a:r>
              <a:rPr sz="1350" b="1">
                <a:solidFill>
                  <a:srgbClr val="24292E"/>
                </a:solidFill>
                <a:latin typeface="微软雅黑" panose="020B0503020204020204" charset="-122"/>
                <a:ea typeface="微软雅黑" panose="020B0503020204020204" charset="-122"/>
                <a:cs typeface="微软雅黑" panose="020B0503020204020204" charset="-122"/>
              </a:rPr>
              <a:t>输出）</a:t>
            </a:r>
            <a:endParaRPr sz="13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8784590" y="3908425"/>
            <a:ext cx="495300" cy="323850"/>
          </a:xfrm>
          <a:prstGeom prst="rect">
            <a:avLst/>
          </a:prstGeom>
          <a:noFill/>
          <a:ln w="0">
            <a:noFill/>
          </a:ln>
        </p:spPr>
        <p:txBody>
          <a:bodyPr anchor="ctr">
            <a:normAutofit fontScale="78205"/>
          </a:bodyPr>
          <a:lstStyle/>
          <a:p>
            <a:pPr algn="ctr">
              <a:buNone/>
              <a:defRPr sz="1950" b="1">
                <a:solidFill>
                  <a:srgbClr val="287F7B"/>
                </a:solidFill>
                <a:latin typeface="微软雅黑" panose="020B0503020204020204" charset="-122"/>
                <a:ea typeface="微软雅黑" panose="020B0503020204020204" charset="-122"/>
                <a:cs typeface="微软雅黑" panose="020B0503020204020204" charset="-122"/>
              </a:defRPr>
            </a:pPr>
            <a:r>
              <a:rPr sz="1950" b="1">
                <a:solidFill>
                  <a:srgbClr val="287F7B"/>
                </a:solidFill>
                <a:latin typeface="微软雅黑" panose="020B0503020204020204" charset="-122"/>
                <a:ea typeface="微软雅黑" panose="020B0503020204020204" charset="-122"/>
                <a:cs typeface="微软雅黑" panose="020B0503020204020204" charset="-122"/>
              </a:rPr>
              <a:t>↓</a:t>
            </a:r>
            <a:endParaRPr sz="1950" b="1">
              <a:solidFill>
                <a:srgbClr val="287F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400050" y="228600"/>
            <a:ext cx="3333750" cy="457200"/>
          </a:xfrm>
          <a:prstGeom prst="rect">
            <a:avLst/>
          </a:prstGeom>
          <a:noFill/>
          <a:ln w="0">
            <a:noFill/>
          </a:ln>
        </p:spPr>
        <p:txBody>
          <a:bodyPr anchor="ctr">
            <a:normAutofit/>
          </a:bodyPr>
          <a:lstStyle/>
          <a:p>
            <a:pPr algn="l">
              <a:buNone/>
              <a:defRPr sz="2250" b="1">
                <a:solidFill>
                  <a:srgbClr val="24292E"/>
                </a:solidFill>
                <a:latin typeface="微软雅黑" panose="020B0503020204020204" charset="-122"/>
                <a:ea typeface="微软雅黑" panose="020B0503020204020204" charset="-122"/>
                <a:cs typeface="微软雅黑" panose="020B0503020204020204" charset="-122"/>
              </a:defRPr>
            </a:pPr>
            <a:r>
              <a:rPr sz="2250" b="1">
                <a:solidFill>
                  <a:srgbClr val="24292E"/>
                </a:solidFill>
                <a:latin typeface="微软雅黑" panose="020B0503020204020204" charset="-122"/>
                <a:ea typeface="微软雅黑" panose="020B0503020204020204" charset="-122"/>
                <a:cs typeface="微软雅黑" panose="020B0503020204020204" charset="-122"/>
              </a:rPr>
              <a:t>参考文献</a:t>
            </a:r>
            <a:endParaRPr sz="22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400050" y="838200"/>
            <a:ext cx="11430000" cy="0"/>
          </a:xfrm>
          <a:prstGeom prst="line">
            <a:avLst/>
          </a:prstGeom>
          <a:noFill/>
          <a:ln w="19050">
            <a:solidFill>
              <a:srgbClr val="596267"/>
            </a:solidFill>
          </a:ln>
        </p:spPr>
      </p:sp>
      <p:sp>
        <p:nvSpPr>
          <p:cNvPr id="4" name="矩形 3"/>
          <p:cNvSpPr>
            <a:spLocks noGrp="1"/>
          </p:cNvSpPr>
          <p:nvPr/>
        </p:nvSpPr>
        <p:spPr>
          <a:xfrm>
            <a:off x="704850" y="1104900"/>
            <a:ext cx="10706100" cy="876300"/>
          </a:xfrm>
          <a:prstGeom prst="rect">
            <a:avLst/>
          </a:prstGeom>
          <a:noFill/>
          <a:ln w="0">
            <a:noFill/>
          </a:ln>
        </p:spPr>
        <p:txBody>
          <a:bodyPr anchor="ctr">
            <a:normAutofit/>
          </a:bodyPr>
          <a:lstStyle/>
          <a:p>
            <a:pPr algn="ctr">
              <a:buNone/>
              <a:defRPr sz="1875" b="1">
                <a:solidFill>
                  <a:srgbClr val="24292E"/>
                </a:solidFill>
                <a:latin typeface="微软雅黑" panose="020B0503020204020204" charset="-122"/>
                <a:ea typeface="微软雅黑" panose="020B0503020204020204" charset="-122"/>
                <a:cs typeface="微软雅黑" panose="020B0503020204020204" charset="-122"/>
              </a:defRPr>
            </a:pPr>
            <a:r>
              <a:rPr sz="1875" b="1">
                <a:solidFill>
                  <a:srgbClr val="24292E"/>
                </a:solidFill>
                <a:latin typeface="微软雅黑" panose="020B0503020204020204" charset="-122"/>
                <a:ea typeface="微软雅黑" panose="020B0503020204020204" charset="-122"/>
                <a:cs typeface="微软雅黑" panose="020B0503020204020204" charset="-122"/>
              </a:rPr>
              <a:t>HeritageSite AR: Design and Evaluation of a Mobile Augmented Reality</a:t>
            </a:r>
            <a:endParaRPr sz="1875" b="1">
              <a:solidFill>
                <a:srgbClr val="24292E"/>
              </a:solidFill>
              <a:latin typeface="微软雅黑" panose="020B0503020204020204" charset="-122"/>
              <a:ea typeface="微软雅黑" panose="020B0503020204020204" charset="-122"/>
              <a:cs typeface="微软雅黑" panose="020B0503020204020204" charset="-122"/>
            </a:endParaRPr>
          </a:p>
          <a:p>
            <a:pPr algn="ctr">
              <a:buNone/>
              <a:defRPr sz="1875" b="1">
                <a:solidFill>
                  <a:srgbClr val="24292E"/>
                </a:solidFill>
                <a:latin typeface="微软雅黑" panose="020B0503020204020204" charset="-122"/>
                <a:ea typeface="微软雅黑" panose="020B0503020204020204" charset="-122"/>
                <a:cs typeface="微软雅黑" panose="020B0503020204020204" charset="-122"/>
              </a:defRPr>
            </a:pPr>
            <a:r>
              <a:rPr sz="1875" b="1">
                <a:solidFill>
                  <a:srgbClr val="24292E"/>
                </a:solidFill>
                <a:latin typeface="微软雅黑" panose="020B0503020204020204" charset="-122"/>
                <a:ea typeface="微软雅黑" panose="020B0503020204020204" charset="-122"/>
                <a:cs typeface="微软雅黑" panose="020B0503020204020204" charset="-122"/>
              </a:rPr>
              <a:t>Exploration Game for a Chinese Heritage Site</a:t>
            </a:r>
            <a:endParaRPr sz="18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5" name="椭圆 4"/>
          <p:cNvSpPr>
            <a:spLocks noGrp="1"/>
          </p:cNvSpPr>
          <p:nvPr/>
        </p:nvSpPr>
        <p:spPr>
          <a:xfrm>
            <a:off x="895350" y="2305050"/>
            <a:ext cx="647700" cy="457200"/>
          </a:xfrm>
          <a:prstGeom prst="ellipse">
            <a:avLst/>
          </a:prstGeom>
          <a:solidFill>
            <a:srgbClr val="287F7B"/>
          </a:solidFill>
          <a:ln w="0">
            <a:noFill/>
          </a:ln>
        </p:spPr>
        <p:txBody>
          <a:bodyPr anchor="ctr">
            <a:normAutofit fontScale="81137"/>
          </a:bodyPr>
          <a:lstStyle/>
          <a:p>
            <a:pPr algn="ctr">
              <a:buNone/>
              <a:defRPr sz="1875" b="1">
                <a:solidFill>
                  <a:srgbClr val="FFFFFF"/>
                </a:solidFill>
                <a:latin typeface="微软雅黑" panose="020B0503020204020204" charset="-122"/>
                <a:ea typeface="微软雅黑" panose="020B0503020204020204" charset="-122"/>
                <a:cs typeface="微软雅黑" panose="020B0503020204020204" charset="-122"/>
              </a:defRPr>
            </a:pPr>
            <a:r>
              <a:rPr sz="1875" b="1">
                <a:solidFill>
                  <a:srgbClr val="FFFFFF"/>
                </a:solidFill>
                <a:latin typeface="微软雅黑" panose="020B0503020204020204" charset="-122"/>
                <a:ea typeface="微软雅黑" panose="020B0503020204020204" charset="-122"/>
                <a:cs typeface="微软雅黑" panose="020B0503020204020204" charset="-122"/>
              </a:rPr>
              <a:t>01</a:t>
            </a:r>
            <a:endParaRPr sz="18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752600" y="2200275"/>
            <a:ext cx="3086100" cy="523875"/>
          </a:xfrm>
          <a:prstGeom prst="rect">
            <a:avLst/>
          </a:prstGeom>
          <a:noFill/>
          <a:ln w="0">
            <a:noFill/>
          </a:ln>
        </p:spPr>
        <p:txBody>
          <a:bodyPr anchor="ctr">
            <a:normAutofit/>
          </a:bodyPr>
          <a:lstStyle/>
          <a:p>
            <a:pPr algn="l">
              <a:buNone/>
              <a:defRPr sz="1650" b="1">
                <a:solidFill>
                  <a:srgbClr val="24292E"/>
                </a:solidFill>
                <a:latin typeface="微软雅黑" panose="020B0503020204020204" charset="-122"/>
                <a:ea typeface="微软雅黑" panose="020B0503020204020204" charset="-122"/>
                <a:cs typeface="微软雅黑" panose="020B0503020204020204" charset="-122"/>
              </a:defRPr>
            </a:pPr>
            <a:r>
              <a:rPr sz="1650" b="1">
                <a:solidFill>
                  <a:srgbClr val="24292E"/>
                </a:solidFill>
                <a:latin typeface="微软雅黑" panose="020B0503020204020204" charset="-122"/>
                <a:ea typeface="微软雅黑" panose="020B0503020204020204" charset="-122"/>
                <a:cs typeface="微软雅黑" panose="020B0503020204020204" charset="-122"/>
              </a:rPr>
              <a:t>AR应用开发</a:t>
            </a:r>
            <a:endParaRPr sz="16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1752600" y="2709545"/>
            <a:ext cx="9410700" cy="876300"/>
          </a:xfrm>
          <a:prstGeom prst="roundRect">
            <a:avLst>
              <a:gd name="adj" fmla="val 8696"/>
            </a:avLst>
          </a:prstGeom>
          <a:solidFill>
            <a:srgbClr val="EAF6F5"/>
          </a:solidFill>
          <a:ln w="14288">
            <a:solidFill>
              <a:srgbClr val="69C3BD"/>
            </a:solidFill>
          </a:ln>
        </p:spPr>
        <p:txBody>
          <a:bodyPr anchor="ctr">
            <a:normAutofit/>
          </a:bodyPr>
          <a:lstStyle/>
          <a:p>
            <a:pPr algn="l">
              <a:buNone/>
              <a:defRPr sz="1350" b="0">
                <a:solidFill>
                  <a:srgbClr val="24292E"/>
                </a:solidFill>
                <a:latin typeface="微软雅黑" panose="020B0503020204020204" charset="-122"/>
                <a:ea typeface="微软雅黑" panose="020B0503020204020204" charset="-122"/>
                <a:cs typeface="微软雅黑" panose="020B0503020204020204" charset="-122"/>
              </a:defRPr>
            </a:pPr>
            <a:r>
              <a:rPr sz="1350" b="0">
                <a:solidFill>
                  <a:srgbClr val="24292E"/>
                </a:solidFill>
                <a:latin typeface="微软雅黑" panose="020B0503020204020204" charset="-122"/>
                <a:ea typeface="微软雅黑" panose="020B0503020204020204" charset="-122"/>
                <a:cs typeface="微软雅黑" panose="020B0503020204020204" charset="-122"/>
              </a:rPr>
              <a:t>研究使用 Unity 2020.3 与 Qualcomm Vuforia SDK 9.8.31 开发移动端AR应用。</a:t>
            </a:r>
            <a:endParaRPr sz="1350" b="0">
              <a:solidFill>
                <a:srgbClr val="24292E"/>
              </a:solidFill>
              <a:latin typeface="微软雅黑" panose="020B0503020204020204" charset="-122"/>
              <a:ea typeface="微软雅黑" panose="020B0503020204020204" charset="-122"/>
              <a:cs typeface="微软雅黑" panose="020B0503020204020204" charset="-122"/>
            </a:endParaRPr>
          </a:p>
          <a:p>
            <a:pPr algn="l">
              <a:buNone/>
              <a:defRPr sz="1350" b="0">
                <a:solidFill>
                  <a:srgbClr val="24292E"/>
                </a:solidFill>
                <a:latin typeface="微软雅黑" panose="020B0503020204020204" charset="-122"/>
                <a:ea typeface="微软雅黑" panose="020B0503020204020204" charset="-122"/>
                <a:cs typeface="微软雅黑" panose="020B0503020204020204" charset="-122"/>
              </a:defRPr>
            </a:pPr>
            <a:r>
              <a:rPr sz="1350" b="0">
                <a:solidFill>
                  <a:srgbClr val="24292E"/>
                </a:solidFill>
                <a:latin typeface="微软雅黑" panose="020B0503020204020204" charset="-122"/>
                <a:ea typeface="微软雅黑" panose="020B0503020204020204" charset="-122"/>
                <a:cs typeface="微软雅黑" panose="020B0503020204020204" charset="-122"/>
              </a:rPr>
              <a:t>Vuforia负责图像目标识别与追踪，并在识别成功后显示对应的3D建筑模型。</a:t>
            </a:r>
            <a:endParaRPr sz="1350" b="0">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9" name="椭圆 8"/>
          <p:cNvSpPr>
            <a:spLocks noGrp="1"/>
          </p:cNvSpPr>
          <p:nvPr/>
        </p:nvSpPr>
        <p:spPr>
          <a:xfrm>
            <a:off x="895350" y="4095750"/>
            <a:ext cx="647700" cy="457200"/>
          </a:xfrm>
          <a:prstGeom prst="ellipse">
            <a:avLst/>
          </a:prstGeom>
          <a:solidFill>
            <a:srgbClr val="287F7B"/>
          </a:solidFill>
          <a:ln w="0">
            <a:noFill/>
          </a:ln>
        </p:spPr>
        <p:txBody>
          <a:bodyPr anchor="ctr">
            <a:normAutofit fontScale="81137"/>
          </a:bodyPr>
          <a:lstStyle/>
          <a:p>
            <a:pPr algn="ctr">
              <a:buNone/>
              <a:defRPr sz="1875" b="1">
                <a:solidFill>
                  <a:srgbClr val="FFFFFF"/>
                </a:solidFill>
                <a:latin typeface="微软雅黑" panose="020B0503020204020204" charset="-122"/>
                <a:ea typeface="微软雅黑" panose="020B0503020204020204" charset="-122"/>
                <a:cs typeface="微软雅黑" panose="020B0503020204020204" charset="-122"/>
              </a:defRPr>
            </a:pPr>
            <a:r>
              <a:rPr sz="1875" b="1">
                <a:solidFill>
                  <a:srgbClr val="FFFFFF"/>
                </a:solidFill>
                <a:latin typeface="微软雅黑" panose="020B0503020204020204" charset="-122"/>
                <a:ea typeface="微软雅黑" panose="020B0503020204020204" charset="-122"/>
                <a:cs typeface="微软雅黑" panose="020B0503020204020204" charset="-122"/>
              </a:rPr>
              <a:t>02</a:t>
            </a:r>
            <a:endParaRPr sz="18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752600" y="3990975"/>
            <a:ext cx="4000500" cy="523875"/>
          </a:xfrm>
          <a:prstGeom prst="rect">
            <a:avLst/>
          </a:prstGeom>
          <a:noFill/>
          <a:ln w="0">
            <a:noFill/>
          </a:ln>
        </p:spPr>
        <p:txBody>
          <a:bodyPr anchor="ctr">
            <a:normAutofit/>
          </a:bodyPr>
          <a:lstStyle/>
          <a:p>
            <a:pPr algn="l">
              <a:buNone/>
              <a:defRPr sz="1650" b="1">
                <a:solidFill>
                  <a:srgbClr val="24292E"/>
                </a:solidFill>
                <a:latin typeface="微软雅黑" panose="020B0503020204020204" charset="-122"/>
                <a:ea typeface="微软雅黑" panose="020B0503020204020204" charset="-122"/>
                <a:cs typeface="微软雅黑" panose="020B0503020204020204" charset="-122"/>
              </a:defRPr>
            </a:pPr>
            <a:r>
              <a:rPr sz="1650" b="1">
                <a:solidFill>
                  <a:srgbClr val="24292E"/>
                </a:solidFill>
                <a:latin typeface="微软雅黑" panose="020B0503020204020204" charset="-122"/>
                <a:ea typeface="微软雅黑" panose="020B0503020204020204" charset="-122"/>
                <a:cs typeface="微软雅黑" panose="020B0503020204020204" charset="-122"/>
              </a:rPr>
              <a:t>移动端性能与识别优化</a:t>
            </a:r>
            <a:endParaRPr sz="16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1752600" y="4559300"/>
            <a:ext cx="9410700" cy="876300"/>
          </a:xfrm>
          <a:prstGeom prst="roundRect">
            <a:avLst>
              <a:gd name="adj" fmla="val 8696"/>
            </a:avLst>
          </a:prstGeom>
          <a:solidFill>
            <a:srgbClr val="EEF5FA"/>
          </a:solidFill>
          <a:ln w="14288">
            <a:solidFill>
              <a:srgbClr val="B8D4E6"/>
            </a:solidFill>
          </a:ln>
        </p:spPr>
        <p:txBody>
          <a:bodyPr anchor="ctr">
            <a:normAutofit/>
          </a:bodyPr>
          <a:lstStyle/>
          <a:p>
            <a:pPr algn="l">
              <a:buNone/>
              <a:defRPr sz="1350" b="0">
                <a:solidFill>
                  <a:srgbClr val="24292E"/>
                </a:solidFill>
                <a:latin typeface="微软雅黑" panose="020B0503020204020204" charset="-122"/>
                <a:ea typeface="微软雅黑" panose="020B0503020204020204" charset="-122"/>
                <a:cs typeface="微软雅黑" panose="020B0503020204020204" charset="-122"/>
              </a:defRPr>
            </a:pPr>
            <a:r>
              <a:rPr sz="1350" b="0">
                <a:solidFill>
                  <a:srgbClr val="24292E"/>
                </a:solidFill>
                <a:latin typeface="微软雅黑" panose="020B0503020204020204" charset="-122"/>
                <a:ea typeface="微软雅黑" panose="020B0503020204020204" charset="-122"/>
                <a:cs typeface="微软雅黑" panose="020B0503020204020204" charset="-122"/>
              </a:rPr>
              <a:t>作者简化3D模型，使其能够在低配置移动设备上流畅运行，减少加载和渲染延迟。</a:t>
            </a:r>
            <a:endParaRPr sz="1350" b="0">
              <a:solidFill>
                <a:srgbClr val="24292E"/>
              </a:solidFill>
              <a:latin typeface="微软雅黑" panose="020B0503020204020204" charset="-122"/>
              <a:ea typeface="微软雅黑" panose="020B0503020204020204" charset="-122"/>
              <a:cs typeface="微软雅黑" panose="020B0503020204020204" charset="-122"/>
            </a:endParaRPr>
          </a:p>
          <a:p>
            <a:pPr algn="l">
              <a:buNone/>
              <a:defRPr sz="1350" b="0">
                <a:solidFill>
                  <a:srgbClr val="24292E"/>
                </a:solidFill>
                <a:latin typeface="微软雅黑" panose="020B0503020204020204" charset="-122"/>
                <a:ea typeface="微软雅黑" panose="020B0503020204020204" charset="-122"/>
                <a:cs typeface="微软雅黑" panose="020B0503020204020204" charset="-122"/>
              </a:defRPr>
            </a:pPr>
            <a:r>
              <a:rPr sz="1350" b="0">
                <a:solidFill>
                  <a:srgbClr val="24292E"/>
                </a:solidFill>
                <a:latin typeface="微软雅黑" panose="020B0503020204020204" charset="-122"/>
                <a:ea typeface="微软雅黑" panose="020B0503020204020204" charset="-122"/>
                <a:cs typeface="微软雅黑" panose="020B0503020204020204" charset="-122"/>
              </a:rPr>
              <a:t>同时，将Vuforia图像识别目标控制在2 MB以内，并确保识别质量评级至少达到三星。</a:t>
            </a:r>
            <a:endParaRPr sz="1350" b="0">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90550" y="6134735"/>
            <a:ext cx="11029950" cy="656590"/>
          </a:xfrm>
          <a:prstGeom prst="rect">
            <a:avLst/>
          </a:prstGeom>
          <a:noFill/>
          <a:ln w="0">
            <a:noFill/>
          </a:ln>
        </p:spPr>
        <p:txBody>
          <a:bodyPr anchor="ctr">
            <a:normAutofit/>
          </a:bodyPr>
          <a:lstStyle/>
          <a:p>
            <a:pPr algn="ctr">
              <a:buNone/>
              <a:defRPr sz="715" b="0">
                <a:solidFill>
                  <a:srgbClr val="59666D"/>
                </a:solidFill>
                <a:latin typeface="微软雅黑" panose="020B0503020204020204" charset="-122"/>
                <a:ea typeface="微软雅黑" panose="020B0503020204020204" charset="-122"/>
                <a:cs typeface="微软雅黑" panose="020B0503020204020204" charset="-122"/>
              </a:defRPr>
            </a:pPr>
            <a:r>
              <a:rPr sz="800" b="0">
                <a:solidFill>
                  <a:srgbClr val="59666D"/>
                </a:solidFill>
                <a:latin typeface="微软雅黑" panose="020B0503020204020204" charset="-122"/>
                <a:ea typeface="微软雅黑" panose="020B0503020204020204" charset="-122"/>
                <a:cs typeface="微软雅黑" panose="020B0503020204020204" charset="-122"/>
              </a:rPr>
              <a:t>Xu, N., Li, Y., Liang, J., Shuai, K., Li, Y., Yan, J., Zhang, C., &amp; Dong, Y. (2024). HeritageSite AR: Design and evaluation of a mobile augmented reality exploration game for a Chinese heritage site. ACM Journal on Computing and Cultural Heritage, 17(4), Article 67, 1–29. https://doi.org/10.1145/3700881</a:t>
            </a:r>
            <a:endParaRPr sz="800" b="0">
              <a:solidFill>
                <a:srgbClr val="59666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400050" y="228600"/>
            <a:ext cx="3333750" cy="457200"/>
          </a:xfrm>
          <a:prstGeom prst="rect">
            <a:avLst/>
          </a:prstGeom>
          <a:noFill/>
          <a:ln w="0">
            <a:noFill/>
          </a:ln>
        </p:spPr>
        <p:txBody>
          <a:bodyPr anchor="ctr">
            <a:normAutofit/>
          </a:bodyPr>
          <a:lstStyle/>
          <a:p>
            <a:pPr algn="l">
              <a:buNone/>
              <a:defRPr sz="2250" b="1">
                <a:solidFill>
                  <a:srgbClr val="24292E"/>
                </a:solidFill>
                <a:latin typeface="微软雅黑" panose="020B0503020204020204" charset="-122"/>
                <a:ea typeface="微软雅黑" panose="020B0503020204020204" charset="-122"/>
                <a:cs typeface="微软雅黑" panose="020B0503020204020204" charset="-122"/>
              </a:defRPr>
            </a:pPr>
            <a:r>
              <a:rPr sz="2250" b="1">
                <a:solidFill>
                  <a:srgbClr val="24292E"/>
                </a:solidFill>
                <a:latin typeface="微软雅黑" panose="020B0503020204020204" charset="-122"/>
                <a:ea typeface="微软雅黑" panose="020B0503020204020204" charset="-122"/>
                <a:cs typeface="微软雅黑" panose="020B0503020204020204" charset="-122"/>
              </a:rPr>
              <a:t>参考文献</a:t>
            </a:r>
            <a:endParaRPr sz="22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400050" y="838200"/>
            <a:ext cx="11430000" cy="0"/>
          </a:xfrm>
          <a:prstGeom prst="line">
            <a:avLst/>
          </a:prstGeom>
          <a:noFill/>
          <a:ln w="19050">
            <a:solidFill>
              <a:srgbClr val="596267"/>
            </a:solidFill>
          </a:ln>
        </p:spPr>
      </p:sp>
      <p:sp>
        <p:nvSpPr>
          <p:cNvPr id="4" name="矩形 3"/>
          <p:cNvSpPr>
            <a:spLocks noGrp="1"/>
          </p:cNvSpPr>
          <p:nvPr/>
        </p:nvSpPr>
        <p:spPr>
          <a:xfrm>
            <a:off x="838200" y="1028700"/>
            <a:ext cx="10515600" cy="742950"/>
          </a:xfrm>
          <a:prstGeom prst="rect">
            <a:avLst/>
          </a:prstGeom>
          <a:noFill/>
          <a:ln w="0">
            <a:noFill/>
          </a:ln>
        </p:spPr>
        <p:txBody>
          <a:bodyPr anchor="ctr">
            <a:normAutofit/>
          </a:bodyPr>
          <a:lstStyle/>
          <a:p>
            <a:pPr algn="ctr">
              <a:buNone/>
              <a:defRPr sz="1875" b="1">
                <a:solidFill>
                  <a:srgbClr val="24292E"/>
                </a:solidFill>
                <a:latin typeface="微软雅黑" panose="020B0503020204020204" charset="-122"/>
                <a:ea typeface="微软雅黑" panose="020B0503020204020204" charset="-122"/>
                <a:cs typeface="微软雅黑" panose="020B0503020204020204" charset="-122"/>
              </a:defRPr>
            </a:pPr>
            <a:r>
              <a:rPr sz="1875" b="1">
                <a:solidFill>
                  <a:srgbClr val="24292E"/>
                </a:solidFill>
                <a:latin typeface="微软雅黑" panose="020B0503020204020204" charset="-122"/>
                <a:ea typeface="微软雅黑" panose="020B0503020204020204" charset="-122"/>
                <a:cs typeface="微软雅黑" panose="020B0503020204020204" charset="-122"/>
              </a:rPr>
              <a:t>Design and Evaluation of Touch and Touchless Interfaces</a:t>
            </a:r>
            <a:endParaRPr sz="1875" b="1">
              <a:solidFill>
                <a:srgbClr val="24292E"/>
              </a:solidFill>
              <a:latin typeface="微软雅黑" panose="020B0503020204020204" charset="-122"/>
              <a:ea typeface="微软雅黑" panose="020B0503020204020204" charset="-122"/>
              <a:cs typeface="微软雅黑" panose="020B0503020204020204" charset="-122"/>
            </a:endParaRPr>
          </a:p>
          <a:p>
            <a:pPr algn="ctr">
              <a:buNone/>
              <a:defRPr sz="1875" b="1">
                <a:solidFill>
                  <a:srgbClr val="24292E"/>
                </a:solidFill>
                <a:latin typeface="微软雅黑" panose="020B0503020204020204" charset="-122"/>
                <a:ea typeface="微软雅黑" panose="020B0503020204020204" charset="-122"/>
                <a:cs typeface="微软雅黑" panose="020B0503020204020204" charset="-122"/>
              </a:defRPr>
            </a:pPr>
            <a:r>
              <a:rPr sz="1875" b="1">
                <a:solidFill>
                  <a:srgbClr val="24292E"/>
                </a:solidFill>
                <a:latin typeface="微软雅黑" panose="020B0503020204020204" charset="-122"/>
                <a:ea typeface="微软雅黑" panose="020B0503020204020204" charset="-122"/>
                <a:cs typeface="微软雅黑" panose="020B0503020204020204" charset="-122"/>
              </a:rPr>
              <a:t>for Interactive Digital Heritage Experiences</a:t>
            </a:r>
            <a:endParaRPr sz="1875" b="1">
              <a:solidFill>
                <a:srgbClr val="24292E"/>
              </a:solidFill>
              <a:latin typeface="微软雅黑" panose="020B0503020204020204" charset="-122"/>
              <a:ea typeface="微软雅黑" panose="020B0503020204020204" charset="-122"/>
              <a:cs typeface="微软雅黑" panose="020B0503020204020204" charset="-122"/>
            </a:endParaRPr>
          </a:p>
        </p:txBody>
      </p:sp>
      <p:pic>
        <p:nvPicPr>
          <p:cNvPr id="20" name="图片 18"/>
          <p:cNvPicPr>
            <a:picLocks noChangeAspect="1"/>
          </p:cNvPicPr>
          <p:nvPr/>
        </p:nvPicPr>
        <p:blipFill>
          <a:blip r:embed="rId1"/>
          <a:stretch>
            <a:fillRect/>
          </a:stretch>
        </p:blipFill>
        <p:spPr>
          <a:xfrm>
            <a:off x="500364" y="2038350"/>
            <a:ext cx="5971572" cy="3124200"/>
          </a:xfrm>
          <a:prstGeom prst="rect">
            <a:avLst/>
          </a:prstGeom>
        </p:spPr>
      </p:pic>
      <p:sp>
        <p:nvSpPr>
          <p:cNvPr id="6" name="矩形 5"/>
          <p:cNvSpPr>
            <a:spLocks noGrp="1"/>
          </p:cNvSpPr>
          <p:nvPr/>
        </p:nvSpPr>
        <p:spPr>
          <a:xfrm>
            <a:off x="742950" y="5181600"/>
            <a:ext cx="5486400" cy="266700"/>
          </a:xfrm>
          <a:prstGeom prst="rect">
            <a:avLst/>
          </a:prstGeom>
          <a:noFill/>
          <a:ln w="0">
            <a:noFill/>
          </a:ln>
        </p:spPr>
        <p:txBody>
          <a:bodyPr anchor="ctr">
            <a:normAutofit/>
          </a:bodyPr>
          <a:lstStyle/>
          <a:p>
            <a:pPr algn="ctr">
              <a:buNone/>
              <a:defRPr sz="900" b="0">
                <a:solidFill>
                  <a:srgbClr val="59666D"/>
                </a:solidFill>
                <a:latin typeface="微软雅黑" panose="020B0503020204020204" charset="-122"/>
                <a:ea typeface="微软雅黑" panose="020B0503020204020204" charset="-122"/>
                <a:cs typeface="微软雅黑" panose="020B0503020204020204" charset="-122"/>
              </a:defRPr>
            </a:pPr>
            <a:r>
              <a:rPr sz="900" b="0">
                <a:solidFill>
                  <a:srgbClr val="59666D"/>
                </a:solidFill>
                <a:latin typeface="微软雅黑" panose="020B0503020204020204" charset="-122"/>
                <a:ea typeface="微软雅黑" panose="020B0503020204020204" charset="-122"/>
                <a:cs typeface="微软雅黑" panose="020B0503020204020204" charset="-122"/>
              </a:rPr>
              <a:t>Figure 3. 触屏与非接触式手势的六种操作</a:t>
            </a:r>
            <a:endParaRPr sz="900" b="0">
              <a:solidFill>
                <a:srgbClr val="59666D"/>
              </a:solidFill>
              <a:latin typeface="微软雅黑" panose="020B0503020204020204" charset="-122"/>
              <a:ea typeface="微软雅黑" panose="020B0503020204020204" charset="-122"/>
              <a:cs typeface="微软雅黑" panose="020B0503020204020204" charset="-122"/>
            </a:endParaRPr>
          </a:p>
        </p:txBody>
      </p:sp>
      <p:sp>
        <p:nvSpPr>
          <p:cNvPr id="7" name="椭圆 6"/>
          <p:cNvSpPr>
            <a:spLocks noGrp="1"/>
          </p:cNvSpPr>
          <p:nvPr/>
        </p:nvSpPr>
        <p:spPr>
          <a:xfrm>
            <a:off x="6934200" y="2000250"/>
            <a:ext cx="590550" cy="419100"/>
          </a:xfrm>
          <a:prstGeom prst="ellipse">
            <a:avLst/>
          </a:prstGeom>
          <a:solidFill>
            <a:srgbClr val="287F7B"/>
          </a:solidFill>
          <a:ln w="0">
            <a:noFill/>
          </a:ln>
        </p:spPr>
        <p:txBody>
          <a:bodyPr anchor="ctr">
            <a:normAutofit fontScale="81487"/>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01</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696200" y="1971675"/>
            <a:ext cx="3714750" cy="457200"/>
          </a:xfrm>
          <a:prstGeom prst="rect">
            <a:avLst/>
          </a:prstGeom>
          <a:noFill/>
          <a:ln w="0">
            <a:noFill/>
          </a:ln>
        </p:spPr>
        <p:txBody>
          <a:bodyPr anchor="ctr">
            <a:normAutofit/>
          </a:bodyPr>
          <a:lstStyle/>
          <a:p>
            <a:pPr algn="l">
              <a:buNone/>
              <a:defRPr sz="1575" b="1">
                <a:solidFill>
                  <a:srgbClr val="24292E"/>
                </a:solidFill>
                <a:latin typeface="微软雅黑" panose="020B0503020204020204" charset="-122"/>
                <a:ea typeface="微软雅黑" panose="020B0503020204020204" charset="-122"/>
                <a:cs typeface="微软雅黑" panose="020B0503020204020204" charset="-122"/>
              </a:defRPr>
            </a:pPr>
            <a:r>
              <a:rPr sz="1575" b="1">
                <a:solidFill>
                  <a:srgbClr val="24292E"/>
                </a:solidFill>
                <a:latin typeface="微软雅黑" panose="020B0503020204020204" charset="-122"/>
                <a:ea typeface="微软雅黑" panose="020B0503020204020204" charset="-122"/>
                <a:cs typeface="微软雅黑" panose="020B0503020204020204" charset="-122"/>
              </a:rPr>
              <a:t>六种核心交互动作</a:t>
            </a:r>
            <a:endParaRPr sz="15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6934200" y="2533650"/>
            <a:ext cx="4610100" cy="781050"/>
          </a:xfrm>
          <a:prstGeom prst="roundRect">
            <a:avLst>
              <a:gd name="adj" fmla="val 9756"/>
            </a:avLst>
          </a:prstGeom>
          <a:solidFill>
            <a:srgbClr val="EAF6F5"/>
          </a:solidFill>
          <a:ln w="12383">
            <a:solidFill>
              <a:srgbClr val="69C3BD"/>
            </a:solidFill>
          </a:ln>
        </p:spPr>
        <p:txBody>
          <a:bodyPr anchor="ctr">
            <a:normAutofit/>
          </a:bodyPr>
          <a:lstStyle/>
          <a:p>
            <a:pPr algn="l">
              <a:buNone/>
              <a:defRPr sz="1275" b="0">
                <a:solidFill>
                  <a:srgbClr val="24292E"/>
                </a:solidFill>
                <a:latin typeface="微软雅黑" panose="020B0503020204020204" charset="-122"/>
                <a:ea typeface="微软雅黑" panose="020B0503020204020204" charset="-122"/>
                <a:cs typeface="微软雅黑" panose="020B0503020204020204" charset="-122"/>
              </a:defRPr>
            </a:pPr>
            <a:r>
              <a:rPr sz="1275" b="0">
                <a:solidFill>
                  <a:srgbClr val="24292E"/>
                </a:solidFill>
                <a:latin typeface="微软雅黑" panose="020B0503020204020204" charset="-122"/>
                <a:ea typeface="微软雅黑" panose="020B0503020204020204" charset="-122"/>
                <a:cs typeface="微软雅黑" panose="020B0503020204020204" charset="-122"/>
              </a:rPr>
              <a:t>研究整合了滑动、选择、平移、旋转、缩小和放大六种操作，</a:t>
            </a:r>
            <a:endParaRPr sz="1275" b="0">
              <a:solidFill>
                <a:srgbClr val="24292E"/>
              </a:solidFill>
              <a:latin typeface="微软雅黑" panose="020B0503020204020204" charset="-122"/>
              <a:ea typeface="微软雅黑" panose="020B0503020204020204" charset="-122"/>
              <a:cs typeface="微软雅黑" panose="020B0503020204020204" charset="-122"/>
            </a:endParaRPr>
          </a:p>
          <a:p>
            <a:pPr algn="l">
              <a:buNone/>
              <a:defRPr sz="1275" b="0">
                <a:solidFill>
                  <a:srgbClr val="24292E"/>
                </a:solidFill>
                <a:latin typeface="微软雅黑" panose="020B0503020204020204" charset="-122"/>
                <a:ea typeface="微软雅黑" panose="020B0503020204020204" charset="-122"/>
                <a:cs typeface="微软雅黑" panose="020B0503020204020204" charset="-122"/>
              </a:defRPr>
            </a:pPr>
            <a:r>
              <a:rPr sz="1275" b="0">
                <a:solidFill>
                  <a:srgbClr val="24292E"/>
                </a:solidFill>
                <a:latin typeface="微软雅黑" panose="020B0503020204020204" charset="-122"/>
                <a:ea typeface="微软雅黑" panose="020B0503020204020204" charset="-122"/>
                <a:cs typeface="微软雅黑" panose="020B0503020204020204" charset="-122"/>
              </a:rPr>
              <a:t>并分别设计触屏操作与非接触手势控制方式。</a:t>
            </a:r>
            <a:endParaRPr sz="1275" b="0">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0" name="椭圆 9"/>
          <p:cNvSpPr>
            <a:spLocks noGrp="1"/>
          </p:cNvSpPr>
          <p:nvPr/>
        </p:nvSpPr>
        <p:spPr>
          <a:xfrm>
            <a:off x="6934200" y="3524250"/>
            <a:ext cx="590550" cy="419100"/>
          </a:xfrm>
          <a:prstGeom prst="ellipse">
            <a:avLst/>
          </a:prstGeom>
          <a:solidFill>
            <a:srgbClr val="287F7B"/>
          </a:solidFill>
          <a:ln w="0">
            <a:noFill/>
          </a:ln>
        </p:spPr>
        <p:txBody>
          <a:bodyPr anchor="ctr">
            <a:normAutofit fontScale="81487"/>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02</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696200" y="3495675"/>
            <a:ext cx="3714750" cy="457200"/>
          </a:xfrm>
          <a:prstGeom prst="rect">
            <a:avLst/>
          </a:prstGeom>
          <a:noFill/>
          <a:ln w="0">
            <a:noFill/>
          </a:ln>
        </p:spPr>
        <p:txBody>
          <a:bodyPr anchor="ctr">
            <a:normAutofit/>
          </a:bodyPr>
          <a:lstStyle/>
          <a:p>
            <a:pPr algn="l">
              <a:buNone/>
              <a:defRPr sz="1575" b="1">
                <a:solidFill>
                  <a:srgbClr val="24292E"/>
                </a:solidFill>
                <a:latin typeface="微软雅黑" panose="020B0503020204020204" charset="-122"/>
                <a:ea typeface="微软雅黑" panose="020B0503020204020204" charset="-122"/>
                <a:cs typeface="微软雅黑" panose="020B0503020204020204" charset="-122"/>
              </a:defRPr>
            </a:pPr>
            <a:r>
              <a:rPr sz="1575" b="1">
                <a:solidFill>
                  <a:srgbClr val="24292E"/>
                </a:solidFill>
                <a:latin typeface="微软雅黑" panose="020B0503020204020204" charset="-122"/>
                <a:ea typeface="微软雅黑" panose="020B0503020204020204" charset="-122"/>
                <a:cs typeface="微软雅黑" panose="020B0503020204020204" charset="-122"/>
              </a:rPr>
              <a:t>触屏操作逻辑</a:t>
            </a:r>
            <a:endParaRPr sz="15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934200" y="4038600"/>
            <a:ext cx="4610100" cy="1657350"/>
          </a:xfrm>
          <a:prstGeom prst="roundRect">
            <a:avLst>
              <a:gd name="adj" fmla="val 4598"/>
            </a:avLst>
          </a:prstGeom>
          <a:solidFill>
            <a:srgbClr val="F3F7F9"/>
          </a:solidFill>
          <a:ln w="12383">
            <a:solidFill>
              <a:srgbClr val="B8D4E6"/>
            </a:solidFill>
          </a:ln>
        </p:spPr>
        <p:txBody>
          <a:bodyPr anchor="ctr">
            <a:normAutofit/>
          </a:bodyPr>
          <a:lstStyle/>
          <a:p>
            <a:pPr algn="l">
              <a:buNone/>
              <a:defRPr sz="1200" b="0">
                <a:solidFill>
                  <a:srgbClr val="24292E"/>
                </a:solidFill>
                <a:latin typeface="微软雅黑" panose="020B0503020204020204" charset="-122"/>
                <a:ea typeface="微软雅黑" panose="020B0503020204020204" charset="-122"/>
                <a:cs typeface="微软雅黑" panose="020B0503020204020204" charset="-122"/>
              </a:defRPr>
            </a:pPr>
            <a:r>
              <a:rPr sz="1200" b="0">
                <a:solidFill>
                  <a:srgbClr val="24292E"/>
                </a:solidFill>
                <a:latin typeface="微软雅黑" panose="020B0503020204020204" charset="-122"/>
                <a:ea typeface="微软雅黑" panose="020B0503020204020204" charset="-122"/>
                <a:cs typeface="微软雅黑" panose="020B0503020204020204" charset="-122"/>
              </a:rPr>
              <a:t>平移：手指持续接触屏幕并拖动，物体跟随手指轨迹移动；手指离开后，物体停止移动。</a:t>
            </a:r>
            <a:endParaRPr sz="1200" b="0">
              <a:solidFill>
                <a:srgbClr val="24292E"/>
              </a:solidFill>
              <a:latin typeface="微软雅黑" panose="020B0503020204020204" charset="-122"/>
              <a:ea typeface="微软雅黑" panose="020B0503020204020204" charset="-122"/>
              <a:cs typeface="微软雅黑" panose="020B0503020204020204" charset="-122"/>
            </a:endParaRPr>
          </a:p>
          <a:p>
            <a:endParaRPr sz="1200"/>
          </a:p>
          <a:p>
            <a:pPr algn="l">
              <a:buNone/>
              <a:defRPr sz="1200" b="0">
                <a:solidFill>
                  <a:srgbClr val="24292E"/>
                </a:solidFill>
                <a:latin typeface="微软雅黑" panose="020B0503020204020204" charset="-122"/>
                <a:ea typeface="微软雅黑" panose="020B0503020204020204" charset="-122"/>
                <a:cs typeface="微软雅黑" panose="020B0503020204020204" charset="-122"/>
              </a:defRPr>
            </a:pPr>
            <a:r>
              <a:rPr sz="1200" b="0">
                <a:solidFill>
                  <a:srgbClr val="24292E"/>
                </a:solidFill>
                <a:latin typeface="微软雅黑" panose="020B0503020204020204" charset="-122"/>
                <a:ea typeface="微软雅黑" panose="020B0503020204020204" charset="-122"/>
                <a:cs typeface="微软雅黑" panose="020B0503020204020204" charset="-122"/>
              </a:rPr>
              <a:t>旋转：拖动的速度和幅度决定物体旋转的速度与角度。</a:t>
            </a:r>
            <a:endParaRPr sz="1200" b="0">
              <a:solidFill>
                <a:srgbClr val="24292E"/>
              </a:solidFill>
              <a:latin typeface="微软雅黑" panose="020B0503020204020204" charset="-122"/>
              <a:ea typeface="微软雅黑" panose="020B0503020204020204" charset="-122"/>
              <a:cs typeface="微软雅黑" panose="020B0503020204020204" charset="-122"/>
            </a:endParaRPr>
          </a:p>
          <a:p>
            <a:endParaRPr sz="1200"/>
          </a:p>
          <a:p>
            <a:pPr algn="l">
              <a:buNone/>
              <a:defRPr sz="1200" b="0">
                <a:solidFill>
                  <a:srgbClr val="24292E"/>
                </a:solidFill>
                <a:latin typeface="微软雅黑" panose="020B0503020204020204" charset="-122"/>
                <a:ea typeface="微软雅黑" panose="020B0503020204020204" charset="-122"/>
                <a:cs typeface="微软雅黑" panose="020B0503020204020204" charset="-122"/>
              </a:defRPr>
            </a:pPr>
            <a:r>
              <a:rPr sz="1200" b="0">
                <a:solidFill>
                  <a:srgbClr val="24292E"/>
                </a:solidFill>
                <a:latin typeface="微软雅黑" panose="020B0503020204020204" charset="-122"/>
                <a:ea typeface="微软雅黑" panose="020B0503020204020204" charset="-122"/>
                <a:cs typeface="微软雅黑" panose="020B0503020204020204" charset="-122"/>
              </a:rPr>
              <a:t>缩放：两指分开执行缩小，两指合拢执行放大；缩放幅度取决于两指距离。</a:t>
            </a:r>
            <a:endParaRPr sz="1200" b="0">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704850" y="6238875"/>
            <a:ext cx="10782300" cy="523875"/>
          </a:xfrm>
          <a:prstGeom prst="rect">
            <a:avLst/>
          </a:prstGeom>
          <a:noFill/>
          <a:ln w="0">
            <a:noFill/>
          </a:ln>
        </p:spPr>
        <p:txBody>
          <a:bodyPr anchor="ctr">
            <a:normAutofit/>
          </a:bodyPr>
          <a:lstStyle/>
          <a:p>
            <a:pPr algn="ctr">
              <a:buNone/>
              <a:defRPr sz="750" b="0">
                <a:solidFill>
                  <a:srgbClr val="59666D"/>
                </a:solidFill>
                <a:latin typeface="微软雅黑" panose="020B0503020204020204" charset="-122"/>
                <a:ea typeface="微软雅黑" panose="020B0503020204020204" charset="-122"/>
                <a:cs typeface="微软雅黑" panose="020B0503020204020204" charset="-122"/>
              </a:defRPr>
            </a:pPr>
            <a:r>
              <a:rPr sz="800" b="0">
                <a:solidFill>
                  <a:srgbClr val="59666D"/>
                </a:solidFill>
              </a:rPr>
              <a:t>Zhang, K., Luo, J., &amp; Pan, Y. (2025). Design and evaluation of touch and touchless interfaces for interactive digital heritage experiences. npj Heritage Science, 13, Article 313. https://doi.org/10.1038/s40494-025-01889-3</a:t>
            </a:r>
            <a:endParaRPr sz="800" b="0">
              <a:solidFill>
                <a:srgbClr val="59666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400050" y="228600"/>
            <a:ext cx="3333750" cy="457200"/>
          </a:xfrm>
          <a:prstGeom prst="rect">
            <a:avLst/>
          </a:prstGeom>
          <a:noFill/>
          <a:ln w="0">
            <a:noFill/>
          </a:ln>
        </p:spPr>
        <p:txBody>
          <a:bodyPr anchor="ctr">
            <a:normAutofit/>
          </a:bodyPr>
          <a:lstStyle/>
          <a:p>
            <a:pPr algn="l">
              <a:defRPr sz="2250" b="1">
                <a:solidFill>
                  <a:srgbClr val="24292E"/>
                </a:solidFill>
                <a:latin typeface="微软雅黑" panose="020B0503020204020204" charset="-122"/>
                <a:ea typeface="微软雅黑" panose="020B0503020204020204" charset="-122"/>
                <a:cs typeface="微软雅黑" panose="020B0503020204020204" charset="-122"/>
              </a:defRPr>
            </a:pPr>
            <a:r>
              <a:rPr sz="2250" b="1">
                <a:solidFill>
                  <a:srgbClr val="24292E"/>
                </a:solidFill>
                <a:latin typeface="微软雅黑" panose="020B0503020204020204" charset="-122"/>
                <a:ea typeface="微软雅黑" panose="020B0503020204020204" charset="-122"/>
                <a:cs typeface="微软雅黑" panose="020B0503020204020204" charset="-122"/>
              </a:rPr>
              <a:t>参考文献</a:t>
            </a:r>
            <a:endParaRPr sz="22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400050" y="838200"/>
            <a:ext cx="11430000" cy="0"/>
          </a:xfrm>
          <a:prstGeom prst="line">
            <a:avLst/>
          </a:prstGeom>
          <a:noFill/>
          <a:ln w="19050">
            <a:solidFill>
              <a:srgbClr val="596267"/>
            </a:solidFill>
          </a:ln>
        </p:spPr>
      </p:sp>
      <p:sp>
        <p:nvSpPr>
          <p:cNvPr id="4" name="矩形 3"/>
          <p:cNvSpPr>
            <a:spLocks noGrp="1"/>
          </p:cNvSpPr>
          <p:nvPr/>
        </p:nvSpPr>
        <p:spPr>
          <a:xfrm>
            <a:off x="723900" y="1000125"/>
            <a:ext cx="10744200" cy="742950"/>
          </a:xfrm>
          <a:prstGeom prst="rect">
            <a:avLst/>
          </a:prstGeom>
          <a:noFill/>
          <a:ln w="0">
            <a:noFill/>
          </a:ln>
        </p:spPr>
        <p:txBody>
          <a:bodyPr anchor="ctr">
            <a:normAutofit/>
          </a:bodyPr>
          <a:lstStyle/>
          <a:p>
            <a:pPr algn="ctr">
              <a:defRPr sz="1875" b="1">
                <a:solidFill>
                  <a:srgbClr val="24292E"/>
                </a:solidFill>
                <a:latin typeface="微软雅黑" panose="020B0503020204020204" charset="-122"/>
                <a:ea typeface="微软雅黑" panose="020B0503020204020204" charset="-122"/>
                <a:cs typeface="微软雅黑" panose="020B0503020204020204" charset="-122"/>
              </a:defRPr>
            </a:pPr>
            <a:r>
              <a:rPr sz="1875" b="1">
                <a:solidFill>
                  <a:srgbClr val="24292E"/>
                </a:solidFill>
                <a:latin typeface="微软雅黑" panose="020B0503020204020204" charset="-122"/>
                <a:ea typeface="微软雅黑" panose="020B0503020204020204" charset="-122"/>
                <a:cs typeface="微软雅黑" panose="020B0503020204020204" charset="-122"/>
              </a:rPr>
              <a:t>LLM-based Embodied Conversational Agent for Reducing</a:t>
            </a:r>
            <a:endParaRPr sz="1875" b="1">
              <a:solidFill>
                <a:srgbClr val="24292E"/>
              </a:solidFill>
              <a:latin typeface="微软雅黑" panose="020B0503020204020204" charset="-122"/>
              <a:ea typeface="微软雅黑" panose="020B0503020204020204" charset="-122"/>
              <a:cs typeface="微软雅黑" panose="020B0503020204020204" charset="-122"/>
            </a:endParaRPr>
          </a:p>
          <a:p>
            <a:pPr algn="ctr">
              <a:defRPr sz="1875" b="1">
                <a:solidFill>
                  <a:srgbClr val="24292E"/>
                </a:solidFill>
                <a:latin typeface="微软雅黑" panose="020B0503020204020204" charset="-122"/>
                <a:ea typeface="微软雅黑" panose="020B0503020204020204" charset="-122"/>
                <a:cs typeface="微软雅黑" panose="020B0503020204020204" charset="-122"/>
              </a:defRPr>
            </a:pPr>
            <a:r>
              <a:rPr sz="1875" b="1">
                <a:solidFill>
                  <a:srgbClr val="24292E"/>
                </a:solidFill>
                <a:latin typeface="微软雅黑" panose="020B0503020204020204" charset="-122"/>
                <a:ea typeface="微软雅黑" panose="020B0503020204020204" charset="-122"/>
                <a:cs typeface="微软雅黑" panose="020B0503020204020204" charset="-122"/>
              </a:rPr>
              <a:t>Foreign Language Speaking Anxiety in Social VR</a:t>
            </a:r>
            <a:endParaRPr sz="1875"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5" name="椭圆 4"/>
          <p:cNvSpPr>
            <a:spLocks noGrp="1"/>
          </p:cNvSpPr>
          <p:nvPr/>
        </p:nvSpPr>
        <p:spPr>
          <a:xfrm>
            <a:off x="762000" y="2200275"/>
            <a:ext cx="590550" cy="419100"/>
          </a:xfrm>
          <a:prstGeom prst="ellipse">
            <a:avLst/>
          </a:prstGeom>
          <a:solidFill>
            <a:srgbClr val="287F7B"/>
          </a:solidFill>
          <a:ln w="0">
            <a:noFill/>
          </a:ln>
        </p:spPr>
        <p:txBody>
          <a:bodyPr anchor="ctr">
            <a:normAutofit fontScale="81487"/>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01</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524000" y="2171700"/>
            <a:ext cx="4191000" cy="457200"/>
          </a:xfrm>
          <a:prstGeom prst="rect">
            <a:avLst/>
          </a:prstGeom>
          <a:noFill/>
          <a:ln w="0">
            <a:noFill/>
          </a:ln>
        </p:spPr>
        <p:txBody>
          <a:bodyPr anchor="ctr">
            <a:normAutofit/>
          </a:bodyPr>
          <a:lstStyle/>
          <a:p>
            <a:pPr algn="l">
              <a:defRPr sz="1650" b="1">
                <a:solidFill>
                  <a:srgbClr val="24292E"/>
                </a:solidFill>
                <a:latin typeface="微软雅黑" panose="020B0503020204020204" charset="-122"/>
                <a:ea typeface="微软雅黑" panose="020B0503020204020204" charset="-122"/>
                <a:cs typeface="微软雅黑" panose="020B0503020204020204" charset="-122"/>
              </a:defRPr>
            </a:pPr>
            <a:r>
              <a:rPr sz="1650" b="1">
                <a:solidFill>
                  <a:srgbClr val="24292E"/>
                </a:solidFill>
                <a:latin typeface="微软雅黑" panose="020B0503020204020204" charset="-122"/>
                <a:ea typeface="微软雅黑" panose="020B0503020204020204" charset="-122"/>
                <a:cs typeface="微软雅黑" panose="020B0503020204020204" charset="-122"/>
              </a:rPr>
              <a:t>双向实时音频通道</a:t>
            </a:r>
            <a:endParaRPr sz="16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762000" y="2733675"/>
            <a:ext cx="4953000" cy="800100"/>
          </a:xfrm>
          <a:prstGeom prst="roundRect">
            <a:avLst>
              <a:gd name="adj" fmla="val 9524"/>
            </a:avLst>
          </a:prstGeom>
          <a:solidFill>
            <a:srgbClr val="EAF6F5"/>
          </a:solidFill>
          <a:ln w="12383">
            <a:solidFill>
              <a:srgbClr val="69C3BD"/>
            </a:solidFill>
          </a:ln>
        </p:spPr>
        <p:txBody>
          <a:bodyPr anchor="ctr">
            <a:normAutofit/>
          </a:bodyPr>
          <a:lstStyle/>
          <a:p>
            <a:pPr algn="l">
              <a:defRPr sz="1350" b="0">
                <a:solidFill>
                  <a:srgbClr val="24292E"/>
                </a:solidFill>
                <a:latin typeface="微软雅黑" panose="020B0503020204020204" charset="-122"/>
                <a:ea typeface="微软雅黑" panose="020B0503020204020204" charset="-122"/>
                <a:cs typeface="微软雅黑" panose="020B0503020204020204" charset="-122"/>
              </a:defRPr>
            </a:pPr>
            <a:r>
              <a:rPr sz="1350" b="0">
                <a:solidFill>
                  <a:srgbClr val="24292E"/>
                </a:solidFill>
                <a:latin typeface="微软雅黑" panose="020B0503020204020204" charset="-122"/>
                <a:ea typeface="微软雅黑" panose="020B0503020204020204" charset="-122"/>
                <a:cs typeface="微软雅黑" panose="020B0503020204020204" charset="-122"/>
              </a:rPr>
              <a:t>通过双向 WebSocket 建立持续连接，使用户语音与智能体语音能够在同一通道中实时传输。</a:t>
            </a:r>
            <a:endParaRPr sz="1350" b="0">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8" name="椭圆 7"/>
          <p:cNvSpPr>
            <a:spLocks noGrp="1"/>
          </p:cNvSpPr>
          <p:nvPr/>
        </p:nvSpPr>
        <p:spPr>
          <a:xfrm>
            <a:off x="6477000" y="2200275"/>
            <a:ext cx="590550" cy="419100"/>
          </a:xfrm>
          <a:prstGeom prst="ellipse">
            <a:avLst/>
          </a:prstGeom>
          <a:solidFill>
            <a:srgbClr val="287F7B"/>
          </a:solidFill>
          <a:ln w="0">
            <a:noFill/>
          </a:ln>
        </p:spPr>
        <p:txBody>
          <a:bodyPr anchor="ctr">
            <a:normAutofit fontScale="81487"/>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02</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39000" y="2171700"/>
            <a:ext cx="4191000" cy="457200"/>
          </a:xfrm>
          <a:prstGeom prst="rect">
            <a:avLst/>
          </a:prstGeom>
          <a:noFill/>
          <a:ln w="0">
            <a:noFill/>
          </a:ln>
        </p:spPr>
        <p:txBody>
          <a:bodyPr anchor="ctr">
            <a:normAutofit/>
          </a:bodyPr>
          <a:lstStyle/>
          <a:p>
            <a:pPr algn="l">
              <a:defRPr sz="1650" b="1">
                <a:solidFill>
                  <a:srgbClr val="24292E"/>
                </a:solidFill>
                <a:latin typeface="微软雅黑" panose="020B0503020204020204" charset="-122"/>
                <a:ea typeface="微软雅黑" panose="020B0503020204020204" charset="-122"/>
                <a:cs typeface="微软雅黑" panose="020B0503020204020204" charset="-122"/>
              </a:defRPr>
            </a:pPr>
            <a:r>
              <a:rPr sz="1650" b="1">
                <a:solidFill>
                  <a:srgbClr val="24292E"/>
                </a:solidFill>
                <a:latin typeface="微软雅黑" panose="020B0503020204020204" charset="-122"/>
                <a:ea typeface="微软雅黑" panose="020B0503020204020204" charset="-122"/>
                <a:cs typeface="微软雅黑" panose="020B0503020204020204" charset="-122"/>
              </a:rPr>
              <a:t>音频到音频交互</a:t>
            </a:r>
            <a:endParaRPr sz="165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477000" y="2733675"/>
            <a:ext cx="4953000" cy="800100"/>
          </a:xfrm>
          <a:prstGeom prst="roundRect">
            <a:avLst>
              <a:gd name="adj" fmla="val 9524"/>
            </a:avLst>
          </a:prstGeom>
          <a:solidFill>
            <a:srgbClr val="F3F7F9"/>
          </a:solidFill>
          <a:ln w="12383">
            <a:solidFill>
              <a:srgbClr val="B8D4E6"/>
            </a:solidFill>
          </a:ln>
        </p:spPr>
        <p:txBody>
          <a:bodyPr anchor="ctr">
            <a:normAutofit/>
          </a:bodyPr>
          <a:lstStyle/>
          <a:p>
            <a:pPr algn="l">
              <a:defRPr sz="1350" b="0">
                <a:solidFill>
                  <a:srgbClr val="24292E"/>
                </a:solidFill>
                <a:latin typeface="微软雅黑" panose="020B0503020204020204" charset="-122"/>
                <a:ea typeface="微软雅黑" panose="020B0503020204020204" charset="-122"/>
                <a:cs typeface="微软雅黑" panose="020B0503020204020204" charset="-122"/>
              </a:defRPr>
            </a:pPr>
            <a:r>
              <a:rPr sz="1350" b="0">
                <a:solidFill>
                  <a:srgbClr val="24292E"/>
                </a:solidFill>
                <a:latin typeface="微软雅黑" panose="020B0503020204020204" charset="-122"/>
                <a:ea typeface="微软雅黑" panose="020B0503020204020204" charset="-122"/>
                <a:cs typeface="微软雅黑" panose="020B0503020204020204" charset="-122"/>
              </a:rPr>
              <a:t>采用直接的音频输入—音频输出链路，减少独立的 STT 与 TTS 转换步骤及其等待时间，最大限度降低实时交流延迟。</a:t>
            </a:r>
            <a:endParaRPr sz="1350" b="0">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952500" y="4143375"/>
            <a:ext cx="1809750" cy="742950"/>
          </a:xfrm>
          <a:prstGeom prst="roundRect">
            <a:avLst>
              <a:gd name="adj" fmla="val 10256"/>
            </a:avLst>
          </a:prstGeom>
          <a:solidFill>
            <a:srgbClr val="F7F9FA"/>
          </a:solidFill>
          <a:ln w="11430">
            <a:solidFill>
              <a:srgbClr val="A9B5BA"/>
            </a:solidFill>
          </a:ln>
        </p:spPr>
        <p:txBody>
          <a:bodyPr anchor="ctr">
            <a:normAutofit/>
          </a:bodyPr>
          <a:lstStyle/>
          <a:p>
            <a:pPr algn="ctr">
              <a:defRPr sz="1500" b="1">
                <a:solidFill>
                  <a:srgbClr val="24292E"/>
                </a:solidFill>
                <a:latin typeface="微软雅黑" panose="020B0503020204020204" charset="-122"/>
                <a:ea typeface="微软雅黑" panose="020B0503020204020204" charset="-122"/>
                <a:cs typeface="微软雅黑" panose="020B0503020204020204" charset="-122"/>
              </a:defRPr>
            </a:pPr>
            <a:r>
              <a:rPr sz="1500" b="1">
                <a:solidFill>
                  <a:srgbClr val="24292E"/>
                </a:solidFill>
                <a:latin typeface="微软雅黑" panose="020B0503020204020204" charset="-122"/>
                <a:ea typeface="微软雅黑" panose="020B0503020204020204" charset="-122"/>
                <a:cs typeface="微软雅黑" panose="020B0503020204020204" charset="-122"/>
              </a:rPr>
              <a:t>用户语音</a:t>
            </a:r>
            <a:endParaRPr sz="15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2" name="燕尾形 11"/>
          <p:cNvSpPr>
            <a:spLocks noGrp="1"/>
          </p:cNvSpPr>
          <p:nvPr/>
        </p:nvSpPr>
        <p:spPr>
          <a:xfrm>
            <a:off x="3000375" y="4352925"/>
            <a:ext cx="495300" cy="323850"/>
          </a:xfrm>
          <a:prstGeom prst="chevron">
            <a:avLst/>
          </a:prstGeom>
          <a:solidFill>
            <a:srgbClr val="69C3BD"/>
          </a:solidFill>
          <a:ln w="9525">
            <a:solidFill>
              <a:srgbClr val="287F7B"/>
            </a:solidFill>
          </a:ln>
        </p:spPr>
      </p:sp>
      <p:sp>
        <p:nvSpPr>
          <p:cNvPr id="13" name="圆角矩形 12"/>
          <p:cNvSpPr>
            <a:spLocks noGrp="1"/>
          </p:cNvSpPr>
          <p:nvPr/>
        </p:nvSpPr>
        <p:spPr>
          <a:xfrm>
            <a:off x="3714750" y="4143375"/>
            <a:ext cx="2000250" cy="742950"/>
          </a:xfrm>
          <a:prstGeom prst="roundRect">
            <a:avLst>
              <a:gd name="adj" fmla="val 10256"/>
            </a:avLst>
          </a:prstGeom>
          <a:solidFill>
            <a:srgbClr val="287F7B"/>
          </a:solidFill>
          <a:ln w="11430">
            <a:solidFill>
              <a:srgbClr val="287F7B"/>
            </a:solidFill>
          </a:ln>
        </p:spPr>
        <p:txBody>
          <a:bodyPr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双向 WebSocket</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燕尾形 13"/>
          <p:cNvSpPr>
            <a:spLocks noGrp="1"/>
          </p:cNvSpPr>
          <p:nvPr/>
        </p:nvSpPr>
        <p:spPr>
          <a:xfrm>
            <a:off x="5953125" y="4352925"/>
            <a:ext cx="495300" cy="323850"/>
          </a:xfrm>
          <a:prstGeom prst="chevron">
            <a:avLst/>
          </a:prstGeom>
          <a:solidFill>
            <a:srgbClr val="69C3BD"/>
          </a:solidFill>
          <a:ln w="9525">
            <a:solidFill>
              <a:srgbClr val="287F7B"/>
            </a:solidFill>
          </a:ln>
        </p:spPr>
      </p:sp>
      <p:sp>
        <p:nvSpPr>
          <p:cNvPr id="15" name="圆角矩形 14"/>
          <p:cNvSpPr>
            <a:spLocks noGrp="1"/>
          </p:cNvSpPr>
          <p:nvPr/>
        </p:nvSpPr>
        <p:spPr>
          <a:xfrm>
            <a:off x="6667500" y="4143375"/>
            <a:ext cx="2000250" cy="742950"/>
          </a:xfrm>
          <a:prstGeom prst="roundRect">
            <a:avLst>
              <a:gd name="adj" fmla="val 10256"/>
            </a:avLst>
          </a:prstGeom>
          <a:solidFill>
            <a:srgbClr val="EAF6F5"/>
          </a:solidFill>
          <a:ln w="11430">
            <a:solidFill>
              <a:srgbClr val="69C3BD"/>
            </a:solidFill>
          </a:ln>
        </p:spPr>
        <p:txBody>
          <a:bodyPr anchor="ctr">
            <a:normAutofit/>
          </a:bodyPr>
          <a:lstStyle/>
          <a:p>
            <a:pPr algn="ctr">
              <a:defRPr sz="1500" b="1">
                <a:solidFill>
                  <a:srgbClr val="24292E"/>
                </a:solidFill>
                <a:latin typeface="微软雅黑" panose="020B0503020204020204" charset="-122"/>
                <a:ea typeface="微软雅黑" panose="020B0503020204020204" charset="-122"/>
                <a:cs typeface="微软雅黑" panose="020B0503020204020204" charset="-122"/>
              </a:defRPr>
            </a:pPr>
            <a:r>
              <a:rPr sz="1500" b="1">
                <a:solidFill>
                  <a:srgbClr val="24292E"/>
                </a:solidFill>
                <a:latin typeface="微软雅黑" panose="020B0503020204020204" charset="-122"/>
                <a:ea typeface="微软雅黑" panose="020B0503020204020204" charset="-122"/>
                <a:cs typeface="微软雅黑" panose="020B0503020204020204" charset="-122"/>
              </a:rPr>
              <a:t>实时语音模型</a:t>
            </a:r>
            <a:endParaRPr sz="15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16" name="燕尾形 15"/>
          <p:cNvSpPr>
            <a:spLocks noGrp="1"/>
          </p:cNvSpPr>
          <p:nvPr/>
        </p:nvSpPr>
        <p:spPr>
          <a:xfrm>
            <a:off x="8905875" y="4352925"/>
            <a:ext cx="495300" cy="323850"/>
          </a:xfrm>
          <a:prstGeom prst="chevron">
            <a:avLst/>
          </a:prstGeom>
          <a:solidFill>
            <a:srgbClr val="69C3BD"/>
          </a:solidFill>
          <a:ln w="9525">
            <a:solidFill>
              <a:srgbClr val="287F7B"/>
            </a:solidFill>
          </a:ln>
        </p:spPr>
      </p:sp>
      <p:sp>
        <p:nvSpPr>
          <p:cNvPr id="17" name="圆角矩形 16"/>
          <p:cNvSpPr>
            <a:spLocks noGrp="1"/>
          </p:cNvSpPr>
          <p:nvPr/>
        </p:nvSpPr>
        <p:spPr>
          <a:xfrm>
            <a:off x="9620250" y="4143375"/>
            <a:ext cx="1809750" cy="742950"/>
          </a:xfrm>
          <a:prstGeom prst="roundRect">
            <a:avLst>
              <a:gd name="adj" fmla="val 10256"/>
            </a:avLst>
          </a:prstGeom>
          <a:solidFill>
            <a:srgbClr val="F7F9FA"/>
          </a:solidFill>
          <a:ln w="11430">
            <a:solidFill>
              <a:srgbClr val="A9B5BA"/>
            </a:solidFill>
          </a:ln>
        </p:spPr>
        <p:txBody>
          <a:bodyPr anchor="ctr">
            <a:normAutofit/>
          </a:bodyPr>
          <a:lstStyle/>
          <a:p>
            <a:pPr algn="ctr">
              <a:defRPr sz="1500" b="1">
                <a:solidFill>
                  <a:srgbClr val="24292E"/>
                </a:solidFill>
                <a:latin typeface="微软雅黑" panose="020B0503020204020204" charset="-122"/>
                <a:ea typeface="微软雅黑" panose="020B0503020204020204" charset="-122"/>
                <a:cs typeface="微软雅黑" panose="020B0503020204020204" charset="-122"/>
              </a:defRPr>
            </a:pPr>
            <a:r>
              <a:rPr sz="1500" b="1">
                <a:solidFill>
                  <a:srgbClr val="24292E"/>
                </a:solidFill>
                <a:latin typeface="微软雅黑" panose="020B0503020204020204" charset="-122"/>
                <a:ea typeface="微软雅黑" panose="020B0503020204020204" charset="-122"/>
                <a:cs typeface="微软雅黑" panose="020B0503020204020204" charset="-122"/>
              </a:rPr>
              <a:t>智能体语音回复</a:t>
            </a:r>
            <a:endParaRPr sz="1500" b="1">
              <a:solidFill>
                <a:srgbClr val="24292E"/>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609600" y="6000750"/>
            <a:ext cx="10972800" cy="742950"/>
          </a:xfrm>
          <a:prstGeom prst="rect">
            <a:avLst/>
          </a:prstGeom>
          <a:noFill/>
          <a:ln w="0">
            <a:noFill/>
          </a:ln>
        </p:spPr>
        <p:txBody>
          <a:bodyPr anchor="ctr">
            <a:normAutofit/>
          </a:bodyPr>
          <a:lstStyle/>
          <a:p>
            <a:pPr algn="ctr">
              <a:defRPr sz="750" b="0">
                <a:solidFill>
                  <a:srgbClr val="59666D"/>
                </a:solidFill>
                <a:latin typeface="微软雅黑" panose="020B0503020204020204" charset="-122"/>
                <a:ea typeface="微软雅黑" panose="020B0503020204020204" charset="-122"/>
                <a:cs typeface="微软雅黑" panose="020B0503020204020204" charset="-122"/>
              </a:defRPr>
            </a:pPr>
            <a:r>
              <a:rPr sz="800" b="0">
                <a:solidFill>
                  <a:srgbClr val="59666D"/>
                </a:solidFill>
                <a:latin typeface="微软雅黑" panose="020B0503020204020204" charset="-122"/>
                <a:ea typeface="微软雅黑" panose="020B0503020204020204" charset="-122"/>
                <a:cs typeface="微软雅黑" panose="020B0503020204020204" charset="-122"/>
              </a:rPr>
              <a:t>Pan, M., Liu, P., Zhang, J., Cao, R., Ariyawansa, V., Li, Y., Yao, B., Wang, D., Pasquier, P., Kitson, A., &amp; Prpa, M. (2026). LLM-based embodied conversational agent for reducing foreign language speaking anxiety in social VR. In Proceedings of the 2026 CHI Conference on Human Factors in Computing Systems (Article 1405, pp. 1–24). ACM. https://doi.org/10.1145/3772318.3791068</a:t>
            </a:r>
            <a:endParaRPr sz="800" b="0">
              <a:solidFill>
                <a:srgbClr val="59666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2648</Words>
  <Application>WPS 演示</Application>
  <PresentationFormat>Converted Presentation</PresentationFormat>
  <Paragraphs>254</Paragraphs>
  <Slides>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vt:i4>
      </vt:variant>
    </vt:vector>
  </HeadingPairs>
  <TitlesOfParts>
    <vt:vector size="13" baseType="lpstr">
      <vt:lpstr>Arial</vt:lpstr>
      <vt:lpstr>宋体</vt:lpstr>
      <vt:lpstr>Wingdings</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LYF</cp:lastModifiedBy>
  <cp:revision>1</cp:revision>
  <dcterms:created xsi:type="dcterms:W3CDTF">2026-09-21T14:36:55Z</dcterms:created>
  <dcterms:modified xsi:type="dcterms:W3CDTF">2026-09-21T14:36:55Z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D93EC0FD514C4A6BB188E01BFE039825_12</vt:lpwstr>
  </property>
  <property fmtid="{D5CDD505-2E9C-101B-9397-08002B2CF9AE}" pid="3" name="KSOProductBuildVer">
    <vt:lpwstr>2052-12.1.0.28505</vt:lpwstr>
  </property>
</Properties>
</file>